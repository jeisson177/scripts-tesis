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59" r:id="rId6"/>
    <p:sldId id="260" r:id="rId7"/>
    <p:sldId id="262" r:id="rId8"/>
    <p:sldId id="266" r:id="rId9"/>
    <p:sldId id="263" r:id="rId10"/>
    <p:sldId id="265" r:id="rId11"/>
    <p:sldId id="268" r:id="rId12"/>
    <p:sldId id="269" r:id="rId13"/>
    <p:sldId id="270" r:id="rId14"/>
    <p:sldId id="274" r:id="rId15"/>
    <p:sldId id="264" r:id="rId16"/>
    <p:sldId id="267" r:id="rId17"/>
    <p:sldId id="271" r:id="rId18"/>
    <p:sldId id="275" r:id="rId19"/>
    <p:sldId id="276" r:id="rId20"/>
    <p:sldId id="277" r:id="rId21"/>
    <p:sldId id="278" r:id="rId22"/>
    <p:sldId id="279" r:id="rId23"/>
    <p:sldId id="280" r:id="rId24"/>
    <p:sldId id="261"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4" d="100"/>
          <a:sy n="104" d="100"/>
        </p:scale>
        <p:origin x="144"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D490-E6D5-4117-93EF-5604B0915B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CO"/>
          </a:p>
        </p:txBody>
      </p:sp>
      <p:sp>
        <p:nvSpPr>
          <p:cNvPr id="3" name="Subtitle 2">
            <a:extLst>
              <a:ext uri="{FF2B5EF4-FFF2-40B4-BE49-F238E27FC236}">
                <a16:creationId xmlns:a16="http://schemas.microsoft.com/office/drawing/2014/main" id="{A43D2DA5-5D80-490F-A11F-FA9CE8037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O"/>
          </a:p>
        </p:txBody>
      </p:sp>
      <p:sp>
        <p:nvSpPr>
          <p:cNvPr id="4" name="Date Placeholder 3">
            <a:extLst>
              <a:ext uri="{FF2B5EF4-FFF2-40B4-BE49-F238E27FC236}">
                <a16:creationId xmlns:a16="http://schemas.microsoft.com/office/drawing/2014/main" id="{E62DB476-20A9-4FBA-81E0-EA64DB1F596A}"/>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39E07709-957B-4FB8-8ABB-7652B0BD0E08}"/>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12CBDF7C-82DC-4698-B76D-AF27CCBE568F}"/>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300880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D1BF2-1E1E-4957-AF10-FAAF1B9FDB60}"/>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10906C47-717D-4082-869C-1883BBCF1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366BC06B-7B34-4A72-AA7A-8CCC4B79D060}"/>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FF276F43-6E25-4444-8556-28A734AABCC6}"/>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43342269-2F48-4B48-B630-6471657C2FE7}"/>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2796661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5EC8-6E74-4CA6-92E1-149A5C6815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CO"/>
          </a:p>
        </p:txBody>
      </p:sp>
      <p:sp>
        <p:nvSpPr>
          <p:cNvPr id="3" name="Text Placeholder 2">
            <a:extLst>
              <a:ext uri="{FF2B5EF4-FFF2-40B4-BE49-F238E27FC236}">
                <a16:creationId xmlns:a16="http://schemas.microsoft.com/office/drawing/2014/main" id="{43D32E47-3051-408A-82E0-5EA75D4A4E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5ECC3-6305-4DC7-A52F-05FA410E2F8E}"/>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62FB7FA6-E37B-4CDF-B4E7-027024939575}"/>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903172DD-B425-4B4B-BBEB-89447EE55597}"/>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249151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47BC-3472-4B4D-A157-0F67FEA592B1}"/>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F58FBCD4-9E0F-473F-AC7A-8108572F3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Content Placeholder 3">
            <a:extLst>
              <a:ext uri="{FF2B5EF4-FFF2-40B4-BE49-F238E27FC236}">
                <a16:creationId xmlns:a16="http://schemas.microsoft.com/office/drawing/2014/main" id="{E0EBE78E-6A57-4261-B933-CE6B8E8C0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Date Placeholder 4">
            <a:extLst>
              <a:ext uri="{FF2B5EF4-FFF2-40B4-BE49-F238E27FC236}">
                <a16:creationId xmlns:a16="http://schemas.microsoft.com/office/drawing/2014/main" id="{A6FA93DA-C27F-4AA0-AFC8-FB956875D37D}"/>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6" name="Footer Placeholder 5">
            <a:extLst>
              <a:ext uri="{FF2B5EF4-FFF2-40B4-BE49-F238E27FC236}">
                <a16:creationId xmlns:a16="http://schemas.microsoft.com/office/drawing/2014/main" id="{07CAD1EE-5B18-495E-9C0E-BA3215FAFBCA}"/>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141A1C14-4FE0-4200-BEDE-72C3B1C42215}"/>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3882157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0F4A-572F-43CD-96D1-5D9C0B38BB80}"/>
              </a:ext>
            </a:extLst>
          </p:cNvPr>
          <p:cNvSpPr>
            <a:spLocks noGrp="1"/>
          </p:cNvSpPr>
          <p:nvPr>
            <p:ph type="title"/>
          </p:nvPr>
        </p:nvSpPr>
        <p:spPr>
          <a:xfrm>
            <a:off x="839788" y="365125"/>
            <a:ext cx="10515600" cy="1325563"/>
          </a:xfrm>
        </p:spPr>
        <p:txBody>
          <a:bodyPr/>
          <a:lstStyle/>
          <a:p>
            <a:r>
              <a:rPr lang="en-US"/>
              <a:t>Click to edit Master title style</a:t>
            </a:r>
            <a:endParaRPr lang="es-CO"/>
          </a:p>
        </p:txBody>
      </p:sp>
      <p:sp>
        <p:nvSpPr>
          <p:cNvPr id="3" name="Text Placeholder 2">
            <a:extLst>
              <a:ext uri="{FF2B5EF4-FFF2-40B4-BE49-F238E27FC236}">
                <a16:creationId xmlns:a16="http://schemas.microsoft.com/office/drawing/2014/main" id="{84996059-6AD6-4840-8710-E6901D1209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3BC197-42A1-4122-8379-B0FDF661D9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Text Placeholder 4">
            <a:extLst>
              <a:ext uri="{FF2B5EF4-FFF2-40B4-BE49-F238E27FC236}">
                <a16:creationId xmlns:a16="http://schemas.microsoft.com/office/drawing/2014/main" id="{84E6E453-263C-46C8-B0CB-0634202537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1BBCA3-4C09-4505-835C-EA7D8FB87B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7" name="Date Placeholder 6">
            <a:extLst>
              <a:ext uri="{FF2B5EF4-FFF2-40B4-BE49-F238E27FC236}">
                <a16:creationId xmlns:a16="http://schemas.microsoft.com/office/drawing/2014/main" id="{77035870-E9EB-4A8F-BEE6-D9CF08ADBFB2}"/>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8" name="Footer Placeholder 7">
            <a:extLst>
              <a:ext uri="{FF2B5EF4-FFF2-40B4-BE49-F238E27FC236}">
                <a16:creationId xmlns:a16="http://schemas.microsoft.com/office/drawing/2014/main" id="{0337FD1A-AD85-49AB-B746-E7A157AC392B}"/>
              </a:ext>
            </a:extLst>
          </p:cNvPr>
          <p:cNvSpPr>
            <a:spLocks noGrp="1"/>
          </p:cNvSpPr>
          <p:nvPr>
            <p:ph type="ftr" sz="quarter" idx="11"/>
          </p:nvPr>
        </p:nvSpPr>
        <p:spPr/>
        <p:txBody>
          <a:bodyPr/>
          <a:lstStyle/>
          <a:p>
            <a:endParaRPr lang="es-CO"/>
          </a:p>
        </p:txBody>
      </p:sp>
      <p:sp>
        <p:nvSpPr>
          <p:cNvPr id="9" name="Slide Number Placeholder 8">
            <a:extLst>
              <a:ext uri="{FF2B5EF4-FFF2-40B4-BE49-F238E27FC236}">
                <a16:creationId xmlns:a16="http://schemas.microsoft.com/office/drawing/2014/main" id="{91E94F9B-F7DD-4D54-B154-5297A14B0CFB}"/>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1324334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8CAB8-B65E-4992-A48B-008ECCD5E54C}"/>
              </a:ext>
            </a:extLst>
          </p:cNvPr>
          <p:cNvSpPr>
            <a:spLocks noGrp="1"/>
          </p:cNvSpPr>
          <p:nvPr>
            <p:ph type="title"/>
          </p:nvPr>
        </p:nvSpPr>
        <p:spPr/>
        <p:txBody>
          <a:bodyPr/>
          <a:lstStyle/>
          <a:p>
            <a:r>
              <a:rPr lang="en-US"/>
              <a:t>Click to edit Master title style</a:t>
            </a:r>
            <a:endParaRPr lang="es-CO"/>
          </a:p>
        </p:txBody>
      </p:sp>
      <p:sp>
        <p:nvSpPr>
          <p:cNvPr id="3" name="Date Placeholder 2">
            <a:extLst>
              <a:ext uri="{FF2B5EF4-FFF2-40B4-BE49-F238E27FC236}">
                <a16:creationId xmlns:a16="http://schemas.microsoft.com/office/drawing/2014/main" id="{BC0B3CFE-F4A5-4989-B60B-95BEF23302EB}"/>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4" name="Footer Placeholder 3">
            <a:extLst>
              <a:ext uri="{FF2B5EF4-FFF2-40B4-BE49-F238E27FC236}">
                <a16:creationId xmlns:a16="http://schemas.microsoft.com/office/drawing/2014/main" id="{EF93C2B7-E211-4E34-9F1D-A90A8C886AAA}"/>
              </a:ext>
            </a:extLst>
          </p:cNvPr>
          <p:cNvSpPr>
            <a:spLocks noGrp="1"/>
          </p:cNvSpPr>
          <p:nvPr>
            <p:ph type="ftr" sz="quarter" idx="11"/>
          </p:nvPr>
        </p:nvSpPr>
        <p:spPr/>
        <p:txBody>
          <a:bodyPr/>
          <a:lstStyle/>
          <a:p>
            <a:endParaRPr lang="es-CO"/>
          </a:p>
        </p:txBody>
      </p:sp>
      <p:sp>
        <p:nvSpPr>
          <p:cNvPr id="5" name="Slide Number Placeholder 4">
            <a:extLst>
              <a:ext uri="{FF2B5EF4-FFF2-40B4-BE49-F238E27FC236}">
                <a16:creationId xmlns:a16="http://schemas.microsoft.com/office/drawing/2014/main" id="{9511AB77-064F-4546-9C1B-6FA9F225A2FA}"/>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60873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B87E68-1AAF-4D6D-A507-AD8CBD7351C1}"/>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3" name="Footer Placeholder 2">
            <a:extLst>
              <a:ext uri="{FF2B5EF4-FFF2-40B4-BE49-F238E27FC236}">
                <a16:creationId xmlns:a16="http://schemas.microsoft.com/office/drawing/2014/main" id="{A3104CD7-F2D1-448C-ABB7-725344CEC385}"/>
              </a:ext>
            </a:extLst>
          </p:cNvPr>
          <p:cNvSpPr>
            <a:spLocks noGrp="1"/>
          </p:cNvSpPr>
          <p:nvPr>
            <p:ph type="ftr" sz="quarter" idx="11"/>
          </p:nvPr>
        </p:nvSpPr>
        <p:spPr/>
        <p:txBody>
          <a:bodyPr/>
          <a:lstStyle/>
          <a:p>
            <a:endParaRPr lang="es-CO"/>
          </a:p>
        </p:txBody>
      </p:sp>
      <p:sp>
        <p:nvSpPr>
          <p:cNvPr id="4" name="Slide Number Placeholder 3">
            <a:extLst>
              <a:ext uri="{FF2B5EF4-FFF2-40B4-BE49-F238E27FC236}">
                <a16:creationId xmlns:a16="http://schemas.microsoft.com/office/drawing/2014/main" id="{9314B9BB-D033-4596-B303-1832E4AF531B}"/>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1626265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D4100-EF46-42C5-BD92-3197E1BF5D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Content Placeholder 2">
            <a:extLst>
              <a:ext uri="{FF2B5EF4-FFF2-40B4-BE49-F238E27FC236}">
                <a16:creationId xmlns:a16="http://schemas.microsoft.com/office/drawing/2014/main" id="{F34D3D06-64C9-4170-B25C-19FF75061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Text Placeholder 3">
            <a:extLst>
              <a:ext uri="{FF2B5EF4-FFF2-40B4-BE49-F238E27FC236}">
                <a16:creationId xmlns:a16="http://schemas.microsoft.com/office/drawing/2014/main" id="{A6B62927-4D79-4510-9C63-5C391CBA0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58BA10-790B-4EA6-8766-4F15E8CDF917}"/>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6" name="Footer Placeholder 5">
            <a:extLst>
              <a:ext uri="{FF2B5EF4-FFF2-40B4-BE49-F238E27FC236}">
                <a16:creationId xmlns:a16="http://schemas.microsoft.com/office/drawing/2014/main" id="{578F6A51-7DF2-4EAA-931B-7681439B2357}"/>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BCE2632D-4660-401B-8B38-7FE8BC11DC79}"/>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96419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7342F-26A8-40C6-B3FF-3065A5EA38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Picture Placeholder 2">
            <a:extLst>
              <a:ext uri="{FF2B5EF4-FFF2-40B4-BE49-F238E27FC236}">
                <a16:creationId xmlns:a16="http://schemas.microsoft.com/office/drawing/2014/main" id="{742A7CE6-8720-4750-934B-7F2F31CAAD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Text Placeholder 3">
            <a:extLst>
              <a:ext uri="{FF2B5EF4-FFF2-40B4-BE49-F238E27FC236}">
                <a16:creationId xmlns:a16="http://schemas.microsoft.com/office/drawing/2014/main" id="{07391173-CDCF-4355-A4E8-7FB6AD8420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F0D28-4525-4E7F-8FB2-65C5A1A5086A}"/>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6" name="Footer Placeholder 5">
            <a:extLst>
              <a:ext uri="{FF2B5EF4-FFF2-40B4-BE49-F238E27FC236}">
                <a16:creationId xmlns:a16="http://schemas.microsoft.com/office/drawing/2014/main" id="{C27ECA93-4FC9-4673-ABD4-EB1AB7415D5D}"/>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C2BFB8F5-9283-4414-9C46-4EC726BF71F7}"/>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2700964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3649-3673-49F4-B404-3D861C1B38D0}"/>
              </a:ext>
            </a:extLst>
          </p:cNvPr>
          <p:cNvSpPr>
            <a:spLocks noGrp="1"/>
          </p:cNvSpPr>
          <p:nvPr>
            <p:ph type="title"/>
          </p:nvPr>
        </p:nvSpPr>
        <p:spPr/>
        <p:txBody>
          <a:bodyPr/>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ECCB3079-0236-4A82-8C80-A222F4022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D5232821-492F-4CD5-98E2-84B683C2A679}"/>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777B11CA-CF82-43B7-B379-DCFB95374599}"/>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741CBDCA-ED4A-4FCD-874B-7F6535A543E4}"/>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2045324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028B3D-8B21-4026-9DA8-CBFFC0CC2E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FADBD9CE-7E52-462A-BEC6-B3953DC004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F5D3F4FF-26DF-4E92-9469-E1F535D9D27B}"/>
              </a:ext>
            </a:extLst>
          </p:cNvPr>
          <p:cNvSpPr>
            <a:spLocks noGrp="1"/>
          </p:cNvSpPr>
          <p:nvPr>
            <p:ph type="dt" sz="half" idx="10"/>
          </p:nvPr>
        </p:nvSpPr>
        <p:spPr/>
        <p:txBody>
          <a:body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6FE6028A-FF0C-4909-9F8C-388219BFCF0A}"/>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91785655-2E1D-469D-90C9-2ED549173EB4}"/>
              </a:ext>
            </a:extLst>
          </p:cNvPr>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83397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0E5255-1D07-43F5-886B-88D9091880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CO"/>
          </a:p>
        </p:txBody>
      </p:sp>
      <p:sp>
        <p:nvSpPr>
          <p:cNvPr id="3" name="Text Placeholder 2">
            <a:extLst>
              <a:ext uri="{FF2B5EF4-FFF2-40B4-BE49-F238E27FC236}">
                <a16:creationId xmlns:a16="http://schemas.microsoft.com/office/drawing/2014/main" id="{934A207C-E088-4F58-9017-53B8A8EC41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F14EA4F-0A6D-46AC-A63A-D35D811E3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3E431-2848-40F4-896C-F54C9A07EAB9}" type="datetimeFigureOut">
              <a:rPr lang="es-CO" smtClean="0"/>
              <a:t>10/11/2025</a:t>
            </a:fld>
            <a:endParaRPr lang="es-CO"/>
          </a:p>
        </p:txBody>
      </p:sp>
      <p:sp>
        <p:nvSpPr>
          <p:cNvPr id="5" name="Footer Placeholder 4">
            <a:extLst>
              <a:ext uri="{FF2B5EF4-FFF2-40B4-BE49-F238E27FC236}">
                <a16:creationId xmlns:a16="http://schemas.microsoft.com/office/drawing/2014/main" id="{A0FFE9B1-4392-4C89-AA7A-68C44D3BDD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a:extLst>
              <a:ext uri="{FF2B5EF4-FFF2-40B4-BE49-F238E27FC236}">
                <a16:creationId xmlns:a16="http://schemas.microsoft.com/office/drawing/2014/main" id="{0F3622B5-A1C7-4120-82BA-B35FC85951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1201820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6868-1D3E-4683-A1A0-30D3995D2D3C}"/>
              </a:ext>
            </a:extLst>
          </p:cNvPr>
          <p:cNvSpPr>
            <a:spLocks noGrp="1"/>
          </p:cNvSpPr>
          <p:nvPr>
            <p:ph type="ctrTitle"/>
          </p:nvPr>
        </p:nvSpPr>
        <p:spPr/>
        <p:txBody>
          <a:bodyPr/>
          <a:lstStyle/>
          <a:p>
            <a:r>
              <a:rPr lang="es-CO" dirty="0"/>
              <a:t>Análisis de patrones de conducción</a:t>
            </a:r>
          </a:p>
        </p:txBody>
      </p:sp>
      <p:sp>
        <p:nvSpPr>
          <p:cNvPr id="3" name="Subtitle 2">
            <a:extLst>
              <a:ext uri="{FF2B5EF4-FFF2-40B4-BE49-F238E27FC236}">
                <a16:creationId xmlns:a16="http://schemas.microsoft.com/office/drawing/2014/main" id="{B4321D8D-5963-408C-999E-5741D917B19A}"/>
              </a:ext>
            </a:extLst>
          </p:cNvPr>
          <p:cNvSpPr>
            <a:spLocks noGrp="1"/>
          </p:cNvSpPr>
          <p:nvPr>
            <p:ph type="subTitle" idx="1"/>
          </p:nvPr>
        </p:nvSpPr>
        <p:spPr/>
        <p:txBody>
          <a:bodyPr>
            <a:normAutofit lnSpcReduction="10000"/>
          </a:bodyPr>
          <a:lstStyle/>
          <a:p>
            <a:r>
              <a:rPr lang="es-CO" dirty="0" err="1"/>
              <a:t>Rodión</a:t>
            </a:r>
            <a:r>
              <a:rPr lang="es-CO" dirty="0"/>
              <a:t> Tabares</a:t>
            </a:r>
          </a:p>
          <a:p>
            <a:r>
              <a:rPr lang="es-CO" dirty="0"/>
              <a:t>Jeisson Ruiz</a:t>
            </a:r>
          </a:p>
          <a:p>
            <a:r>
              <a:rPr lang="es-CO" dirty="0"/>
              <a:t>Martha Cano</a:t>
            </a:r>
          </a:p>
          <a:p>
            <a:r>
              <a:rPr lang="es-CO" dirty="0"/>
              <a:t>Daniel Jaramillo</a:t>
            </a:r>
          </a:p>
        </p:txBody>
      </p:sp>
    </p:spTree>
    <p:extLst>
      <p:ext uri="{BB962C8B-B14F-4D97-AF65-F5344CB8AC3E}">
        <p14:creationId xmlns:p14="http://schemas.microsoft.com/office/powerpoint/2010/main" val="254897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F36E-F09E-451C-BEEC-CAE8662E6135}"/>
              </a:ext>
            </a:extLst>
          </p:cNvPr>
          <p:cNvSpPr>
            <a:spLocks noGrp="1"/>
          </p:cNvSpPr>
          <p:nvPr>
            <p:ph type="title"/>
          </p:nvPr>
        </p:nvSpPr>
        <p:spPr/>
        <p:txBody>
          <a:bodyPr/>
          <a:lstStyle/>
          <a:p>
            <a:r>
              <a:rPr lang="es-CO" dirty="0"/>
              <a:t>Estructura del </a:t>
            </a:r>
            <a:r>
              <a:rPr lang="es-CO" dirty="0" err="1"/>
              <a:t>paper</a:t>
            </a:r>
            <a:endParaRPr lang="es-CO" dirty="0"/>
          </a:p>
        </p:txBody>
      </p:sp>
      <p:sp>
        <p:nvSpPr>
          <p:cNvPr id="3" name="Content Placeholder 2">
            <a:extLst>
              <a:ext uri="{FF2B5EF4-FFF2-40B4-BE49-F238E27FC236}">
                <a16:creationId xmlns:a16="http://schemas.microsoft.com/office/drawing/2014/main" id="{68B220DA-AF07-4533-AA93-6649FD6064EA}"/>
              </a:ext>
            </a:extLst>
          </p:cNvPr>
          <p:cNvSpPr>
            <a:spLocks noGrp="1"/>
          </p:cNvSpPr>
          <p:nvPr>
            <p:ph idx="1"/>
          </p:nvPr>
        </p:nvSpPr>
        <p:spPr/>
        <p:txBody>
          <a:bodyPr>
            <a:normAutofit/>
          </a:bodyPr>
          <a:lstStyle/>
          <a:p>
            <a:r>
              <a:rPr lang="es-CO" sz="1800" dirty="0"/>
              <a:t>Introducción (contexto, patrones de conducción en TP y conducción H vs M)</a:t>
            </a:r>
          </a:p>
          <a:p>
            <a:r>
              <a:rPr lang="es-CO" sz="1800" dirty="0"/>
              <a:t>Metodología (recolección de datos, Descripción del conjunto de datos: </a:t>
            </a:r>
            <a:r>
              <a:rPr lang="es-CO" sz="1800" b="1" dirty="0" err="1"/>
              <a:t>Vel</a:t>
            </a:r>
            <a:r>
              <a:rPr lang="es-CO" sz="1800" b="1" dirty="0"/>
              <a:t>, Ace, Riesgo, Consumo</a:t>
            </a:r>
            <a:r>
              <a:rPr lang="es-CO" sz="1800" dirty="0"/>
              <a:t>)</a:t>
            </a:r>
          </a:p>
          <a:p>
            <a:r>
              <a:rPr lang="es-CO" sz="1800" dirty="0"/>
              <a:t>Preprocesamiento</a:t>
            </a:r>
          </a:p>
          <a:p>
            <a:pPr lvl="1"/>
            <a:r>
              <a:rPr lang="es-ES" sz="1400" b="0" i="0" dirty="0">
                <a:solidFill>
                  <a:srgbClr val="008013"/>
                </a:solidFill>
                <a:effectLst/>
                <a:latin typeface="Menlo"/>
              </a:rPr>
              <a:t>Recortes de rutas (problemas de paradas (porcentaje de paradas), problemas de "RET" retorno</a:t>
            </a:r>
            <a:endParaRPr lang="es-ES" sz="1400" b="0" i="0" dirty="0">
              <a:effectLst/>
              <a:latin typeface="Menlo"/>
            </a:endParaRPr>
          </a:p>
          <a:p>
            <a:pPr marL="457200" lvl="1" indent="0">
              <a:buNone/>
            </a:pPr>
            <a:r>
              <a:rPr lang="es-ES" sz="1400" b="0" i="0" dirty="0">
                <a:solidFill>
                  <a:srgbClr val="008013"/>
                </a:solidFill>
                <a:effectLst/>
                <a:latin typeface="Menlo"/>
              </a:rPr>
              <a:t>indica el bus, desvíos operacionales -frecuente-, falta de actualización en los GTFS)</a:t>
            </a:r>
            <a:endParaRPr lang="es-ES" sz="1400" b="0" i="0" dirty="0">
              <a:effectLst/>
              <a:latin typeface="Menlo"/>
            </a:endParaRPr>
          </a:p>
          <a:p>
            <a:pPr lvl="1"/>
            <a:r>
              <a:rPr lang="es-ES" sz="1400" b="0" i="0" dirty="0">
                <a:solidFill>
                  <a:srgbClr val="008013"/>
                </a:solidFill>
                <a:effectLst/>
                <a:latin typeface="Menlo"/>
              </a:rPr>
              <a:t>Filtro de velocidad (recorte por aceleración excesiva </a:t>
            </a:r>
            <a:r>
              <a:rPr lang="es-ES" sz="1400" b="0" i="0" dirty="0" err="1">
                <a:solidFill>
                  <a:srgbClr val="008013"/>
                </a:solidFill>
                <a:effectLst/>
                <a:latin typeface="Menlo"/>
              </a:rPr>
              <a:t>abs</a:t>
            </a:r>
            <a:r>
              <a:rPr lang="es-ES" sz="1400" b="0" i="0" dirty="0">
                <a:solidFill>
                  <a:srgbClr val="008013"/>
                </a:solidFill>
                <a:effectLst/>
                <a:latin typeface="Menlo"/>
              </a:rPr>
              <a:t>(</a:t>
            </a:r>
            <a:r>
              <a:rPr lang="es-ES" sz="1400" b="0" i="0" dirty="0" err="1">
                <a:solidFill>
                  <a:srgbClr val="008013"/>
                </a:solidFill>
                <a:effectLst/>
                <a:latin typeface="Menlo"/>
              </a:rPr>
              <a:t>acel</a:t>
            </a:r>
            <a:r>
              <a:rPr lang="es-ES" sz="1400" b="0" i="0" dirty="0">
                <a:solidFill>
                  <a:srgbClr val="008013"/>
                </a:solidFill>
                <a:effectLst/>
                <a:latin typeface="Menlo"/>
              </a:rPr>
              <a:t>) &lt; 2 m/s2)</a:t>
            </a:r>
          </a:p>
          <a:p>
            <a:pPr lvl="1"/>
            <a:r>
              <a:rPr lang="es-ES" sz="1400" b="0" i="0" dirty="0">
                <a:solidFill>
                  <a:srgbClr val="008013"/>
                </a:solidFill>
                <a:effectLst/>
                <a:latin typeface="Menlo"/>
              </a:rPr>
              <a:t>Detección de ace y </a:t>
            </a:r>
            <a:r>
              <a:rPr lang="es-ES" sz="1400" b="0" i="0" dirty="0" err="1">
                <a:solidFill>
                  <a:srgbClr val="008013"/>
                </a:solidFill>
                <a:effectLst/>
                <a:latin typeface="Menlo"/>
              </a:rPr>
              <a:t>desace</a:t>
            </a:r>
            <a:r>
              <a:rPr lang="es-ES" sz="1400" b="0" i="0" dirty="0">
                <a:solidFill>
                  <a:srgbClr val="008013"/>
                </a:solidFill>
                <a:effectLst/>
                <a:latin typeface="Menlo"/>
              </a:rPr>
              <a:t> (pulsos rectangulares)</a:t>
            </a:r>
            <a:endParaRPr lang="es-ES" sz="1400" b="0" i="0" dirty="0">
              <a:effectLst/>
              <a:latin typeface="Menlo"/>
            </a:endParaRPr>
          </a:p>
          <a:p>
            <a:pPr lvl="1"/>
            <a:r>
              <a:rPr lang="es-ES" sz="1400" b="0" i="0" dirty="0">
                <a:solidFill>
                  <a:srgbClr val="008013"/>
                </a:solidFill>
                <a:effectLst/>
                <a:latin typeface="Menlo"/>
              </a:rPr>
              <a:t>Filtro </a:t>
            </a:r>
            <a:r>
              <a:rPr lang="es-ES" sz="1400" b="0" i="0" dirty="0" err="1">
                <a:solidFill>
                  <a:srgbClr val="008013"/>
                </a:solidFill>
                <a:effectLst/>
                <a:latin typeface="Menlo"/>
              </a:rPr>
              <a:t>kalman</a:t>
            </a:r>
            <a:r>
              <a:rPr lang="es-ES" sz="1400" b="0" i="0" dirty="0">
                <a:solidFill>
                  <a:srgbClr val="008013"/>
                </a:solidFill>
                <a:effectLst/>
                <a:latin typeface="Menlo"/>
              </a:rPr>
              <a:t> para curvas y posición/detección de curvas</a:t>
            </a:r>
            <a:endParaRPr lang="es-ES" sz="1400" b="0" i="0" dirty="0">
              <a:effectLst/>
              <a:latin typeface="Menlo"/>
            </a:endParaRPr>
          </a:p>
          <a:p>
            <a:pPr lvl="1"/>
            <a:r>
              <a:rPr lang="es-ES" sz="1400" b="0" i="0" dirty="0">
                <a:solidFill>
                  <a:srgbClr val="008013"/>
                </a:solidFill>
                <a:effectLst/>
                <a:latin typeface="Menlo"/>
              </a:rPr>
              <a:t>Suavizado y </a:t>
            </a:r>
            <a:r>
              <a:rPr lang="es-ES" sz="1400" b="0" i="0" dirty="0" err="1">
                <a:solidFill>
                  <a:srgbClr val="008013"/>
                </a:solidFill>
                <a:effectLst/>
                <a:latin typeface="Menlo"/>
              </a:rPr>
              <a:t>sobremuestreo</a:t>
            </a:r>
            <a:r>
              <a:rPr lang="es-ES" sz="1400" b="0" i="0" dirty="0">
                <a:solidFill>
                  <a:srgbClr val="008013"/>
                </a:solidFill>
                <a:effectLst/>
                <a:latin typeface="Menlo"/>
              </a:rPr>
              <a:t> en consumo</a:t>
            </a:r>
            <a:endParaRPr lang="es-ES" sz="1400" b="0" i="0" dirty="0">
              <a:effectLst/>
              <a:latin typeface="Menlo"/>
            </a:endParaRPr>
          </a:p>
          <a:p>
            <a:r>
              <a:rPr lang="es-ES" sz="1800" b="0" i="0" dirty="0">
                <a:effectLst/>
                <a:latin typeface="Menlo"/>
              </a:rPr>
              <a:t>Resultados: Indicadores, patrones, análisis</a:t>
            </a:r>
          </a:p>
          <a:p>
            <a:br>
              <a:rPr lang="es-ES" sz="1800" b="0" i="0" dirty="0">
                <a:effectLst/>
                <a:latin typeface="Menlo"/>
              </a:rPr>
            </a:br>
            <a:endParaRPr lang="es-ES" sz="1800" b="0" i="0" dirty="0">
              <a:effectLst/>
              <a:latin typeface="Menlo"/>
            </a:endParaRPr>
          </a:p>
          <a:p>
            <a:pPr lvl="1"/>
            <a:endParaRPr lang="es-CO" dirty="0"/>
          </a:p>
        </p:txBody>
      </p:sp>
    </p:spTree>
    <p:extLst>
      <p:ext uri="{BB962C8B-B14F-4D97-AF65-F5344CB8AC3E}">
        <p14:creationId xmlns:p14="http://schemas.microsoft.com/office/powerpoint/2010/main" val="415566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p:txBody>
          <a:bodyPr/>
          <a:lstStyle/>
          <a:p>
            <a:r>
              <a:rPr lang="es-CO" dirty="0"/>
              <a:t>Resultados ‘viejos’</a:t>
            </a:r>
          </a:p>
        </p:txBody>
      </p:sp>
      <p:sp>
        <p:nvSpPr>
          <p:cNvPr id="3" name="Text Placeholder 2">
            <a:extLst>
              <a:ext uri="{FF2B5EF4-FFF2-40B4-BE49-F238E27FC236}">
                <a16:creationId xmlns:a16="http://schemas.microsoft.com/office/drawing/2014/main" id="{16C8FF78-876F-4928-8E5C-5112CD32348C}"/>
              </a:ext>
            </a:extLst>
          </p:cNvPr>
          <p:cNvSpPr>
            <a:spLocks noGrp="1"/>
          </p:cNvSpPr>
          <p:nvPr>
            <p:ph type="body" idx="1"/>
          </p:nvPr>
        </p:nvSpPr>
        <p:spPr/>
        <p:txBody>
          <a:bodyPr/>
          <a:lstStyle/>
          <a:p>
            <a:r>
              <a:rPr lang="es-CO" dirty="0"/>
              <a:t>El bus 4012 es diferente en aceleración</a:t>
            </a:r>
          </a:p>
        </p:txBody>
      </p:sp>
    </p:spTree>
    <p:extLst>
      <p:ext uri="{BB962C8B-B14F-4D97-AF65-F5344CB8AC3E}">
        <p14:creationId xmlns:p14="http://schemas.microsoft.com/office/powerpoint/2010/main" val="3104570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Bus 4012 es diferente</a:t>
            </a:r>
          </a:p>
        </p:txBody>
      </p:sp>
      <p:sp>
        <p:nvSpPr>
          <p:cNvPr id="3" name="Content Placeholder 2">
            <a:extLst>
              <a:ext uri="{FF2B5EF4-FFF2-40B4-BE49-F238E27FC236}">
                <a16:creationId xmlns:a16="http://schemas.microsoft.com/office/drawing/2014/main" id="{225FF36E-E5BA-4ABF-A31D-555DDFD55546}"/>
              </a:ext>
            </a:extLst>
          </p:cNvPr>
          <p:cNvSpPr>
            <a:spLocks noGrp="1"/>
          </p:cNvSpPr>
          <p:nvPr>
            <p:ph idx="1"/>
          </p:nvPr>
        </p:nvSpPr>
        <p:spPr>
          <a:xfrm>
            <a:off x="838200" y="1825625"/>
            <a:ext cx="4070131" cy="4351338"/>
          </a:xfrm>
        </p:spPr>
        <p:txBody>
          <a:bodyPr>
            <a:normAutofit/>
          </a:bodyPr>
          <a:lstStyle/>
          <a:p>
            <a:r>
              <a:rPr lang="es-CO" sz="2000" dirty="0"/>
              <a:t>Se frena más largo y más fuerte?</a:t>
            </a:r>
          </a:p>
          <a:p>
            <a:r>
              <a:rPr lang="es-CO" sz="2000" dirty="0"/>
              <a:t>Se frena por necesidad, se acelera por decisión?</a:t>
            </a:r>
          </a:p>
          <a:p>
            <a:r>
              <a:rPr lang="es-CO" sz="2000" b="1" dirty="0"/>
              <a:t>Comprobado con </a:t>
            </a:r>
            <a:r>
              <a:rPr lang="es-CO" sz="2000" b="1" dirty="0" err="1"/>
              <a:t>mMagMean</a:t>
            </a:r>
            <a:endParaRPr lang="es-CO" sz="2000" b="1" dirty="0"/>
          </a:p>
        </p:txBody>
      </p:sp>
      <p:pic>
        <p:nvPicPr>
          <p:cNvPr id="2050" name="Picture 2">
            <a:extLst>
              <a:ext uri="{FF2B5EF4-FFF2-40B4-BE49-F238E27FC236}">
                <a16:creationId xmlns:a16="http://schemas.microsoft.com/office/drawing/2014/main" id="{920CBF7C-4AD9-498F-8837-35DD53F14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2011" y="1196041"/>
            <a:ext cx="7759816" cy="28392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7F9EDEC-1E0C-416D-BD90-A39340FE8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011" y="3698229"/>
            <a:ext cx="7759814" cy="28392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19CB484-068A-46A6-8B9D-1E96E99D1E8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71522" y="3496118"/>
            <a:ext cx="6863255" cy="2740083"/>
          </a:xfrm>
          <a:prstGeom prst="rect">
            <a:avLst/>
          </a:prstGeom>
        </p:spPr>
      </p:pic>
      <p:sp>
        <p:nvSpPr>
          <p:cNvPr id="8" name="TextBox 7">
            <a:extLst>
              <a:ext uri="{FF2B5EF4-FFF2-40B4-BE49-F238E27FC236}">
                <a16:creationId xmlns:a16="http://schemas.microsoft.com/office/drawing/2014/main" id="{4C2AB572-25C0-4BB3-96E8-CADB4490B9B9}"/>
              </a:ext>
            </a:extLst>
          </p:cNvPr>
          <p:cNvSpPr txBox="1"/>
          <p:nvPr/>
        </p:nvSpPr>
        <p:spPr>
          <a:xfrm>
            <a:off x="4014952" y="4866159"/>
            <a:ext cx="1303282" cy="230832"/>
          </a:xfrm>
          <a:prstGeom prst="rect">
            <a:avLst/>
          </a:prstGeom>
          <a:noFill/>
        </p:spPr>
        <p:txBody>
          <a:bodyPr wrap="square" rtlCol="0">
            <a:spAutoFit/>
          </a:bodyPr>
          <a:lstStyle/>
          <a:p>
            <a:r>
              <a:rPr lang="es-CO" sz="900" dirty="0"/>
              <a:t>Centro de los </a:t>
            </a:r>
            <a:r>
              <a:rPr lang="es-CO" sz="900" dirty="0" err="1"/>
              <a:t>clusters</a:t>
            </a:r>
            <a:endParaRPr lang="es-CO" sz="900" dirty="0"/>
          </a:p>
        </p:txBody>
      </p:sp>
    </p:spTree>
    <p:extLst>
      <p:ext uri="{BB962C8B-B14F-4D97-AF65-F5344CB8AC3E}">
        <p14:creationId xmlns:p14="http://schemas.microsoft.com/office/powerpoint/2010/main" val="2529113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F8F3-4FD6-4474-ABB3-6197CA16F65D}"/>
              </a:ext>
            </a:extLst>
          </p:cNvPr>
          <p:cNvSpPr>
            <a:spLocks noGrp="1"/>
          </p:cNvSpPr>
          <p:nvPr>
            <p:ph type="title"/>
          </p:nvPr>
        </p:nvSpPr>
        <p:spPr/>
        <p:txBody>
          <a:bodyPr/>
          <a:lstStyle/>
          <a:p>
            <a:r>
              <a:rPr lang="es-CO" dirty="0"/>
              <a:t>Bus 4012</a:t>
            </a:r>
          </a:p>
        </p:txBody>
      </p:sp>
      <p:sp>
        <p:nvSpPr>
          <p:cNvPr id="3" name="Content Placeholder 2">
            <a:extLst>
              <a:ext uri="{FF2B5EF4-FFF2-40B4-BE49-F238E27FC236}">
                <a16:creationId xmlns:a16="http://schemas.microsoft.com/office/drawing/2014/main" id="{12DABCF1-8769-4CAB-ACDE-E7EFD7BEF063}"/>
              </a:ext>
            </a:extLst>
          </p:cNvPr>
          <p:cNvSpPr>
            <a:spLocks noGrp="1"/>
          </p:cNvSpPr>
          <p:nvPr>
            <p:ph idx="1"/>
          </p:nvPr>
        </p:nvSpPr>
        <p:spPr/>
        <p:txBody>
          <a:bodyPr/>
          <a:lstStyle/>
          <a:p>
            <a:endParaRPr lang="es-CO"/>
          </a:p>
        </p:txBody>
      </p:sp>
      <p:pic>
        <p:nvPicPr>
          <p:cNvPr id="1026" name="Picture 2">
            <a:extLst>
              <a:ext uri="{FF2B5EF4-FFF2-40B4-BE49-F238E27FC236}">
                <a16:creationId xmlns:a16="http://schemas.microsoft.com/office/drawing/2014/main" id="{BD8BCB72-0F60-4220-BEF1-3326AC766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720" y="3310467"/>
            <a:ext cx="6332279" cy="31554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9F926FC-6CD8-43B0-9CA0-8063C80F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9719" y="112977"/>
            <a:ext cx="6332279" cy="3155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271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838200" y="1825624"/>
            <a:ext cx="4433047" cy="4351338"/>
          </a:xfrm>
        </p:spPr>
        <p:txBody>
          <a:bodyPr>
            <a:normAutofit/>
          </a:bodyPr>
          <a:lstStyle/>
          <a:p>
            <a:r>
              <a:rPr lang="es-CO" sz="2000" dirty="0"/>
              <a:t>La velocidad está fuertemente limitada por la congestión de la ciudad.</a:t>
            </a:r>
          </a:p>
          <a:p>
            <a:r>
              <a:rPr lang="es-CO" sz="2000" dirty="0"/>
              <a:t>Horario: CASI TODO EL DÍA ES HORA PICO</a:t>
            </a:r>
          </a:p>
          <a:p>
            <a:r>
              <a:rPr lang="es-CO" sz="2000" dirty="0"/>
              <a:t>Por ruta: ligeras diferencias, especialmente </a:t>
            </a:r>
            <a:r>
              <a:rPr lang="es-CO" sz="2000" dirty="0" err="1"/>
              <a:t>inbound</a:t>
            </a:r>
            <a:r>
              <a:rPr lang="es-CO" sz="2000" dirty="0"/>
              <a:t>/</a:t>
            </a:r>
            <a:r>
              <a:rPr lang="es-CO" sz="2000" dirty="0" err="1"/>
              <a:t>outbound</a:t>
            </a:r>
            <a:endParaRPr lang="es-CO" sz="2000" dirty="0"/>
          </a:p>
          <a:p>
            <a:r>
              <a:rPr lang="es-CO" sz="2000" dirty="0"/>
              <a:t>En las peores rutas, hora de inicio entre las 16 y 17, la velocidad puede estar entre 13 y 14 km/h</a:t>
            </a:r>
          </a:p>
        </p:txBody>
      </p:sp>
      <p:pic>
        <p:nvPicPr>
          <p:cNvPr id="5" name="Picture 4">
            <a:extLst>
              <a:ext uri="{FF2B5EF4-FFF2-40B4-BE49-F238E27FC236}">
                <a16:creationId xmlns:a16="http://schemas.microsoft.com/office/drawing/2014/main" id="{E9923E01-D5EA-4EE5-BA45-126AAC42CA41}"/>
              </a:ext>
            </a:extLst>
          </p:cNvPr>
          <p:cNvPicPr>
            <a:picLocks noChangeAspect="1"/>
          </p:cNvPicPr>
          <p:nvPr/>
        </p:nvPicPr>
        <p:blipFill>
          <a:blip r:embed="rId2"/>
          <a:stretch>
            <a:fillRect/>
          </a:stretch>
        </p:blipFill>
        <p:spPr>
          <a:xfrm>
            <a:off x="6096000" y="4276163"/>
            <a:ext cx="5042647" cy="3781986"/>
          </a:xfrm>
          <a:prstGeom prst="rect">
            <a:avLst/>
          </a:prstGeom>
        </p:spPr>
      </p:pic>
      <p:pic>
        <p:nvPicPr>
          <p:cNvPr id="15" name="Picture 14">
            <a:extLst>
              <a:ext uri="{FF2B5EF4-FFF2-40B4-BE49-F238E27FC236}">
                <a16:creationId xmlns:a16="http://schemas.microsoft.com/office/drawing/2014/main" id="{A06CFCF9-24CE-4588-907B-4378F2A95886}"/>
              </a:ext>
            </a:extLst>
          </p:cNvPr>
          <p:cNvPicPr>
            <a:picLocks noChangeAspect="1"/>
          </p:cNvPicPr>
          <p:nvPr/>
        </p:nvPicPr>
        <p:blipFill>
          <a:blip r:embed="rId3"/>
          <a:stretch>
            <a:fillRect/>
          </a:stretch>
        </p:blipFill>
        <p:spPr>
          <a:xfrm>
            <a:off x="5767151" y="0"/>
            <a:ext cx="5267325" cy="2177836"/>
          </a:xfrm>
          <a:prstGeom prst="rect">
            <a:avLst/>
          </a:prstGeom>
        </p:spPr>
      </p:pic>
      <p:pic>
        <p:nvPicPr>
          <p:cNvPr id="21" name="Picture 20">
            <a:extLst>
              <a:ext uri="{FF2B5EF4-FFF2-40B4-BE49-F238E27FC236}">
                <a16:creationId xmlns:a16="http://schemas.microsoft.com/office/drawing/2014/main" id="{7E60C4BE-DFA1-4B8C-A985-349ED1B6ECDB}"/>
              </a:ext>
            </a:extLst>
          </p:cNvPr>
          <p:cNvPicPr>
            <a:picLocks noChangeAspect="1"/>
          </p:cNvPicPr>
          <p:nvPr/>
        </p:nvPicPr>
        <p:blipFill>
          <a:blip r:embed="rId4"/>
          <a:stretch>
            <a:fillRect/>
          </a:stretch>
        </p:blipFill>
        <p:spPr>
          <a:xfrm>
            <a:off x="8400813" y="2242358"/>
            <a:ext cx="3400425" cy="1969283"/>
          </a:xfrm>
          <a:prstGeom prst="rect">
            <a:avLst/>
          </a:prstGeom>
        </p:spPr>
      </p:pic>
      <p:pic>
        <p:nvPicPr>
          <p:cNvPr id="23" name="Picture 22">
            <a:extLst>
              <a:ext uri="{FF2B5EF4-FFF2-40B4-BE49-F238E27FC236}">
                <a16:creationId xmlns:a16="http://schemas.microsoft.com/office/drawing/2014/main" id="{7699D1EA-E0D7-47E4-81E0-D6A994EFDE3A}"/>
              </a:ext>
            </a:extLst>
          </p:cNvPr>
          <p:cNvPicPr>
            <a:picLocks noChangeAspect="1"/>
          </p:cNvPicPr>
          <p:nvPr/>
        </p:nvPicPr>
        <p:blipFill>
          <a:blip r:embed="rId5"/>
          <a:stretch>
            <a:fillRect/>
          </a:stretch>
        </p:blipFill>
        <p:spPr>
          <a:xfrm>
            <a:off x="5199692" y="2242358"/>
            <a:ext cx="3400425" cy="1969283"/>
          </a:xfrm>
          <a:prstGeom prst="rect">
            <a:avLst/>
          </a:prstGeom>
        </p:spPr>
      </p:pic>
    </p:spTree>
    <p:extLst>
      <p:ext uri="{BB962C8B-B14F-4D97-AF65-F5344CB8AC3E}">
        <p14:creationId xmlns:p14="http://schemas.microsoft.com/office/powerpoint/2010/main" val="2634935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838200" y="1825624"/>
            <a:ext cx="3336758" cy="4351338"/>
          </a:xfrm>
        </p:spPr>
        <p:txBody>
          <a:bodyPr>
            <a:normAutofit/>
          </a:bodyPr>
          <a:lstStyle/>
          <a:p>
            <a:r>
              <a:rPr lang="es-CO" sz="1600" dirty="0"/>
              <a:t>Cada ruta se divide en 9 segmento (misma longitud, casi 2 km cada uno). </a:t>
            </a:r>
          </a:p>
          <a:p>
            <a:r>
              <a:rPr lang="es-CO" sz="1600" dirty="0"/>
              <a:t>En cada segmento se hace normalización de rango min = 0, </a:t>
            </a:r>
            <a:r>
              <a:rPr lang="es-CO" sz="1600" dirty="0" err="1"/>
              <a:t>max</a:t>
            </a:r>
            <a:r>
              <a:rPr lang="es-CO" sz="1600" dirty="0"/>
              <a:t> = 1.</a:t>
            </a:r>
          </a:p>
          <a:p>
            <a:r>
              <a:rPr lang="es-CO" sz="1600" dirty="0"/>
              <a:t>El </a:t>
            </a:r>
            <a:r>
              <a:rPr lang="es-CO" sz="1600" dirty="0" err="1"/>
              <a:t>speed</a:t>
            </a:r>
            <a:r>
              <a:rPr lang="es-CO" sz="1600" dirty="0"/>
              <a:t> score es el promedio de las </a:t>
            </a:r>
            <a:r>
              <a:rPr lang="es-CO" sz="1600" dirty="0" err="1"/>
              <a:t>vel</a:t>
            </a:r>
            <a:r>
              <a:rPr lang="es-CO" sz="1600" dirty="0"/>
              <a:t> </a:t>
            </a:r>
            <a:r>
              <a:rPr lang="es-CO" sz="1600" dirty="0" err="1"/>
              <a:t>norm</a:t>
            </a:r>
            <a:r>
              <a:rPr lang="es-CO" sz="1600" dirty="0"/>
              <a:t> por rango de cada segmento.</a:t>
            </a:r>
          </a:p>
          <a:p>
            <a:r>
              <a:rPr lang="es-CO" sz="1600" dirty="0"/>
              <a:t>Luego calculamos la desviación de cada recorrido vs la media del </a:t>
            </a:r>
            <a:r>
              <a:rPr lang="es-CO" sz="1600" dirty="0" err="1"/>
              <a:t>speed_score</a:t>
            </a:r>
            <a:r>
              <a:rPr lang="es-CO" sz="1600" dirty="0"/>
              <a:t> en cada hora.</a:t>
            </a:r>
          </a:p>
          <a:p>
            <a:r>
              <a:rPr lang="es-CO" sz="1600" dirty="0"/>
              <a:t>El </a:t>
            </a:r>
            <a:r>
              <a:rPr lang="es-CO" sz="1600" dirty="0" err="1"/>
              <a:t>Speed_score</a:t>
            </a:r>
            <a:r>
              <a:rPr lang="es-CO" sz="1600" dirty="0"/>
              <a:t> permite comparar entre rutas y entre horarios.</a:t>
            </a:r>
          </a:p>
          <a:p>
            <a:r>
              <a:rPr lang="es-CO" sz="1600" dirty="0" err="1"/>
              <a:t>Des_speed_Score</a:t>
            </a:r>
            <a:r>
              <a:rPr lang="es-CO" sz="1600" dirty="0"/>
              <a:t>: Ligera desviación mayor en hombres.</a:t>
            </a:r>
          </a:p>
        </p:txBody>
      </p:sp>
      <p:pic>
        <p:nvPicPr>
          <p:cNvPr id="6" name="Picture 5">
            <a:extLst>
              <a:ext uri="{FF2B5EF4-FFF2-40B4-BE49-F238E27FC236}">
                <a16:creationId xmlns:a16="http://schemas.microsoft.com/office/drawing/2014/main" id="{BD14C9A2-9278-4335-A272-72CD95BEC23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727786" y="-94166"/>
            <a:ext cx="8578515" cy="3338500"/>
          </a:xfrm>
          <a:prstGeom prst="rect">
            <a:avLst/>
          </a:prstGeom>
        </p:spPr>
      </p:pic>
      <p:sp>
        <p:nvSpPr>
          <p:cNvPr id="7" name="TextBox 6">
            <a:extLst>
              <a:ext uri="{FF2B5EF4-FFF2-40B4-BE49-F238E27FC236}">
                <a16:creationId xmlns:a16="http://schemas.microsoft.com/office/drawing/2014/main" id="{F3257E4D-E186-4B2C-837F-92964FED0A61}"/>
              </a:ext>
            </a:extLst>
          </p:cNvPr>
          <p:cNvSpPr txBox="1"/>
          <p:nvPr/>
        </p:nvSpPr>
        <p:spPr>
          <a:xfrm>
            <a:off x="5149912" y="201934"/>
            <a:ext cx="6123279" cy="369332"/>
          </a:xfrm>
          <a:prstGeom prst="rect">
            <a:avLst/>
          </a:prstGeom>
          <a:noFill/>
        </p:spPr>
        <p:txBody>
          <a:bodyPr wrap="none" rtlCol="0">
            <a:spAutoFit/>
          </a:bodyPr>
          <a:lstStyle/>
          <a:p>
            <a:r>
              <a:rPr lang="es-CO" dirty="0"/>
              <a:t>En las velocidades no se ve ninguna diferencia clara entre sexos</a:t>
            </a:r>
          </a:p>
        </p:txBody>
      </p:sp>
      <p:pic>
        <p:nvPicPr>
          <p:cNvPr id="9" name="Picture 8">
            <a:extLst>
              <a:ext uri="{FF2B5EF4-FFF2-40B4-BE49-F238E27FC236}">
                <a16:creationId xmlns:a16="http://schemas.microsoft.com/office/drawing/2014/main" id="{2965EAA7-64E2-47E7-9CBB-1641729FA9A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475122" y="2976921"/>
            <a:ext cx="9083842" cy="3334977"/>
          </a:xfrm>
          <a:prstGeom prst="rect">
            <a:avLst/>
          </a:prstGeom>
        </p:spPr>
      </p:pic>
      <p:sp>
        <p:nvSpPr>
          <p:cNvPr id="13" name="TextBox 12">
            <a:extLst>
              <a:ext uri="{FF2B5EF4-FFF2-40B4-BE49-F238E27FC236}">
                <a16:creationId xmlns:a16="http://schemas.microsoft.com/office/drawing/2014/main" id="{5558117F-46C6-4CA4-AC28-E6EFAFF55E1F}"/>
              </a:ext>
            </a:extLst>
          </p:cNvPr>
          <p:cNvSpPr txBox="1"/>
          <p:nvPr/>
        </p:nvSpPr>
        <p:spPr>
          <a:xfrm>
            <a:off x="4174958" y="6172281"/>
            <a:ext cx="7844589" cy="646331"/>
          </a:xfrm>
          <a:prstGeom prst="rect">
            <a:avLst/>
          </a:prstGeom>
          <a:noFill/>
        </p:spPr>
        <p:txBody>
          <a:bodyPr wrap="square" rtlCol="0">
            <a:spAutoFit/>
          </a:bodyPr>
          <a:lstStyle/>
          <a:p>
            <a:r>
              <a:rPr lang="es-CO" sz="1200" dirty="0"/>
              <a:t>En la desviación del </a:t>
            </a:r>
            <a:r>
              <a:rPr lang="es-CO" sz="1200" dirty="0" err="1"/>
              <a:t>speed</a:t>
            </a:r>
            <a:r>
              <a:rPr lang="es-CO" sz="1200" dirty="0"/>
              <a:t> score, en todas las rutas que tienen suficientes datos, la media (y la mediana) de los hombres es mayor que la de las mujeres.</a:t>
            </a:r>
          </a:p>
          <a:p>
            <a:r>
              <a:rPr lang="es-CO" sz="1200" dirty="0"/>
              <a:t>En promedio entre las 5 rutas, de la diferencia de las medias, equivale a 0,41 km/h</a:t>
            </a:r>
          </a:p>
        </p:txBody>
      </p:sp>
    </p:spTree>
    <p:extLst>
      <p:ext uri="{BB962C8B-B14F-4D97-AF65-F5344CB8AC3E}">
        <p14:creationId xmlns:p14="http://schemas.microsoft.com/office/powerpoint/2010/main" val="10453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FA71-38A6-4528-80B8-BC5776FB6DBC}"/>
              </a:ext>
            </a:extLst>
          </p:cNvPr>
          <p:cNvSpPr>
            <a:spLocks noGrp="1"/>
          </p:cNvSpPr>
          <p:nvPr>
            <p:ph type="title"/>
          </p:nvPr>
        </p:nvSpPr>
        <p:spPr/>
        <p:txBody>
          <a:bodyPr/>
          <a:lstStyle/>
          <a:p>
            <a:r>
              <a:rPr lang="es-CO" dirty="0"/>
              <a:t>Aceleración </a:t>
            </a:r>
          </a:p>
        </p:txBody>
      </p:sp>
      <p:sp>
        <p:nvSpPr>
          <p:cNvPr id="3" name="Content Placeholder 2">
            <a:extLst>
              <a:ext uri="{FF2B5EF4-FFF2-40B4-BE49-F238E27FC236}">
                <a16:creationId xmlns:a16="http://schemas.microsoft.com/office/drawing/2014/main" id="{944BA5BE-F5FA-49A6-AED3-A53E50347295}"/>
              </a:ext>
            </a:extLst>
          </p:cNvPr>
          <p:cNvSpPr>
            <a:spLocks noGrp="1"/>
          </p:cNvSpPr>
          <p:nvPr>
            <p:ph idx="1"/>
          </p:nvPr>
        </p:nvSpPr>
        <p:spPr/>
        <p:txBody>
          <a:bodyPr/>
          <a:lstStyle/>
          <a:p>
            <a:r>
              <a:rPr lang="es-CO" sz="1800" b="1" dirty="0"/>
              <a:t>Se acelera por decisión, se frena por necesidad</a:t>
            </a:r>
            <a:r>
              <a:rPr lang="es-CO" sz="1800" dirty="0"/>
              <a:t>: En promedio, las frenadas son ligeramente más fuertes y más largas, tanto en el 4012 como en los otros.</a:t>
            </a:r>
            <a:endParaRPr lang="es-CO" dirty="0"/>
          </a:p>
        </p:txBody>
      </p:sp>
      <p:pic>
        <p:nvPicPr>
          <p:cNvPr id="4" name="Picture 3">
            <a:extLst>
              <a:ext uri="{FF2B5EF4-FFF2-40B4-BE49-F238E27FC236}">
                <a16:creationId xmlns:a16="http://schemas.microsoft.com/office/drawing/2014/main" id="{8EB4B903-2E21-4485-8101-4D3C884DA82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79209" y="2459422"/>
            <a:ext cx="8959743" cy="3577084"/>
          </a:xfrm>
          <a:prstGeom prst="rect">
            <a:avLst/>
          </a:prstGeom>
        </p:spPr>
      </p:pic>
    </p:spTree>
    <p:extLst>
      <p:ext uri="{BB962C8B-B14F-4D97-AF65-F5344CB8AC3E}">
        <p14:creationId xmlns:p14="http://schemas.microsoft.com/office/powerpoint/2010/main" val="2177463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25625"/>
            <a:ext cx="2559424" cy="4351338"/>
          </a:xfrm>
        </p:spPr>
        <p:txBody>
          <a:bodyPr>
            <a:normAutofit fontScale="92500"/>
          </a:bodyPr>
          <a:lstStyle/>
          <a:p>
            <a:r>
              <a:rPr lang="es-CO" sz="1400" dirty="0"/>
              <a:t>Hay 6 indicadores sobre las (des)aceleraciones para cada recorrido:</a:t>
            </a:r>
          </a:p>
          <a:p>
            <a:pPr lvl="1"/>
            <a:r>
              <a:rPr lang="es-CO" sz="1000" dirty="0"/>
              <a:t>% </a:t>
            </a:r>
            <a:r>
              <a:rPr lang="es-CO" sz="1000" dirty="0" err="1"/>
              <a:t>Mag</a:t>
            </a:r>
            <a:r>
              <a:rPr lang="es-CO" sz="1000" dirty="0"/>
              <a:t> &gt; 1 m/s2 (porcentaje de ace fuertes)</a:t>
            </a:r>
          </a:p>
          <a:p>
            <a:pPr lvl="1"/>
            <a:r>
              <a:rPr lang="es-CO" sz="1000" dirty="0"/>
              <a:t>% </a:t>
            </a:r>
            <a:r>
              <a:rPr lang="es-CO" sz="1000" dirty="0" err="1"/>
              <a:t>Mag</a:t>
            </a:r>
            <a:r>
              <a:rPr lang="es-CO" sz="1000" dirty="0"/>
              <a:t> &gt; 2 m/s2 (porcentaje de ace muy fuertes)</a:t>
            </a:r>
          </a:p>
          <a:p>
            <a:pPr lvl="1"/>
            <a:r>
              <a:rPr lang="es-CO" sz="1000" dirty="0"/>
              <a:t>% </a:t>
            </a:r>
            <a:r>
              <a:rPr lang="es-CO" sz="1000" dirty="0" err="1"/>
              <a:t>Mag</a:t>
            </a:r>
            <a:r>
              <a:rPr lang="es-CO" sz="1000" dirty="0"/>
              <a:t> &lt; -1 m/s2 (porcentaje de </a:t>
            </a:r>
            <a:r>
              <a:rPr lang="es-CO" sz="1000" dirty="0" err="1"/>
              <a:t>fre</a:t>
            </a:r>
            <a:r>
              <a:rPr lang="es-CO" sz="1000" dirty="0"/>
              <a:t> fuertes)</a:t>
            </a:r>
          </a:p>
          <a:p>
            <a:pPr lvl="1"/>
            <a:r>
              <a:rPr lang="es-CO" sz="1000" dirty="0"/>
              <a:t>% </a:t>
            </a:r>
            <a:r>
              <a:rPr lang="es-CO" sz="1000" dirty="0" err="1"/>
              <a:t>Mag</a:t>
            </a:r>
            <a:r>
              <a:rPr lang="es-CO" sz="1000" dirty="0"/>
              <a:t> &lt; -2 m/s2 (porcentaje de </a:t>
            </a:r>
            <a:r>
              <a:rPr lang="es-CO" sz="1000" dirty="0" err="1"/>
              <a:t>fre</a:t>
            </a:r>
            <a:r>
              <a:rPr lang="es-CO" sz="1000" dirty="0"/>
              <a:t> muy fuertes)</a:t>
            </a:r>
          </a:p>
          <a:p>
            <a:pPr lvl="1"/>
            <a:r>
              <a:rPr lang="es-CO" sz="1000" dirty="0"/>
              <a:t>Duración de las aceleraciones</a:t>
            </a:r>
          </a:p>
          <a:p>
            <a:pPr lvl="1"/>
            <a:r>
              <a:rPr lang="es-CO" sz="1000" dirty="0"/>
              <a:t>Duración de las frenadas</a:t>
            </a:r>
          </a:p>
          <a:p>
            <a:r>
              <a:rPr lang="es-CO" sz="1400" dirty="0"/>
              <a:t>Además, en los patrones de conducción hay 2 indicadores</a:t>
            </a:r>
          </a:p>
          <a:p>
            <a:pPr lvl="1"/>
            <a:r>
              <a:rPr lang="es-CO" sz="1000" dirty="0"/>
              <a:t># Aceleraciones por km</a:t>
            </a:r>
          </a:p>
          <a:p>
            <a:pPr lvl="1"/>
            <a:r>
              <a:rPr lang="es-CO" sz="1000" dirty="0"/>
              <a:t># frenadas por km</a:t>
            </a:r>
          </a:p>
          <a:p>
            <a:pPr lvl="1"/>
            <a:endParaRPr lang="es-CO" sz="1000" dirty="0"/>
          </a:p>
          <a:p>
            <a:r>
              <a:rPr lang="es-CO" sz="1400" dirty="0"/>
              <a:t>En los primeros 6 indicadores, el bus 4012 (</a:t>
            </a:r>
            <a:r>
              <a:rPr lang="es-CO" sz="1400" dirty="0" err="1"/>
              <a:t>cyan</a:t>
            </a:r>
            <a:r>
              <a:rPr lang="es-CO" sz="1400" dirty="0"/>
              <a:t>) se distingue inmediatamente. Lo llamamos el “bus brusco”, </a:t>
            </a:r>
            <a:r>
              <a:rPr lang="es-CO" sz="1400" b="1" dirty="0"/>
              <a:t>frena y acelera más fuerte y en menos tiempo.</a:t>
            </a:r>
          </a:p>
          <a:p>
            <a:pPr lvl="1"/>
            <a:endParaRPr lang="es-CO" sz="1000" dirty="0"/>
          </a:p>
        </p:txBody>
      </p:sp>
      <p:pic>
        <p:nvPicPr>
          <p:cNvPr id="5" name="Picture 4">
            <a:extLst>
              <a:ext uri="{FF2B5EF4-FFF2-40B4-BE49-F238E27FC236}">
                <a16:creationId xmlns:a16="http://schemas.microsoft.com/office/drawing/2014/main" id="{57A2BCBA-5D7D-403A-A8A4-D416FA0400E2}"/>
              </a:ext>
            </a:extLst>
          </p:cNvPr>
          <p:cNvPicPr>
            <a:picLocks noChangeAspect="1"/>
          </p:cNvPicPr>
          <p:nvPr/>
        </p:nvPicPr>
        <p:blipFill>
          <a:blip r:embed="rId2"/>
          <a:stretch>
            <a:fillRect/>
          </a:stretch>
        </p:blipFill>
        <p:spPr>
          <a:xfrm>
            <a:off x="3973886" y="157162"/>
            <a:ext cx="9820275" cy="6543675"/>
          </a:xfrm>
          <a:prstGeom prst="rect">
            <a:avLst/>
          </a:prstGeom>
        </p:spPr>
      </p:pic>
    </p:spTree>
    <p:extLst>
      <p:ext uri="{BB962C8B-B14F-4D97-AF65-F5344CB8AC3E}">
        <p14:creationId xmlns:p14="http://schemas.microsoft.com/office/powerpoint/2010/main" val="1758016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3A8494-C44E-49EB-9689-7FAA43A547A0}"/>
              </a:ext>
            </a:extLst>
          </p:cNvPr>
          <p:cNvPicPr>
            <a:picLocks noChangeAspect="1"/>
          </p:cNvPicPr>
          <p:nvPr/>
        </p:nvPicPr>
        <p:blipFill>
          <a:blip r:embed="rId2"/>
          <a:stretch>
            <a:fillRect/>
          </a:stretch>
        </p:blipFill>
        <p:spPr>
          <a:xfrm>
            <a:off x="6043331" y="1740417"/>
            <a:ext cx="6667500" cy="5000625"/>
          </a:xfrm>
          <a:prstGeom prst="rect">
            <a:avLst/>
          </a:prstGeom>
        </p:spPr>
      </p:pic>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11305" y="1825625"/>
            <a:ext cx="10515600" cy="4351338"/>
          </a:xfrm>
        </p:spPr>
        <p:txBody>
          <a:bodyPr/>
          <a:lstStyle/>
          <a:p>
            <a:endParaRPr lang="es-CO" dirty="0"/>
          </a:p>
        </p:txBody>
      </p:sp>
      <p:pic>
        <p:nvPicPr>
          <p:cNvPr id="7" name="Picture 6">
            <a:extLst>
              <a:ext uri="{FF2B5EF4-FFF2-40B4-BE49-F238E27FC236}">
                <a16:creationId xmlns:a16="http://schemas.microsoft.com/office/drawing/2014/main" id="{B74EA99E-AC4D-47E8-B6CE-7979D51824B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9017" y="1790146"/>
            <a:ext cx="6667500" cy="5000625"/>
          </a:xfrm>
          <a:prstGeom prst="rect">
            <a:avLst/>
          </a:prstGeom>
        </p:spPr>
      </p:pic>
      <p:sp>
        <p:nvSpPr>
          <p:cNvPr id="8" name="TextBox 7">
            <a:extLst>
              <a:ext uri="{FF2B5EF4-FFF2-40B4-BE49-F238E27FC236}">
                <a16:creationId xmlns:a16="http://schemas.microsoft.com/office/drawing/2014/main" id="{E96FD121-2453-422D-8E2F-DDEE578F8870}"/>
              </a:ext>
            </a:extLst>
          </p:cNvPr>
          <p:cNvSpPr txBox="1"/>
          <p:nvPr/>
        </p:nvSpPr>
        <p:spPr>
          <a:xfrm>
            <a:off x="3218330" y="1640959"/>
            <a:ext cx="1042273" cy="369332"/>
          </a:xfrm>
          <a:prstGeom prst="rect">
            <a:avLst/>
          </a:prstGeom>
          <a:noFill/>
        </p:spPr>
        <p:txBody>
          <a:bodyPr wrap="none" rtlCol="0">
            <a:spAutoFit/>
          </a:bodyPr>
          <a:lstStyle/>
          <a:p>
            <a:r>
              <a:rPr lang="es-CO" dirty="0"/>
              <a:t>Bus 4012</a:t>
            </a:r>
          </a:p>
        </p:txBody>
      </p:sp>
      <p:sp>
        <p:nvSpPr>
          <p:cNvPr id="9" name="TextBox 8">
            <a:extLst>
              <a:ext uri="{FF2B5EF4-FFF2-40B4-BE49-F238E27FC236}">
                <a16:creationId xmlns:a16="http://schemas.microsoft.com/office/drawing/2014/main" id="{DAA6E8B6-5056-4F40-89FD-F6F0A4121228}"/>
              </a:ext>
            </a:extLst>
          </p:cNvPr>
          <p:cNvSpPr txBox="1"/>
          <p:nvPr/>
        </p:nvSpPr>
        <p:spPr>
          <a:xfrm>
            <a:off x="8814485" y="1640959"/>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144520"/>
            <a:ext cx="6985000" cy="1954381"/>
          </a:xfrm>
          <a:prstGeom prst="rect">
            <a:avLst/>
          </a:prstGeom>
          <a:noFill/>
        </p:spPr>
        <p:txBody>
          <a:bodyPr wrap="square" rtlCol="0">
            <a:spAutoFit/>
          </a:bodyPr>
          <a:lstStyle/>
          <a:p>
            <a:r>
              <a:rPr lang="es-CO" sz="1100" dirty="0"/>
              <a:t>Por lo anterior, cualquier evaluación sobre los indicadores de aceleración debe hacer por cada uno de los dos únicos buses donde hay información el sexo: el 4012 (el brusco) y el 4025.</a:t>
            </a:r>
          </a:p>
          <a:p>
            <a:endParaRPr lang="es-CO" sz="1100" dirty="0"/>
          </a:p>
          <a:p>
            <a:r>
              <a:rPr lang="es-CO" sz="1100" dirty="0"/>
              <a:t>La matriz de correlación no muestra mayores indicios sobre patrones entre sexos.</a:t>
            </a:r>
          </a:p>
          <a:p>
            <a:r>
              <a:rPr lang="es-CO" sz="1100" b="1" dirty="0"/>
              <a:t>Se repite en los dos buses:</a:t>
            </a:r>
          </a:p>
          <a:p>
            <a:pPr marL="171450" indent="-171450">
              <a:buFont typeface="Arial" panose="020B0604020202020204" pitchFamily="34" charset="0"/>
              <a:buChar char="•"/>
            </a:pPr>
            <a:r>
              <a:rPr lang="es-CO" sz="1100" dirty="0"/>
              <a:t>Correlación positiva: </a:t>
            </a:r>
            <a:r>
              <a:rPr lang="es-CO" sz="1100" dirty="0" err="1"/>
              <a:t>Mag</a:t>
            </a:r>
            <a:r>
              <a:rPr lang="es-CO" sz="1100" dirty="0"/>
              <a:t> Aceleraciones con </a:t>
            </a:r>
            <a:r>
              <a:rPr lang="es-CO" sz="1100" dirty="0" err="1"/>
              <a:t>Mag</a:t>
            </a:r>
            <a:r>
              <a:rPr lang="es-CO" sz="1100" dirty="0"/>
              <a:t> frenadas</a:t>
            </a:r>
          </a:p>
          <a:p>
            <a:pPr marL="171450" indent="-171450">
              <a:buFont typeface="Arial" panose="020B0604020202020204" pitchFamily="34" charset="0"/>
              <a:buChar char="•"/>
            </a:pPr>
            <a:r>
              <a:rPr lang="es-CO" sz="1100" dirty="0"/>
              <a:t>Correlación Alta positiva: </a:t>
            </a:r>
            <a:r>
              <a:rPr lang="es-CO" sz="1100" dirty="0" err="1"/>
              <a:t>Dur</a:t>
            </a:r>
            <a:r>
              <a:rPr lang="es-CO" sz="1100" dirty="0"/>
              <a:t> Aceleraciones con </a:t>
            </a:r>
            <a:r>
              <a:rPr lang="es-CO" sz="1100" dirty="0" err="1"/>
              <a:t>Dur</a:t>
            </a:r>
            <a:r>
              <a:rPr lang="es-CO" sz="1100" dirty="0"/>
              <a:t> frenadas</a:t>
            </a:r>
          </a:p>
          <a:p>
            <a:pPr marL="171450" indent="-171450">
              <a:buFont typeface="Arial" panose="020B0604020202020204" pitchFamily="34" charset="0"/>
              <a:buChar char="•"/>
            </a:pPr>
            <a:r>
              <a:rPr lang="es-CO" sz="1100" dirty="0"/>
              <a:t>Correlación Alta positiva: Ace/km con </a:t>
            </a:r>
            <a:r>
              <a:rPr lang="es-CO" sz="1100" dirty="0" err="1"/>
              <a:t>fre</a:t>
            </a:r>
            <a:r>
              <a:rPr lang="es-CO" sz="1100" dirty="0"/>
              <a:t>/km</a:t>
            </a:r>
          </a:p>
          <a:p>
            <a:pPr marL="171450" indent="-171450">
              <a:buFont typeface="Arial" panose="020B0604020202020204" pitchFamily="34" charset="0"/>
              <a:buChar char="•"/>
            </a:pPr>
            <a:r>
              <a:rPr lang="es-CO" sz="1100" dirty="0"/>
              <a:t>Correlación negativa: </a:t>
            </a:r>
            <a:r>
              <a:rPr lang="es-CO" sz="1100" dirty="0" err="1"/>
              <a:t>fre</a:t>
            </a:r>
            <a:r>
              <a:rPr lang="es-CO" sz="1100" dirty="0"/>
              <a:t>/km con duraciones</a:t>
            </a:r>
          </a:p>
          <a:p>
            <a:pPr marL="171450" indent="-171450">
              <a:buFont typeface="Arial" panose="020B0604020202020204" pitchFamily="34" charset="0"/>
              <a:buChar char="•"/>
            </a:pPr>
            <a:r>
              <a:rPr lang="es-CO" sz="1100" dirty="0"/>
              <a:t>Correlación negativa: Ace/km con duraciones</a:t>
            </a:r>
          </a:p>
          <a:p>
            <a:endParaRPr lang="es-CO" sz="1100" dirty="0"/>
          </a:p>
        </p:txBody>
      </p:sp>
      <p:sp>
        <p:nvSpPr>
          <p:cNvPr id="16" name="Rectangle 15">
            <a:extLst>
              <a:ext uri="{FF2B5EF4-FFF2-40B4-BE49-F238E27FC236}">
                <a16:creationId xmlns:a16="http://schemas.microsoft.com/office/drawing/2014/main" id="{AEE4E399-CCED-419E-9EF0-960EA2B23896}"/>
              </a:ext>
            </a:extLst>
          </p:cNvPr>
          <p:cNvSpPr/>
          <p:nvPr/>
        </p:nvSpPr>
        <p:spPr>
          <a:xfrm>
            <a:off x="10142481" y="5126311"/>
            <a:ext cx="683173" cy="580806"/>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20905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8" name="TextBox 7">
            <a:extLst>
              <a:ext uri="{FF2B5EF4-FFF2-40B4-BE49-F238E27FC236}">
                <a16:creationId xmlns:a16="http://schemas.microsoft.com/office/drawing/2014/main" id="{E96FD121-2453-422D-8E2F-DDEE578F8870}"/>
              </a:ext>
            </a:extLst>
          </p:cNvPr>
          <p:cNvSpPr txBox="1"/>
          <p:nvPr/>
        </p:nvSpPr>
        <p:spPr>
          <a:xfrm>
            <a:off x="3218330" y="1640959"/>
            <a:ext cx="1042273" cy="369332"/>
          </a:xfrm>
          <a:prstGeom prst="rect">
            <a:avLst/>
          </a:prstGeom>
          <a:noFill/>
        </p:spPr>
        <p:txBody>
          <a:bodyPr wrap="none" rtlCol="0">
            <a:spAutoFit/>
          </a:bodyPr>
          <a:lstStyle/>
          <a:p>
            <a:r>
              <a:rPr lang="es-CO" dirty="0"/>
              <a:t>Bus 4012</a:t>
            </a:r>
          </a:p>
        </p:txBody>
      </p:sp>
      <p:sp>
        <p:nvSpPr>
          <p:cNvPr id="9" name="TextBox 8">
            <a:extLst>
              <a:ext uri="{FF2B5EF4-FFF2-40B4-BE49-F238E27FC236}">
                <a16:creationId xmlns:a16="http://schemas.microsoft.com/office/drawing/2014/main" id="{DAA6E8B6-5056-4F40-89FD-F6F0A4121228}"/>
              </a:ext>
            </a:extLst>
          </p:cNvPr>
          <p:cNvSpPr txBox="1"/>
          <p:nvPr/>
        </p:nvSpPr>
        <p:spPr>
          <a:xfrm>
            <a:off x="8814485" y="1640959"/>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228600"/>
            <a:ext cx="6985000" cy="1384995"/>
          </a:xfrm>
          <a:prstGeom prst="rect">
            <a:avLst/>
          </a:prstGeom>
          <a:noFill/>
        </p:spPr>
        <p:txBody>
          <a:bodyPr wrap="square" rtlCol="0">
            <a:spAutoFit/>
          </a:bodyPr>
          <a:lstStyle/>
          <a:p>
            <a:r>
              <a:rPr lang="es-CO" sz="1400" dirty="0"/>
              <a:t>El bus 4012 (brusco) recorre principalmente la HA617</a:t>
            </a:r>
          </a:p>
          <a:p>
            <a:r>
              <a:rPr lang="es-CO" sz="1400" dirty="0"/>
              <a:t>El bus 4025 recorre principalmente la HL613</a:t>
            </a:r>
          </a:p>
          <a:p>
            <a:endParaRPr lang="es-CO" sz="1400" dirty="0"/>
          </a:p>
          <a:p>
            <a:r>
              <a:rPr lang="es-CO" sz="1400" dirty="0"/>
              <a:t>Aunque hay más hombres “suaves” en 4025 o más mujeres “suaves” en 4012, no aparece ningún patrón claro aquí... las posiciones en esta nube de datos están asociadas al Conductor... (</a:t>
            </a:r>
            <a:r>
              <a:rPr lang="es-CO" sz="1400" dirty="0" err="1"/>
              <a:t>CondID</a:t>
            </a:r>
            <a:r>
              <a:rPr lang="es-CO" sz="1400" dirty="0"/>
              <a:t>)</a:t>
            </a:r>
          </a:p>
        </p:txBody>
      </p:sp>
      <p:pic>
        <p:nvPicPr>
          <p:cNvPr id="14" name="Picture 13">
            <a:extLst>
              <a:ext uri="{FF2B5EF4-FFF2-40B4-BE49-F238E27FC236}">
                <a16:creationId xmlns:a16="http://schemas.microsoft.com/office/drawing/2014/main" id="{C4EB91E2-A2EE-4131-A7A0-F097C66B2057}"/>
              </a:ext>
            </a:extLst>
          </p:cNvPr>
          <p:cNvPicPr>
            <a:picLocks noChangeAspect="1"/>
          </p:cNvPicPr>
          <p:nvPr/>
        </p:nvPicPr>
        <p:blipFill>
          <a:blip r:embed="rId2"/>
          <a:stretch>
            <a:fillRect/>
          </a:stretch>
        </p:blipFill>
        <p:spPr>
          <a:xfrm>
            <a:off x="717398" y="1790146"/>
            <a:ext cx="5243014" cy="5852667"/>
          </a:xfrm>
          <a:prstGeom prst="rect">
            <a:avLst/>
          </a:prstGeom>
        </p:spPr>
      </p:pic>
      <p:pic>
        <p:nvPicPr>
          <p:cNvPr id="5" name="Picture 4">
            <a:extLst>
              <a:ext uri="{FF2B5EF4-FFF2-40B4-BE49-F238E27FC236}">
                <a16:creationId xmlns:a16="http://schemas.microsoft.com/office/drawing/2014/main" id="{6D072FE5-6B37-449D-BC49-D745A580CF1C}"/>
              </a:ext>
            </a:extLst>
          </p:cNvPr>
          <p:cNvPicPr>
            <a:picLocks noChangeAspect="1"/>
          </p:cNvPicPr>
          <p:nvPr/>
        </p:nvPicPr>
        <p:blipFill>
          <a:blip r:embed="rId3"/>
          <a:stretch>
            <a:fillRect/>
          </a:stretch>
        </p:blipFill>
        <p:spPr>
          <a:xfrm>
            <a:off x="2627586" y="5153147"/>
            <a:ext cx="3852111" cy="2679456"/>
          </a:xfrm>
          <a:prstGeom prst="rect">
            <a:avLst/>
          </a:prstGeom>
        </p:spPr>
      </p:pic>
      <p:pic>
        <p:nvPicPr>
          <p:cNvPr id="10" name="Picture 9">
            <a:extLst>
              <a:ext uri="{FF2B5EF4-FFF2-40B4-BE49-F238E27FC236}">
                <a16:creationId xmlns:a16="http://schemas.microsoft.com/office/drawing/2014/main" id="{3CCBB73A-1BE6-4D26-A2EF-B39BD9CA319A}"/>
              </a:ext>
            </a:extLst>
          </p:cNvPr>
          <p:cNvPicPr>
            <a:picLocks noChangeAspect="1"/>
          </p:cNvPicPr>
          <p:nvPr/>
        </p:nvPicPr>
        <p:blipFill>
          <a:blip r:embed="rId4"/>
          <a:stretch>
            <a:fillRect/>
          </a:stretch>
        </p:blipFill>
        <p:spPr>
          <a:xfrm>
            <a:off x="6896548" y="1432625"/>
            <a:ext cx="5122320" cy="4897750"/>
          </a:xfrm>
          <a:prstGeom prst="rect">
            <a:avLst/>
          </a:prstGeom>
        </p:spPr>
      </p:pic>
    </p:spTree>
    <p:extLst>
      <p:ext uri="{BB962C8B-B14F-4D97-AF65-F5344CB8AC3E}">
        <p14:creationId xmlns:p14="http://schemas.microsoft.com/office/powerpoint/2010/main" val="466185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9" name="TextBox 8">
            <a:extLst>
              <a:ext uri="{FF2B5EF4-FFF2-40B4-BE49-F238E27FC236}">
                <a16:creationId xmlns:a16="http://schemas.microsoft.com/office/drawing/2014/main" id="{DAA6E8B6-5056-4F40-89FD-F6F0A4121228}"/>
              </a:ext>
            </a:extLst>
          </p:cNvPr>
          <p:cNvSpPr txBox="1"/>
          <p:nvPr/>
        </p:nvSpPr>
        <p:spPr>
          <a:xfrm>
            <a:off x="8814485" y="1640959"/>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228600"/>
            <a:ext cx="6985000" cy="1384995"/>
          </a:xfrm>
          <a:prstGeom prst="rect">
            <a:avLst/>
          </a:prstGeom>
          <a:noFill/>
        </p:spPr>
        <p:txBody>
          <a:bodyPr wrap="square" rtlCol="0">
            <a:spAutoFit/>
          </a:bodyPr>
          <a:lstStyle/>
          <a:p>
            <a:r>
              <a:rPr lang="es-CO" sz="1400" dirty="0"/>
              <a:t>En el 4012 y 4025 solo hay 2 </a:t>
            </a:r>
            <a:r>
              <a:rPr lang="es-CO" sz="1400" dirty="0" err="1"/>
              <a:t>IDs</a:t>
            </a:r>
            <a:r>
              <a:rPr lang="es-CO" sz="1400" dirty="0"/>
              <a:t> de Hs repetidos, el 168 (</a:t>
            </a:r>
            <a:r>
              <a:rPr lang="es-CO" sz="1400" dirty="0" err="1"/>
              <a:t>star</a:t>
            </a:r>
            <a:r>
              <a:rPr lang="es-CO" sz="1400" dirty="0"/>
              <a:t>) y el 730 (x): AMBOS CONSERVAN EL PROMEDIO DEL # FRE/KM, pero cambian la duración de la frenada, mayor en el 4025 en ambos casos.</a:t>
            </a:r>
          </a:p>
          <a:p>
            <a:endParaRPr lang="es-CO" sz="1400" dirty="0"/>
          </a:p>
          <a:p>
            <a:r>
              <a:rPr lang="es-CO" sz="1400" dirty="0"/>
              <a:t>Todos los </a:t>
            </a:r>
            <a:r>
              <a:rPr lang="es-CO" sz="1400" dirty="0" err="1"/>
              <a:t>ConID</a:t>
            </a:r>
            <a:r>
              <a:rPr lang="es-CO" sz="1400" dirty="0"/>
              <a:t> forman </a:t>
            </a:r>
            <a:r>
              <a:rPr lang="es-CO" sz="1400" dirty="0" err="1"/>
              <a:t>clusters</a:t>
            </a:r>
            <a:r>
              <a:rPr lang="es-CO" sz="1400" dirty="0"/>
              <a:t> cercanos! (Cada conductor tiene una huella digital de su patrón de conducción)</a:t>
            </a:r>
          </a:p>
        </p:txBody>
      </p:sp>
      <p:pic>
        <p:nvPicPr>
          <p:cNvPr id="6" name="Picture 5">
            <a:extLst>
              <a:ext uri="{FF2B5EF4-FFF2-40B4-BE49-F238E27FC236}">
                <a16:creationId xmlns:a16="http://schemas.microsoft.com/office/drawing/2014/main" id="{7EF67583-FCD5-4B10-8A7A-AD63D1C08E41}"/>
              </a:ext>
            </a:extLst>
          </p:cNvPr>
          <p:cNvPicPr>
            <a:picLocks noChangeAspect="1"/>
          </p:cNvPicPr>
          <p:nvPr/>
        </p:nvPicPr>
        <p:blipFill>
          <a:blip r:embed="rId2"/>
          <a:stretch>
            <a:fillRect/>
          </a:stretch>
        </p:blipFill>
        <p:spPr>
          <a:xfrm>
            <a:off x="-220852" y="1876436"/>
            <a:ext cx="6264183" cy="4900085"/>
          </a:xfrm>
          <a:prstGeom prst="rect">
            <a:avLst/>
          </a:prstGeom>
        </p:spPr>
      </p:pic>
      <p:pic>
        <p:nvPicPr>
          <p:cNvPr id="17" name="Picture 16">
            <a:extLst>
              <a:ext uri="{FF2B5EF4-FFF2-40B4-BE49-F238E27FC236}">
                <a16:creationId xmlns:a16="http://schemas.microsoft.com/office/drawing/2014/main" id="{CF62DD5D-4297-4B92-B291-CF3DA3A9B734}"/>
              </a:ext>
            </a:extLst>
          </p:cNvPr>
          <p:cNvPicPr>
            <a:picLocks noChangeAspect="1"/>
          </p:cNvPicPr>
          <p:nvPr/>
        </p:nvPicPr>
        <p:blipFill>
          <a:blip r:embed="rId3"/>
          <a:stretch>
            <a:fillRect/>
          </a:stretch>
        </p:blipFill>
        <p:spPr>
          <a:xfrm>
            <a:off x="6096000" y="1602819"/>
            <a:ext cx="5770937" cy="5517931"/>
          </a:xfrm>
          <a:prstGeom prst="rect">
            <a:avLst/>
          </a:prstGeom>
        </p:spPr>
      </p:pic>
    </p:spTree>
    <p:extLst>
      <p:ext uri="{BB962C8B-B14F-4D97-AF65-F5344CB8AC3E}">
        <p14:creationId xmlns:p14="http://schemas.microsoft.com/office/powerpoint/2010/main" val="1664484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11305" y="1825625"/>
            <a:ext cx="10515600" cy="4351338"/>
          </a:xfrm>
        </p:spPr>
        <p:txBody>
          <a:bodyPr/>
          <a:lstStyle/>
          <a:p>
            <a:endParaRPr lang="es-CO" dirty="0"/>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228600"/>
            <a:ext cx="6985000" cy="1169551"/>
          </a:xfrm>
          <a:prstGeom prst="rect">
            <a:avLst/>
          </a:prstGeom>
          <a:noFill/>
        </p:spPr>
        <p:txBody>
          <a:bodyPr wrap="square" rtlCol="0">
            <a:spAutoFit/>
          </a:bodyPr>
          <a:lstStyle/>
          <a:p>
            <a:r>
              <a:rPr lang="es-CO" sz="1400" dirty="0"/>
              <a:t>En el 4012 y 4025 solo hay 2 </a:t>
            </a:r>
            <a:r>
              <a:rPr lang="es-CO" sz="1400" dirty="0" err="1"/>
              <a:t>IDs</a:t>
            </a:r>
            <a:r>
              <a:rPr lang="es-CO" sz="1400" dirty="0"/>
              <a:t> de Ms repetidos, el 599 (</a:t>
            </a:r>
            <a:r>
              <a:rPr lang="es-CO" sz="1400" dirty="0" err="1"/>
              <a:t>star</a:t>
            </a:r>
            <a:r>
              <a:rPr lang="es-CO" sz="1400" dirty="0"/>
              <a:t>) y el 644 (x): no se conserva ninguna de las dos variables con estos dos </a:t>
            </a:r>
            <a:r>
              <a:rPr lang="es-CO" sz="1400" dirty="0" err="1"/>
              <a:t>IDs</a:t>
            </a:r>
            <a:endParaRPr lang="es-CO" sz="1400" dirty="0"/>
          </a:p>
          <a:p>
            <a:endParaRPr lang="es-CO" sz="1400" dirty="0"/>
          </a:p>
          <a:p>
            <a:r>
              <a:rPr lang="es-CO" sz="1400" dirty="0"/>
              <a:t>Todos los </a:t>
            </a:r>
            <a:r>
              <a:rPr lang="es-CO" sz="1400" dirty="0" err="1"/>
              <a:t>ConID</a:t>
            </a:r>
            <a:r>
              <a:rPr lang="es-CO" sz="1400" dirty="0"/>
              <a:t> forman </a:t>
            </a:r>
            <a:r>
              <a:rPr lang="es-CO" sz="1400" dirty="0" err="1"/>
              <a:t>clusters</a:t>
            </a:r>
            <a:r>
              <a:rPr lang="es-CO" sz="1400" dirty="0"/>
              <a:t> pero: En las mujeres el </a:t>
            </a:r>
            <a:r>
              <a:rPr lang="es-CO" sz="1400" dirty="0" err="1"/>
              <a:t>ConID</a:t>
            </a:r>
            <a:r>
              <a:rPr lang="es-CO" sz="1400" dirty="0"/>
              <a:t> se ve más disperso en las duraciones, (Cada conductor tiene una huella digital de su patrón de conducción?)</a:t>
            </a:r>
          </a:p>
        </p:txBody>
      </p:sp>
      <p:pic>
        <p:nvPicPr>
          <p:cNvPr id="5" name="Picture 4">
            <a:extLst>
              <a:ext uri="{FF2B5EF4-FFF2-40B4-BE49-F238E27FC236}">
                <a16:creationId xmlns:a16="http://schemas.microsoft.com/office/drawing/2014/main" id="{DF793E6B-3B32-4ADD-BF30-C008C2624C4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83614" y="1481763"/>
            <a:ext cx="5952414" cy="5517931"/>
          </a:xfrm>
          <a:prstGeom prst="rect">
            <a:avLst/>
          </a:prstGeom>
        </p:spPr>
      </p:pic>
      <p:pic>
        <p:nvPicPr>
          <p:cNvPr id="13" name="Picture 12">
            <a:extLst>
              <a:ext uri="{FF2B5EF4-FFF2-40B4-BE49-F238E27FC236}">
                <a16:creationId xmlns:a16="http://schemas.microsoft.com/office/drawing/2014/main" id="{9B9BE14E-F89E-4BE4-9388-6F9CF8D4B7C7}"/>
              </a:ext>
            </a:extLst>
          </p:cNvPr>
          <p:cNvPicPr>
            <a:picLocks noChangeAspect="1"/>
          </p:cNvPicPr>
          <p:nvPr/>
        </p:nvPicPr>
        <p:blipFill>
          <a:blip r:embed="rId3"/>
          <a:stretch>
            <a:fillRect/>
          </a:stretch>
        </p:blipFill>
        <p:spPr>
          <a:xfrm>
            <a:off x="0" y="1897991"/>
            <a:ext cx="6233700" cy="4206605"/>
          </a:xfrm>
          <a:prstGeom prst="rect">
            <a:avLst/>
          </a:prstGeom>
        </p:spPr>
      </p:pic>
      <p:pic>
        <p:nvPicPr>
          <p:cNvPr id="15" name="Picture 14">
            <a:extLst>
              <a:ext uri="{FF2B5EF4-FFF2-40B4-BE49-F238E27FC236}">
                <a16:creationId xmlns:a16="http://schemas.microsoft.com/office/drawing/2014/main" id="{C32ED1B7-B861-4764-A417-5267C744597D}"/>
              </a:ext>
            </a:extLst>
          </p:cNvPr>
          <p:cNvPicPr>
            <a:picLocks noChangeAspect="1"/>
          </p:cNvPicPr>
          <p:nvPr/>
        </p:nvPicPr>
        <p:blipFill>
          <a:blip r:embed="rId4"/>
          <a:stretch>
            <a:fillRect/>
          </a:stretch>
        </p:blipFill>
        <p:spPr>
          <a:xfrm>
            <a:off x="6233700" y="1690688"/>
            <a:ext cx="5770937" cy="5517931"/>
          </a:xfrm>
          <a:prstGeom prst="rect">
            <a:avLst/>
          </a:prstGeom>
        </p:spPr>
      </p:pic>
    </p:spTree>
    <p:extLst>
      <p:ext uri="{BB962C8B-B14F-4D97-AF65-F5344CB8AC3E}">
        <p14:creationId xmlns:p14="http://schemas.microsoft.com/office/powerpoint/2010/main" val="142288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DAA5-BF80-4940-8F72-9D8583F487E3}"/>
              </a:ext>
            </a:extLst>
          </p:cNvPr>
          <p:cNvSpPr>
            <a:spLocks noGrp="1"/>
          </p:cNvSpPr>
          <p:nvPr>
            <p:ph type="title"/>
          </p:nvPr>
        </p:nvSpPr>
        <p:spPr/>
        <p:txBody>
          <a:bodyPr/>
          <a:lstStyle/>
          <a:p>
            <a:r>
              <a:rPr lang="es-CO" dirty="0"/>
              <a:t>Aceleración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F35975-6C51-4988-9C7A-B27777D01278}"/>
                  </a:ext>
                </a:extLst>
              </p:cNvPr>
              <p:cNvSpPr>
                <a:spLocks noGrp="1"/>
              </p:cNvSpPr>
              <p:nvPr>
                <p:ph idx="1"/>
              </p:nvPr>
            </p:nvSpPr>
            <p:spPr>
              <a:xfrm>
                <a:off x="838200" y="1825625"/>
                <a:ext cx="5915025" cy="4351338"/>
              </a:xfrm>
            </p:spPr>
            <p:txBody>
              <a:bodyPr>
                <a:normAutofit/>
              </a:bodyPr>
              <a:lstStyle/>
              <a:p>
                <a:r>
                  <a:rPr lang="es-CO" sz="1400" dirty="0"/>
                  <a:t>(1,1) es el límite de la región en donde los recorridos de un conductor (ID) tienen menor STD (</a:t>
                </a:r>
                <a14:m>
                  <m:oMath xmlns:m="http://schemas.openxmlformats.org/officeDocument/2006/math">
                    <m:r>
                      <a:rPr lang="es-ES" sz="1400" b="0" i="1" smtClean="0">
                        <a:latin typeface="Cambria Math" panose="02040503050406030204" pitchFamily="18" charset="0"/>
                      </a:rPr>
                      <m:t>𝜎</m:t>
                    </m:r>
                  </m:oMath>
                </a14:m>
                <a:r>
                  <a:rPr lang="es-CO" sz="1400" dirty="0"/>
                  <a:t>) que la STD promedio del grupo aleatorio del mismo tamaño (cualquier </a:t>
                </a:r>
                <a14:m>
                  <m:oMath xmlns:m="http://schemas.openxmlformats.org/officeDocument/2006/math">
                    <m:r>
                      <a:rPr lang="es-CO" sz="1400" i="1" dirty="0" smtClean="0">
                        <a:latin typeface="Cambria Math" panose="02040503050406030204" pitchFamily="18" charset="0"/>
                      </a:rPr>
                      <m:t>𝑛</m:t>
                    </m:r>
                  </m:oMath>
                </a14:m>
                <a:r>
                  <a:rPr lang="es-CO" sz="1400" dirty="0"/>
                  <a:t> muestras aleatorias, donde </a:t>
                </a:r>
                <a14:m>
                  <m:oMath xmlns:m="http://schemas.openxmlformats.org/officeDocument/2006/math">
                    <m:r>
                      <a:rPr lang="es-CO" sz="1400" i="1" dirty="0" smtClean="0">
                        <a:latin typeface="Cambria Math" panose="02040503050406030204" pitchFamily="18" charset="0"/>
                      </a:rPr>
                      <m:t>𝑛</m:t>
                    </m:r>
                  </m:oMath>
                </a14:m>
                <a:r>
                  <a:rPr lang="es-CO" sz="1400" dirty="0"/>
                  <a:t> es el # de recorridos de cada ID)</a:t>
                </a:r>
              </a:p>
              <a:p>
                <a:r>
                  <a:rPr lang="es-CO" sz="1400" dirty="0"/>
                  <a:t>Hay 52 </a:t>
                </a:r>
                <a:r>
                  <a:rPr lang="es-CO" sz="1400" dirty="0" err="1"/>
                  <a:t>IDs</a:t>
                </a:r>
                <a:r>
                  <a:rPr lang="es-CO" sz="1400" dirty="0"/>
                  <a:t> diferentes (9 + 26 + 11 + 6) con múltiples recorridos (H_4012 M4012 H4025 M_4025). De esos 52, uno está en la zona gris oscura (aunque no aparece en la figura), 11 están en las zonas grises (una de las dos variables por encima de la STD RND) y 40 (el 77%) está dentro de la zona blanca que puede interpretarse como ‘alta probabilidad de patrón’. Es decir, un mismo ID (un mismo conductor) tiende a conservar su par (</a:t>
                </a:r>
                <a:r>
                  <a:rPr lang="es-CO" sz="1400" dirty="0" err="1"/>
                  <a:t>Acc</a:t>
                </a:r>
                <a:r>
                  <a:rPr lang="es-CO" sz="1400" dirty="0"/>
                  <a:t>- </a:t>
                </a:r>
                <a:r>
                  <a:rPr lang="es-CO" sz="1400" dirty="0" err="1"/>
                  <a:t>duration</a:t>
                </a:r>
                <a:r>
                  <a:rPr lang="es-CO" sz="1400" dirty="0"/>
                  <a:t>, </a:t>
                </a:r>
                <a:r>
                  <a:rPr lang="es-CO" sz="1400" dirty="0" err="1"/>
                  <a:t>Acc</a:t>
                </a:r>
                <a:r>
                  <a:rPr lang="es-CO" sz="1400" dirty="0"/>
                  <a:t>-/km) en diferentes recorridos.</a:t>
                </a:r>
              </a:p>
              <a:p>
                <a:r>
                  <a:rPr lang="es-CO" sz="1400" b="1" dirty="0"/>
                  <a:t>Los clúster </a:t>
                </a:r>
                <a:r>
                  <a:rPr lang="es-CO" sz="1400" b="1" dirty="0" err="1"/>
                  <a:t>Acc</a:t>
                </a:r>
                <a:r>
                  <a:rPr lang="es-CO" sz="1400" b="1" dirty="0"/>
                  <a:t>- </a:t>
                </a:r>
                <a:r>
                  <a:rPr lang="es-CO" sz="1400" b="1" dirty="0" err="1"/>
                  <a:t>duration</a:t>
                </a:r>
                <a:r>
                  <a:rPr lang="es-CO" sz="1400" b="1" dirty="0"/>
                  <a:t> vs </a:t>
                </a:r>
                <a:r>
                  <a:rPr lang="es-CO" sz="1400" b="1" dirty="0" err="1"/>
                  <a:t>Acc</a:t>
                </a:r>
                <a:r>
                  <a:rPr lang="es-CO" sz="1400" b="1" dirty="0"/>
                  <a:t>-/km se explica por los </a:t>
                </a:r>
                <a:r>
                  <a:rPr lang="es-CO" sz="1400" b="1" dirty="0" err="1"/>
                  <a:t>IDs</a:t>
                </a:r>
                <a:r>
                  <a:rPr lang="es-CO" sz="1400" b="1" dirty="0"/>
                  <a:t> de los conductores, más que por sexo, horario, ruta o bus.</a:t>
                </a:r>
              </a:p>
              <a:p>
                <a:r>
                  <a:rPr lang="es-CO" sz="1400" b="1" dirty="0"/>
                  <a:t>“El 77% de los conductores tiene menor varianza que un conjunto aleatorio, lo que indica que la personalidad de los conductores explica este patrón de correlación negativa”</a:t>
                </a:r>
              </a:p>
            </p:txBody>
          </p:sp>
        </mc:Choice>
        <mc:Fallback xmlns="">
          <p:sp>
            <p:nvSpPr>
              <p:cNvPr id="3" name="Content Placeholder 2">
                <a:extLst>
                  <a:ext uri="{FF2B5EF4-FFF2-40B4-BE49-F238E27FC236}">
                    <a16:creationId xmlns:a16="http://schemas.microsoft.com/office/drawing/2014/main" id="{1CF35975-6C51-4988-9C7A-B27777D01278}"/>
                  </a:ext>
                </a:extLst>
              </p:cNvPr>
              <p:cNvSpPr>
                <a:spLocks noGrp="1" noRot="1" noChangeAspect="1" noMove="1" noResize="1" noEditPoints="1" noAdjustHandles="1" noChangeArrowheads="1" noChangeShapeType="1" noTextEdit="1"/>
              </p:cNvSpPr>
              <p:nvPr>
                <p:ph idx="1"/>
              </p:nvPr>
            </p:nvSpPr>
            <p:spPr>
              <a:xfrm>
                <a:off x="838200" y="1825625"/>
                <a:ext cx="5915025" cy="4351338"/>
              </a:xfrm>
              <a:blipFill>
                <a:blip r:embed="rId2"/>
                <a:stretch>
                  <a:fillRect l="-206" t="-560" r="-619"/>
                </a:stretch>
              </a:blipFill>
            </p:spPr>
            <p:txBody>
              <a:bodyPr/>
              <a:lstStyle/>
              <a:p>
                <a:r>
                  <a:rPr lang="es-CO">
                    <a:noFill/>
                  </a:rPr>
                  <a:t> </a:t>
                </a:r>
              </a:p>
            </p:txBody>
          </p:sp>
        </mc:Fallback>
      </mc:AlternateContent>
      <p:pic>
        <p:nvPicPr>
          <p:cNvPr id="5" name="Picture 4">
            <a:extLst>
              <a:ext uri="{FF2B5EF4-FFF2-40B4-BE49-F238E27FC236}">
                <a16:creationId xmlns:a16="http://schemas.microsoft.com/office/drawing/2014/main" id="{44C87C73-C371-428E-BD11-252D091E6913}"/>
              </a:ext>
            </a:extLst>
          </p:cNvPr>
          <p:cNvPicPr>
            <a:picLocks noChangeAspect="1"/>
          </p:cNvPicPr>
          <p:nvPr/>
        </p:nvPicPr>
        <p:blipFill rotWithShape="1">
          <a:blip r:embed="rId3"/>
          <a:srcRect l="31953" r="30078"/>
          <a:stretch/>
        </p:blipFill>
        <p:spPr>
          <a:xfrm>
            <a:off x="7467601" y="-2307"/>
            <a:ext cx="4029074" cy="4003601"/>
          </a:xfrm>
          <a:prstGeom prst="rect">
            <a:avLst/>
          </a:prstGeom>
        </p:spPr>
      </p:pic>
      <p:pic>
        <p:nvPicPr>
          <p:cNvPr id="7" name="Picture 6">
            <a:extLst>
              <a:ext uri="{FF2B5EF4-FFF2-40B4-BE49-F238E27FC236}">
                <a16:creationId xmlns:a16="http://schemas.microsoft.com/office/drawing/2014/main" id="{27B41475-A4ED-4AB9-9981-9511CDA02036}"/>
              </a:ext>
            </a:extLst>
          </p:cNvPr>
          <p:cNvPicPr>
            <a:picLocks noChangeAspect="1"/>
          </p:cNvPicPr>
          <p:nvPr/>
        </p:nvPicPr>
        <p:blipFill rotWithShape="1">
          <a:blip r:embed="rId4"/>
          <a:srcRect l="31719" r="29297"/>
          <a:stretch/>
        </p:blipFill>
        <p:spPr>
          <a:xfrm>
            <a:off x="7993534" y="3876674"/>
            <a:ext cx="2977208" cy="2881313"/>
          </a:xfrm>
          <a:prstGeom prst="rect">
            <a:avLst/>
          </a:prstGeom>
        </p:spPr>
      </p:pic>
    </p:spTree>
    <p:extLst>
      <p:ext uri="{BB962C8B-B14F-4D97-AF65-F5344CB8AC3E}">
        <p14:creationId xmlns:p14="http://schemas.microsoft.com/office/powerpoint/2010/main" val="308312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El % aceleraciones &gt; 1 m/s2, no muestra significancia en diferencia entre sexos.</a:t>
            </a:r>
          </a:p>
          <a:p>
            <a:r>
              <a:rPr lang="es-CO" sz="1400" dirty="0"/>
              <a:t>Los otros indicadores tampoco</a:t>
            </a:r>
          </a:p>
        </p:txBody>
      </p:sp>
      <p:pic>
        <p:nvPicPr>
          <p:cNvPr id="7" name="Picture 6">
            <a:extLst>
              <a:ext uri="{FF2B5EF4-FFF2-40B4-BE49-F238E27FC236}">
                <a16:creationId xmlns:a16="http://schemas.microsoft.com/office/drawing/2014/main" id="{6600D135-DBDF-441F-A0A8-7BC217C72420}"/>
              </a:ext>
            </a:extLst>
          </p:cNvPr>
          <p:cNvPicPr>
            <a:picLocks noChangeAspect="1"/>
          </p:cNvPicPr>
          <p:nvPr/>
        </p:nvPicPr>
        <p:blipFill>
          <a:blip r:embed="rId2"/>
          <a:stretch>
            <a:fillRect/>
          </a:stretch>
        </p:blipFill>
        <p:spPr>
          <a:xfrm>
            <a:off x="4075079" y="431802"/>
            <a:ext cx="4205320" cy="3153990"/>
          </a:xfrm>
          <a:prstGeom prst="rect">
            <a:avLst/>
          </a:prstGeom>
        </p:spPr>
      </p:pic>
      <p:pic>
        <p:nvPicPr>
          <p:cNvPr id="9" name="Picture 8">
            <a:extLst>
              <a:ext uri="{FF2B5EF4-FFF2-40B4-BE49-F238E27FC236}">
                <a16:creationId xmlns:a16="http://schemas.microsoft.com/office/drawing/2014/main" id="{63FC89C6-C4AF-49D1-9C2E-703525FB8E6B}"/>
              </a:ext>
            </a:extLst>
          </p:cNvPr>
          <p:cNvPicPr>
            <a:picLocks noChangeAspect="1"/>
          </p:cNvPicPr>
          <p:nvPr/>
        </p:nvPicPr>
        <p:blipFill>
          <a:blip r:embed="rId3"/>
          <a:stretch>
            <a:fillRect/>
          </a:stretch>
        </p:blipFill>
        <p:spPr>
          <a:xfrm>
            <a:off x="7910941" y="431802"/>
            <a:ext cx="4205320" cy="3153990"/>
          </a:xfrm>
          <a:prstGeom prst="rect">
            <a:avLst/>
          </a:prstGeom>
        </p:spPr>
      </p:pic>
      <p:pic>
        <p:nvPicPr>
          <p:cNvPr id="11" name="Picture 10">
            <a:extLst>
              <a:ext uri="{FF2B5EF4-FFF2-40B4-BE49-F238E27FC236}">
                <a16:creationId xmlns:a16="http://schemas.microsoft.com/office/drawing/2014/main" id="{FCC084AB-55AA-4F85-A6B6-1F41ED18AAA8}"/>
              </a:ext>
            </a:extLst>
          </p:cNvPr>
          <p:cNvPicPr>
            <a:picLocks noChangeAspect="1"/>
          </p:cNvPicPr>
          <p:nvPr/>
        </p:nvPicPr>
        <p:blipFill>
          <a:blip r:embed="rId4"/>
          <a:stretch>
            <a:fillRect/>
          </a:stretch>
        </p:blipFill>
        <p:spPr>
          <a:xfrm>
            <a:off x="4142564" y="3240089"/>
            <a:ext cx="4101394" cy="3076046"/>
          </a:xfrm>
          <a:prstGeom prst="rect">
            <a:avLst/>
          </a:prstGeom>
        </p:spPr>
      </p:pic>
      <p:pic>
        <p:nvPicPr>
          <p:cNvPr id="13" name="Picture 12">
            <a:extLst>
              <a:ext uri="{FF2B5EF4-FFF2-40B4-BE49-F238E27FC236}">
                <a16:creationId xmlns:a16="http://schemas.microsoft.com/office/drawing/2014/main" id="{1F66C47E-D6D1-44D7-AADC-90B43314500E}"/>
              </a:ext>
            </a:extLst>
          </p:cNvPr>
          <p:cNvPicPr>
            <a:picLocks noChangeAspect="1"/>
          </p:cNvPicPr>
          <p:nvPr/>
        </p:nvPicPr>
        <p:blipFill>
          <a:blip r:embed="rId5"/>
          <a:stretch>
            <a:fillRect/>
          </a:stretch>
        </p:blipFill>
        <p:spPr>
          <a:xfrm>
            <a:off x="7978424" y="3240088"/>
            <a:ext cx="4101396" cy="3076047"/>
          </a:xfrm>
          <a:prstGeom prst="rect">
            <a:avLst/>
          </a:prstGeom>
        </p:spPr>
      </p:pic>
    </p:spTree>
    <p:extLst>
      <p:ext uri="{BB962C8B-B14F-4D97-AF65-F5344CB8AC3E}">
        <p14:creationId xmlns:p14="http://schemas.microsoft.com/office/powerpoint/2010/main" val="1892344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Las duraciones y el # de frenadas o aceleraciones por km, tampoco...</a:t>
            </a:r>
          </a:p>
        </p:txBody>
      </p:sp>
      <p:pic>
        <p:nvPicPr>
          <p:cNvPr id="5" name="Picture 4">
            <a:extLst>
              <a:ext uri="{FF2B5EF4-FFF2-40B4-BE49-F238E27FC236}">
                <a16:creationId xmlns:a16="http://schemas.microsoft.com/office/drawing/2014/main" id="{816605F4-3D16-49C4-AC9C-83D1F615B29A}"/>
              </a:ext>
            </a:extLst>
          </p:cNvPr>
          <p:cNvPicPr>
            <a:picLocks noChangeAspect="1"/>
          </p:cNvPicPr>
          <p:nvPr/>
        </p:nvPicPr>
        <p:blipFill>
          <a:blip r:embed="rId2"/>
          <a:stretch>
            <a:fillRect/>
          </a:stretch>
        </p:blipFill>
        <p:spPr>
          <a:xfrm>
            <a:off x="4461933" y="555096"/>
            <a:ext cx="3831871" cy="2873903"/>
          </a:xfrm>
          <a:prstGeom prst="rect">
            <a:avLst/>
          </a:prstGeom>
        </p:spPr>
      </p:pic>
      <p:pic>
        <p:nvPicPr>
          <p:cNvPr id="8" name="Picture 7">
            <a:extLst>
              <a:ext uri="{FF2B5EF4-FFF2-40B4-BE49-F238E27FC236}">
                <a16:creationId xmlns:a16="http://schemas.microsoft.com/office/drawing/2014/main" id="{6A4FF1F7-A12F-44B2-AA2D-D15DB5C5EC56}"/>
              </a:ext>
            </a:extLst>
          </p:cNvPr>
          <p:cNvPicPr>
            <a:picLocks noChangeAspect="1"/>
          </p:cNvPicPr>
          <p:nvPr/>
        </p:nvPicPr>
        <p:blipFill>
          <a:blip r:embed="rId3"/>
          <a:stretch>
            <a:fillRect/>
          </a:stretch>
        </p:blipFill>
        <p:spPr>
          <a:xfrm>
            <a:off x="8360128" y="555096"/>
            <a:ext cx="3831872" cy="2873904"/>
          </a:xfrm>
          <a:prstGeom prst="rect">
            <a:avLst/>
          </a:prstGeom>
        </p:spPr>
      </p:pic>
      <p:pic>
        <p:nvPicPr>
          <p:cNvPr id="12" name="Picture 11">
            <a:extLst>
              <a:ext uri="{FF2B5EF4-FFF2-40B4-BE49-F238E27FC236}">
                <a16:creationId xmlns:a16="http://schemas.microsoft.com/office/drawing/2014/main" id="{ED10A12A-C431-49A3-A072-06A67FE0711F}"/>
              </a:ext>
            </a:extLst>
          </p:cNvPr>
          <p:cNvPicPr>
            <a:picLocks noChangeAspect="1"/>
          </p:cNvPicPr>
          <p:nvPr/>
        </p:nvPicPr>
        <p:blipFill>
          <a:blip r:embed="rId4"/>
          <a:stretch>
            <a:fillRect/>
          </a:stretch>
        </p:blipFill>
        <p:spPr>
          <a:xfrm>
            <a:off x="4495094" y="3291813"/>
            <a:ext cx="3831872" cy="2873904"/>
          </a:xfrm>
          <a:prstGeom prst="rect">
            <a:avLst/>
          </a:prstGeom>
        </p:spPr>
      </p:pic>
      <p:pic>
        <p:nvPicPr>
          <p:cNvPr id="15" name="Picture 14">
            <a:extLst>
              <a:ext uri="{FF2B5EF4-FFF2-40B4-BE49-F238E27FC236}">
                <a16:creationId xmlns:a16="http://schemas.microsoft.com/office/drawing/2014/main" id="{D1D9A365-72B4-4804-B1A8-05B666F480E1}"/>
              </a:ext>
            </a:extLst>
          </p:cNvPr>
          <p:cNvPicPr>
            <a:picLocks noChangeAspect="1"/>
          </p:cNvPicPr>
          <p:nvPr/>
        </p:nvPicPr>
        <p:blipFill>
          <a:blip r:embed="rId5"/>
          <a:stretch>
            <a:fillRect/>
          </a:stretch>
        </p:blipFill>
        <p:spPr>
          <a:xfrm>
            <a:off x="8293804" y="3291813"/>
            <a:ext cx="3831872" cy="2873904"/>
          </a:xfrm>
          <a:prstGeom prst="rect">
            <a:avLst/>
          </a:prstGeom>
        </p:spPr>
      </p:pic>
    </p:spTree>
    <p:extLst>
      <p:ext uri="{BB962C8B-B14F-4D97-AF65-F5344CB8AC3E}">
        <p14:creationId xmlns:p14="http://schemas.microsoft.com/office/powerpoint/2010/main" val="964860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EB8D6-C645-4DE7-BD96-D37D9395BFD4}"/>
              </a:ext>
            </a:extLst>
          </p:cNvPr>
          <p:cNvSpPr>
            <a:spLocks noGrp="1"/>
          </p:cNvSpPr>
          <p:nvPr>
            <p:ph type="title"/>
          </p:nvPr>
        </p:nvSpPr>
        <p:spPr/>
        <p:txBody>
          <a:bodyPr/>
          <a:lstStyle/>
          <a:p>
            <a:r>
              <a:rPr lang="es-CO" dirty="0"/>
              <a:t>Riesgo</a:t>
            </a:r>
          </a:p>
        </p:txBody>
      </p:sp>
      <p:sp>
        <p:nvSpPr>
          <p:cNvPr id="3" name="Content Placeholder 2">
            <a:extLst>
              <a:ext uri="{FF2B5EF4-FFF2-40B4-BE49-F238E27FC236}">
                <a16:creationId xmlns:a16="http://schemas.microsoft.com/office/drawing/2014/main" id="{0450CDF6-79B3-406E-8F65-2564FCBA8FBD}"/>
              </a:ext>
            </a:extLst>
          </p:cNvPr>
          <p:cNvSpPr>
            <a:spLocks noGrp="1"/>
          </p:cNvSpPr>
          <p:nvPr>
            <p:ph idx="1"/>
          </p:nvPr>
        </p:nvSpPr>
        <p:spPr>
          <a:xfrm>
            <a:off x="514350" y="1825625"/>
            <a:ext cx="2409825" cy="4351338"/>
          </a:xfrm>
        </p:spPr>
        <p:txBody>
          <a:bodyPr>
            <a:normAutofit/>
          </a:bodyPr>
          <a:lstStyle/>
          <a:p>
            <a:r>
              <a:rPr lang="es-CO" sz="1400" dirty="0"/>
              <a:t>‘Riesgo Kalman’ tiene mejor correlación con todos los indicadores de velocidad que ‘Riesgo’.</a:t>
            </a:r>
          </a:p>
          <a:p>
            <a:r>
              <a:rPr lang="es-CO" sz="1400" dirty="0"/>
              <a:t>No hay correlación con consumo</a:t>
            </a:r>
          </a:p>
        </p:txBody>
      </p:sp>
      <p:grpSp>
        <p:nvGrpSpPr>
          <p:cNvPr id="7" name="Group 6">
            <a:extLst>
              <a:ext uri="{FF2B5EF4-FFF2-40B4-BE49-F238E27FC236}">
                <a16:creationId xmlns:a16="http://schemas.microsoft.com/office/drawing/2014/main" id="{3A324987-3DB3-4F0A-9820-D90C2FA25666}"/>
              </a:ext>
            </a:extLst>
          </p:cNvPr>
          <p:cNvGrpSpPr/>
          <p:nvPr/>
        </p:nvGrpSpPr>
        <p:grpSpPr>
          <a:xfrm>
            <a:off x="2733674" y="0"/>
            <a:ext cx="10620375" cy="5282530"/>
            <a:chOff x="1466849" y="1375445"/>
            <a:chExt cx="10620375" cy="5282530"/>
          </a:xfrm>
        </p:grpSpPr>
        <p:pic>
          <p:nvPicPr>
            <p:cNvPr id="5" name="Picture 4">
              <a:extLst>
                <a:ext uri="{FF2B5EF4-FFF2-40B4-BE49-F238E27FC236}">
                  <a16:creationId xmlns:a16="http://schemas.microsoft.com/office/drawing/2014/main" id="{C66458A2-8C36-4A9D-BEA9-5949DB9ED599}"/>
                </a:ext>
              </a:extLst>
            </p:cNvPr>
            <p:cNvPicPr>
              <a:picLocks noChangeAspect="1"/>
            </p:cNvPicPr>
            <p:nvPr/>
          </p:nvPicPr>
          <p:blipFill>
            <a:blip r:embed="rId2"/>
            <a:stretch>
              <a:fillRect/>
            </a:stretch>
          </p:blipFill>
          <p:spPr>
            <a:xfrm>
              <a:off x="1466849" y="1375445"/>
              <a:ext cx="10620375" cy="5282530"/>
            </a:xfrm>
            <a:prstGeom prst="rect">
              <a:avLst/>
            </a:prstGeom>
          </p:spPr>
        </p:pic>
        <p:sp>
          <p:nvSpPr>
            <p:cNvPr id="6" name="Rectangle 5">
              <a:extLst>
                <a:ext uri="{FF2B5EF4-FFF2-40B4-BE49-F238E27FC236}">
                  <a16:creationId xmlns:a16="http://schemas.microsoft.com/office/drawing/2014/main" id="{FA560DE8-A4B0-4742-A09A-25C255487FB3}"/>
                </a:ext>
              </a:extLst>
            </p:cNvPr>
            <p:cNvSpPr/>
            <p:nvPr/>
          </p:nvSpPr>
          <p:spPr>
            <a:xfrm>
              <a:off x="4010025" y="3009900"/>
              <a:ext cx="1171575" cy="302895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2209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5512-7946-4047-A1D7-53A8399D4DFB}"/>
              </a:ext>
            </a:extLst>
          </p:cNvPr>
          <p:cNvSpPr>
            <a:spLocks noGrp="1"/>
          </p:cNvSpPr>
          <p:nvPr>
            <p:ph type="title"/>
          </p:nvPr>
        </p:nvSpPr>
        <p:spPr/>
        <p:txBody>
          <a:bodyPr/>
          <a:lstStyle/>
          <a:p>
            <a:r>
              <a:rPr lang="es-CO" dirty="0"/>
              <a:t>Riesgo</a:t>
            </a:r>
          </a:p>
        </p:txBody>
      </p:sp>
      <p:sp>
        <p:nvSpPr>
          <p:cNvPr id="3" name="Content Placeholder 2">
            <a:extLst>
              <a:ext uri="{FF2B5EF4-FFF2-40B4-BE49-F238E27FC236}">
                <a16:creationId xmlns:a16="http://schemas.microsoft.com/office/drawing/2014/main" id="{2621EB15-0F81-4D7D-863A-9987161CDC7F}"/>
              </a:ext>
            </a:extLst>
          </p:cNvPr>
          <p:cNvSpPr>
            <a:spLocks noGrp="1"/>
          </p:cNvSpPr>
          <p:nvPr>
            <p:ph idx="1"/>
          </p:nvPr>
        </p:nvSpPr>
        <p:spPr>
          <a:xfrm>
            <a:off x="838200" y="1825625"/>
            <a:ext cx="3877734" cy="4351338"/>
          </a:xfrm>
        </p:spPr>
        <p:txBody>
          <a:bodyPr/>
          <a:lstStyle/>
          <a:p>
            <a:r>
              <a:rPr lang="es-CO" dirty="0"/>
              <a:t>Correlación (obvia) con indicadores de velocidad</a:t>
            </a:r>
          </a:p>
          <a:p>
            <a:r>
              <a:rPr lang="es-CO" dirty="0"/>
              <a:t>No se ven diferencias significativas entre sexos</a:t>
            </a:r>
          </a:p>
        </p:txBody>
      </p:sp>
      <p:pic>
        <p:nvPicPr>
          <p:cNvPr id="5" name="Picture 4">
            <a:extLst>
              <a:ext uri="{FF2B5EF4-FFF2-40B4-BE49-F238E27FC236}">
                <a16:creationId xmlns:a16="http://schemas.microsoft.com/office/drawing/2014/main" id="{4BC4A89A-0215-4040-9B88-BF8727CBA120}"/>
              </a:ext>
            </a:extLst>
          </p:cNvPr>
          <p:cNvPicPr>
            <a:picLocks noChangeAspect="1"/>
          </p:cNvPicPr>
          <p:nvPr/>
        </p:nvPicPr>
        <p:blipFill rotWithShape="1">
          <a:blip r:embed="rId2"/>
          <a:srcRect l="8267" r="7601"/>
          <a:stretch/>
        </p:blipFill>
        <p:spPr>
          <a:xfrm>
            <a:off x="4715934" y="0"/>
            <a:ext cx="7179734" cy="4105769"/>
          </a:xfrm>
          <a:prstGeom prst="rect">
            <a:avLst/>
          </a:prstGeom>
        </p:spPr>
      </p:pic>
      <p:pic>
        <p:nvPicPr>
          <p:cNvPr id="7" name="Picture 6">
            <a:extLst>
              <a:ext uri="{FF2B5EF4-FFF2-40B4-BE49-F238E27FC236}">
                <a16:creationId xmlns:a16="http://schemas.microsoft.com/office/drawing/2014/main" id="{2C577EEF-BF61-4EC6-BDF6-C3B44DCAED78}"/>
              </a:ext>
            </a:extLst>
          </p:cNvPr>
          <p:cNvPicPr>
            <a:picLocks noChangeAspect="1"/>
          </p:cNvPicPr>
          <p:nvPr/>
        </p:nvPicPr>
        <p:blipFill>
          <a:blip r:embed="rId3"/>
          <a:stretch>
            <a:fillRect/>
          </a:stretch>
        </p:blipFill>
        <p:spPr>
          <a:xfrm>
            <a:off x="5203518" y="3770820"/>
            <a:ext cx="6692150" cy="2604580"/>
          </a:xfrm>
          <a:prstGeom prst="rect">
            <a:avLst/>
          </a:prstGeom>
        </p:spPr>
      </p:pic>
    </p:spTree>
    <p:extLst>
      <p:ext uri="{BB962C8B-B14F-4D97-AF65-F5344CB8AC3E}">
        <p14:creationId xmlns:p14="http://schemas.microsoft.com/office/powerpoint/2010/main" val="1538201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01B10-51BF-48BF-A3BD-CAE8964BC802}"/>
              </a:ext>
            </a:extLst>
          </p:cNvPr>
          <p:cNvSpPr>
            <a:spLocks noGrp="1"/>
          </p:cNvSpPr>
          <p:nvPr>
            <p:ph type="title"/>
          </p:nvPr>
        </p:nvSpPr>
        <p:spPr/>
        <p:txBody>
          <a:bodyPr/>
          <a:lstStyle/>
          <a:p>
            <a:r>
              <a:rPr lang="es-CO" dirty="0"/>
              <a:t>Riesgo vs </a:t>
            </a:r>
            <a:r>
              <a:rPr lang="es-CO" dirty="0" err="1"/>
              <a:t>acc</a:t>
            </a:r>
            <a:r>
              <a:rPr lang="es-CO" dirty="0"/>
              <a:t> o </a:t>
            </a:r>
            <a:r>
              <a:rPr lang="es-CO" dirty="0" err="1"/>
              <a:t>fre</a:t>
            </a:r>
            <a:r>
              <a:rPr lang="es-CO" dirty="0"/>
              <a:t> por km</a:t>
            </a:r>
          </a:p>
        </p:txBody>
      </p:sp>
      <p:sp>
        <p:nvSpPr>
          <p:cNvPr id="3" name="Content Placeholder 2">
            <a:extLst>
              <a:ext uri="{FF2B5EF4-FFF2-40B4-BE49-F238E27FC236}">
                <a16:creationId xmlns:a16="http://schemas.microsoft.com/office/drawing/2014/main" id="{178E408E-8AA6-4CE7-A3F2-16C9825DF1DE}"/>
              </a:ext>
            </a:extLst>
          </p:cNvPr>
          <p:cNvSpPr>
            <a:spLocks noGrp="1"/>
          </p:cNvSpPr>
          <p:nvPr>
            <p:ph idx="1"/>
          </p:nvPr>
        </p:nvSpPr>
        <p:spPr/>
        <p:txBody>
          <a:bodyPr/>
          <a:lstStyle/>
          <a:p>
            <a:endParaRPr lang="es-CO"/>
          </a:p>
        </p:txBody>
      </p:sp>
      <p:pic>
        <p:nvPicPr>
          <p:cNvPr id="7" name="Picture 6">
            <a:extLst>
              <a:ext uri="{FF2B5EF4-FFF2-40B4-BE49-F238E27FC236}">
                <a16:creationId xmlns:a16="http://schemas.microsoft.com/office/drawing/2014/main" id="{8FC389B6-C2E7-416E-9D80-C1F6A9A64FAF}"/>
              </a:ext>
            </a:extLst>
          </p:cNvPr>
          <p:cNvPicPr>
            <a:picLocks noChangeAspect="1"/>
          </p:cNvPicPr>
          <p:nvPr/>
        </p:nvPicPr>
        <p:blipFill>
          <a:blip r:embed="rId2"/>
          <a:stretch>
            <a:fillRect/>
          </a:stretch>
        </p:blipFill>
        <p:spPr>
          <a:xfrm>
            <a:off x="1694392" y="2001044"/>
            <a:ext cx="9124950" cy="4000500"/>
          </a:xfrm>
          <a:prstGeom prst="rect">
            <a:avLst/>
          </a:prstGeom>
        </p:spPr>
      </p:pic>
    </p:spTree>
    <p:extLst>
      <p:ext uri="{BB962C8B-B14F-4D97-AF65-F5344CB8AC3E}">
        <p14:creationId xmlns:p14="http://schemas.microsoft.com/office/powerpoint/2010/main" val="537718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B7DC-E44F-47FB-BF0A-9FF0A70AE8C1}"/>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128748F5-7F93-4327-956D-0D034A771280}"/>
              </a:ext>
            </a:extLst>
          </p:cNvPr>
          <p:cNvSpPr>
            <a:spLocks noGrp="1"/>
          </p:cNvSpPr>
          <p:nvPr>
            <p:ph idx="1"/>
          </p:nvPr>
        </p:nvSpPr>
        <p:spPr/>
        <p:txBody>
          <a:bodyPr/>
          <a:lstStyle/>
          <a:p>
            <a:endParaRPr lang="es-CO"/>
          </a:p>
        </p:txBody>
      </p:sp>
      <p:pic>
        <p:nvPicPr>
          <p:cNvPr id="5" name="Picture 4">
            <a:extLst>
              <a:ext uri="{FF2B5EF4-FFF2-40B4-BE49-F238E27FC236}">
                <a16:creationId xmlns:a16="http://schemas.microsoft.com/office/drawing/2014/main" id="{3D5AA0B6-9DC7-4C49-ABC2-8D047CF34AB6}"/>
              </a:ext>
            </a:extLst>
          </p:cNvPr>
          <p:cNvPicPr>
            <a:picLocks noChangeAspect="1"/>
          </p:cNvPicPr>
          <p:nvPr/>
        </p:nvPicPr>
        <p:blipFill>
          <a:blip r:embed="rId2"/>
          <a:stretch>
            <a:fillRect/>
          </a:stretch>
        </p:blipFill>
        <p:spPr>
          <a:xfrm>
            <a:off x="1162050" y="1428750"/>
            <a:ext cx="9867900" cy="4000500"/>
          </a:xfrm>
          <a:prstGeom prst="rect">
            <a:avLst/>
          </a:prstGeom>
        </p:spPr>
      </p:pic>
    </p:spTree>
    <p:extLst>
      <p:ext uri="{BB962C8B-B14F-4D97-AF65-F5344CB8AC3E}">
        <p14:creationId xmlns:p14="http://schemas.microsoft.com/office/powerpoint/2010/main" val="2426596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A95E2-243D-44BC-9A3C-7FE9C3354226}"/>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ABFA090F-323E-4818-991D-5020CE8361DF}"/>
              </a:ext>
            </a:extLst>
          </p:cNvPr>
          <p:cNvSpPr>
            <a:spLocks noGrp="1"/>
          </p:cNvSpPr>
          <p:nvPr>
            <p:ph idx="1"/>
          </p:nvPr>
        </p:nvSpPr>
        <p:spPr>
          <a:xfrm>
            <a:off x="838200" y="1825625"/>
            <a:ext cx="2967182" cy="4351338"/>
          </a:xfrm>
        </p:spPr>
        <p:txBody>
          <a:bodyPr>
            <a:normAutofit/>
          </a:bodyPr>
          <a:lstStyle/>
          <a:p>
            <a:r>
              <a:rPr lang="es-CO" sz="1400" dirty="0"/>
              <a:t>Correlación negativa del consumo/km con las velocidades: velocidad en movimiento y velocidad comercial (incluye paradas)</a:t>
            </a:r>
          </a:p>
          <a:p>
            <a:r>
              <a:rPr lang="es-CO" sz="1400" dirty="0"/>
              <a:t>Rutas en pendientes, H629 y L613 con evidente mayor consumo (casi el doble) que las demás.</a:t>
            </a:r>
          </a:p>
          <a:p>
            <a:r>
              <a:rPr lang="es-CO" sz="1400" dirty="0">
                <a:solidFill>
                  <a:srgbClr val="FF0000"/>
                </a:solidFill>
              </a:rPr>
              <a:t>Importante agregar la energía regenerada para estimar el consumo completo.</a:t>
            </a:r>
          </a:p>
        </p:txBody>
      </p:sp>
      <p:pic>
        <p:nvPicPr>
          <p:cNvPr id="5" name="Picture 4">
            <a:extLst>
              <a:ext uri="{FF2B5EF4-FFF2-40B4-BE49-F238E27FC236}">
                <a16:creationId xmlns:a16="http://schemas.microsoft.com/office/drawing/2014/main" id="{68735796-E0AD-4AB0-BFB9-82A829BA6EA9}"/>
              </a:ext>
            </a:extLst>
          </p:cNvPr>
          <p:cNvPicPr>
            <a:picLocks noChangeAspect="1"/>
          </p:cNvPicPr>
          <p:nvPr/>
        </p:nvPicPr>
        <p:blipFill rotWithShape="1">
          <a:blip r:embed="rId2"/>
          <a:srcRect l="8881"/>
          <a:stretch/>
        </p:blipFill>
        <p:spPr>
          <a:xfrm>
            <a:off x="3805382" y="1368802"/>
            <a:ext cx="8238836" cy="4120395"/>
          </a:xfrm>
          <a:prstGeom prst="rect">
            <a:avLst/>
          </a:prstGeom>
        </p:spPr>
      </p:pic>
    </p:spTree>
    <p:extLst>
      <p:ext uri="{BB962C8B-B14F-4D97-AF65-F5344CB8AC3E}">
        <p14:creationId xmlns:p14="http://schemas.microsoft.com/office/powerpoint/2010/main" val="2548587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732A5-CA64-438D-8D68-CB017C748861}"/>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83DF4FFA-FB2B-4E37-9402-0BBE66287E54}"/>
              </a:ext>
            </a:extLst>
          </p:cNvPr>
          <p:cNvSpPr>
            <a:spLocks noGrp="1"/>
          </p:cNvSpPr>
          <p:nvPr>
            <p:ph idx="1"/>
          </p:nvPr>
        </p:nvSpPr>
        <p:spPr>
          <a:xfrm>
            <a:off x="838200" y="1825625"/>
            <a:ext cx="3078018" cy="4351338"/>
          </a:xfrm>
        </p:spPr>
        <p:txBody>
          <a:bodyPr>
            <a:normAutofit/>
          </a:bodyPr>
          <a:lstStyle/>
          <a:p>
            <a:r>
              <a:rPr lang="es-CO" sz="1800" dirty="0"/>
              <a:t>Todas las rutas muestran correlación positiva entre consumo y </a:t>
            </a:r>
            <a:r>
              <a:rPr lang="es-CO" sz="1800" dirty="0" err="1"/>
              <a:t>acc</a:t>
            </a:r>
            <a:r>
              <a:rPr lang="es-CO" sz="1800" dirty="0"/>
              <a:t>+/km</a:t>
            </a:r>
          </a:p>
          <a:p>
            <a:r>
              <a:rPr lang="es-CO" sz="1800" dirty="0"/>
              <a:t>Las rutas con fuertes pendientes (H629 y L613) aumentan el consumo, pero mantiene correlaciones similares</a:t>
            </a:r>
          </a:p>
          <a:p>
            <a:r>
              <a:rPr lang="es-CO" sz="1800" dirty="0">
                <a:solidFill>
                  <a:srgbClr val="FF0000"/>
                </a:solidFill>
              </a:rPr>
              <a:t>Importante agregar la energía regenerada para estimar el consumo completo.</a:t>
            </a:r>
          </a:p>
          <a:p>
            <a:endParaRPr lang="es-CO" sz="1800" dirty="0"/>
          </a:p>
        </p:txBody>
      </p:sp>
      <p:pic>
        <p:nvPicPr>
          <p:cNvPr id="5" name="Picture 4">
            <a:extLst>
              <a:ext uri="{FF2B5EF4-FFF2-40B4-BE49-F238E27FC236}">
                <a16:creationId xmlns:a16="http://schemas.microsoft.com/office/drawing/2014/main" id="{A6E82763-C78D-435B-842E-57F38A4E8A27}"/>
              </a:ext>
            </a:extLst>
          </p:cNvPr>
          <p:cNvPicPr>
            <a:picLocks noChangeAspect="1"/>
          </p:cNvPicPr>
          <p:nvPr/>
        </p:nvPicPr>
        <p:blipFill rotWithShape="1">
          <a:blip r:embed="rId2"/>
          <a:srcRect l="7468" r="5751"/>
          <a:stretch/>
        </p:blipFill>
        <p:spPr>
          <a:xfrm>
            <a:off x="3971632" y="1825625"/>
            <a:ext cx="7943277" cy="4171182"/>
          </a:xfrm>
          <a:prstGeom prst="rect">
            <a:avLst/>
          </a:prstGeom>
        </p:spPr>
      </p:pic>
    </p:spTree>
    <p:extLst>
      <p:ext uri="{BB962C8B-B14F-4D97-AF65-F5344CB8AC3E}">
        <p14:creationId xmlns:p14="http://schemas.microsoft.com/office/powerpoint/2010/main" val="4264388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38EE-3BB3-486B-8027-C43433CDC185}"/>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40A161F4-4AB6-441C-B84F-77873884F7B4}"/>
              </a:ext>
            </a:extLst>
          </p:cNvPr>
          <p:cNvSpPr>
            <a:spLocks noGrp="1"/>
          </p:cNvSpPr>
          <p:nvPr>
            <p:ph idx="1"/>
          </p:nvPr>
        </p:nvSpPr>
        <p:spPr>
          <a:xfrm>
            <a:off x="838200" y="1825625"/>
            <a:ext cx="2886508" cy="4351338"/>
          </a:xfrm>
        </p:spPr>
        <p:txBody>
          <a:bodyPr>
            <a:normAutofit/>
          </a:bodyPr>
          <a:lstStyle/>
          <a:p>
            <a:r>
              <a:rPr lang="es-CO" sz="1800" dirty="0"/>
              <a:t>No hay diferencias significativas en el consumo por sexo</a:t>
            </a:r>
          </a:p>
        </p:txBody>
      </p:sp>
      <p:pic>
        <p:nvPicPr>
          <p:cNvPr id="5" name="Picture 4">
            <a:extLst>
              <a:ext uri="{FF2B5EF4-FFF2-40B4-BE49-F238E27FC236}">
                <a16:creationId xmlns:a16="http://schemas.microsoft.com/office/drawing/2014/main" id="{A112B960-ACFE-4E2E-8275-FC0FA22A1B20}"/>
              </a:ext>
            </a:extLst>
          </p:cNvPr>
          <p:cNvPicPr>
            <a:picLocks noChangeAspect="1"/>
          </p:cNvPicPr>
          <p:nvPr/>
        </p:nvPicPr>
        <p:blipFill rotWithShape="1">
          <a:blip r:embed="rId2"/>
          <a:srcRect l="9167" r="8333"/>
          <a:stretch/>
        </p:blipFill>
        <p:spPr>
          <a:xfrm>
            <a:off x="3724708" y="1690688"/>
            <a:ext cx="8153255" cy="4754779"/>
          </a:xfrm>
          <a:prstGeom prst="rect">
            <a:avLst/>
          </a:prstGeom>
        </p:spPr>
      </p:pic>
    </p:spTree>
    <p:extLst>
      <p:ext uri="{BB962C8B-B14F-4D97-AF65-F5344CB8AC3E}">
        <p14:creationId xmlns:p14="http://schemas.microsoft.com/office/powerpoint/2010/main" val="422390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749B-7486-4842-8A1C-899970AF3027}"/>
              </a:ext>
            </a:extLst>
          </p:cNvPr>
          <p:cNvSpPr>
            <a:spLocks noGrp="1"/>
          </p:cNvSpPr>
          <p:nvPr>
            <p:ph type="title"/>
          </p:nvPr>
        </p:nvSpPr>
        <p:spPr/>
        <p:txBody>
          <a:bodyPr/>
          <a:lstStyle/>
          <a:p>
            <a:endParaRPr lang="es-CO"/>
          </a:p>
        </p:txBody>
      </p:sp>
      <p:sp>
        <p:nvSpPr>
          <p:cNvPr id="3" name="Content Placeholder 2">
            <a:extLst>
              <a:ext uri="{FF2B5EF4-FFF2-40B4-BE49-F238E27FC236}">
                <a16:creationId xmlns:a16="http://schemas.microsoft.com/office/drawing/2014/main" id="{CF3F9270-7D54-4DA2-A41F-9C647B32A8F1}"/>
              </a:ext>
            </a:extLst>
          </p:cNvPr>
          <p:cNvSpPr>
            <a:spLocks noGrp="1"/>
          </p:cNvSpPr>
          <p:nvPr>
            <p:ph idx="1"/>
          </p:nvPr>
        </p:nvSpPr>
        <p:spPr/>
        <p:txBody>
          <a:bodyPr/>
          <a:lstStyle/>
          <a:p>
            <a:endParaRPr lang="es-CO"/>
          </a:p>
        </p:txBody>
      </p:sp>
      <p:pic>
        <p:nvPicPr>
          <p:cNvPr id="1026" name="Picture 2">
            <a:extLst>
              <a:ext uri="{FF2B5EF4-FFF2-40B4-BE49-F238E27FC236}">
                <a16:creationId xmlns:a16="http://schemas.microsoft.com/office/drawing/2014/main" id="{EA9AD86C-A06C-419F-8E7A-B02E8B902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36" y="43699"/>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7457FA1-AC54-47BC-B050-390214947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6714" y="43699"/>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3A6B986-2E4C-46F9-B212-E30B2D1E2330}"/>
              </a:ext>
            </a:extLst>
          </p:cNvPr>
          <p:cNvPicPr>
            <a:picLocks noChangeAspect="1"/>
          </p:cNvPicPr>
          <p:nvPr/>
        </p:nvPicPr>
        <p:blipFill>
          <a:blip r:embed="rId4"/>
          <a:stretch>
            <a:fillRect/>
          </a:stretch>
        </p:blipFill>
        <p:spPr>
          <a:xfrm>
            <a:off x="6166714" y="3429000"/>
            <a:ext cx="5328804" cy="3448050"/>
          </a:xfrm>
          <a:prstGeom prst="rect">
            <a:avLst/>
          </a:prstGeom>
        </p:spPr>
      </p:pic>
      <p:pic>
        <p:nvPicPr>
          <p:cNvPr id="5" name="Picture 4">
            <a:extLst>
              <a:ext uri="{FF2B5EF4-FFF2-40B4-BE49-F238E27FC236}">
                <a16:creationId xmlns:a16="http://schemas.microsoft.com/office/drawing/2014/main" id="{5C087763-FB24-45D9-ADD1-B5EDD4B994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613" y="3822164"/>
            <a:ext cx="4451897" cy="2880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866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25029</TotalTime>
  <Words>1279</Words>
  <Application>Microsoft Office PowerPoint</Application>
  <PresentationFormat>Widescreen</PresentationFormat>
  <Paragraphs>111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 Math</vt:lpstr>
      <vt:lpstr>Menlo</vt:lpstr>
      <vt:lpstr>Office Theme</vt:lpstr>
      <vt:lpstr>Análisis de patrones de conducción</vt:lpstr>
      <vt:lpstr>Estructura del paper</vt:lpstr>
      <vt:lpstr>Resultados ‘viejos’</vt:lpstr>
      <vt:lpstr>Bus 4012 es diferente</vt:lpstr>
      <vt:lpstr>Bus 4012</vt:lpstr>
      <vt:lpstr>Velocidad</vt:lpstr>
      <vt:lpstr>Velocidad</vt:lpstr>
      <vt:lpstr>Aceleración </vt:lpstr>
      <vt:lpstr>Aceleración</vt:lpstr>
      <vt:lpstr>Aceleración</vt:lpstr>
      <vt:lpstr>Aceleración</vt:lpstr>
      <vt:lpstr>Aceleración</vt:lpstr>
      <vt:lpstr>Aceleración</vt:lpstr>
      <vt:lpstr>Aceleración</vt:lpstr>
      <vt:lpstr>Aceleración</vt:lpstr>
      <vt:lpstr>Aceleración</vt:lpstr>
      <vt:lpstr>Riesgo</vt:lpstr>
      <vt:lpstr>Riesgo</vt:lpstr>
      <vt:lpstr>Riesgo vs acc o fre por km</vt:lpstr>
      <vt:lpstr>Consumo</vt:lpstr>
      <vt:lpstr>Consumo</vt:lpstr>
      <vt:lpstr>Consumo</vt:lpstr>
      <vt:lpstr>Consumo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Jaramillo Ramírez</dc:creator>
  <cp:lastModifiedBy>Daniel Jaramillo Ramirez</cp:lastModifiedBy>
  <cp:revision>72</cp:revision>
  <dcterms:created xsi:type="dcterms:W3CDTF">2025-09-23T21:36:17Z</dcterms:created>
  <dcterms:modified xsi:type="dcterms:W3CDTF">2025-11-17T02:38:14Z</dcterms:modified>
</cp:coreProperties>
</file>