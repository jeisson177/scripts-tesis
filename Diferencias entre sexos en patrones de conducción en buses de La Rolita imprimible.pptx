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6"/>
  </p:notesMasterIdLst>
  <p:sldIdLst>
    <p:sldId id="256" r:id="rId2"/>
    <p:sldId id="272" r:id="rId3"/>
    <p:sldId id="293" r:id="rId4"/>
    <p:sldId id="296" r:id="rId5"/>
    <p:sldId id="295" r:id="rId6"/>
    <p:sldId id="261" r:id="rId7"/>
    <p:sldId id="298" r:id="rId8"/>
    <p:sldId id="297" r:id="rId9"/>
    <p:sldId id="299" r:id="rId10"/>
    <p:sldId id="300" r:id="rId11"/>
    <p:sldId id="301" r:id="rId12"/>
    <p:sldId id="305" r:id="rId13"/>
    <p:sldId id="310" r:id="rId14"/>
    <p:sldId id="260" r:id="rId15"/>
    <p:sldId id="311" r:id="rId16"/>
    <p:sldId id="262" r:id="rId17"/>
    <p:sldId id="317" r:id="rId18"/>
    <p:sldId id="258" r:id="rId19"/>
    <p:sldId id="263" r:id="rId20"/>
    <p:sldId id="316" r:id="rId21"/>
    <p:sldId id="314" r:id="rId22"/>
    <p:sldId id="265" r:id="rId23"/>
    <p:sldId id="268" r:id="rId24"/>
    <p:sldId id="274" r:id="rId25"/>
    <p:sldId id="318" r:id="rId26"/>
    <p:sldId id="312" r:id="rId27"/>
    <p:sldId id="275" r:id="rId28"/>
    <p:sldId id="276" r:id="rId29"/>
    <p:sldId id="319" r:id="rId30"/>
    <p:sldId id="277" r:id="rId31"/>
    <p:sldId id="288" r:id="rId32"/>
    <p:sldId id="284" r:id="rId33"/>
    <p:sldId id="285" r:id="rId34"/>
    <p:sldId id="286" r:id="rId35"/>
    <p:sldId id="287" r:id="rId36"/>
    <p:sldId id="289" r:id="rId37"/>
    <p:sldId id="322" r:id="rId38"/>
    <p:sldId id="290" r:id="rId39"/>
    <p:sldId id="323" r:id="rId40"/>
    <p:sldId id="292" r:id="rId41"/>
    <p:sldId id="280" r:id="rId42"/>
    <p:sldId id="281" r:id="rId43"/>
    <p:sldId id="320" r:id="rId44"/>
    <p:sldId id="304" r:id="rId45"/>
    <p:sldId id="325" r:id="rId46"/>
    <p:sldId id="303" r:id="rId47"/>
    <p:sldId id="283" r:id="rId48"/>
    <p:sldId id="321" r:id="rId49"/>
    <p:sldId id="259" r:id="rId50"/>
    <p:sldId id="269" r:id="rId51"/>
    <p:sldId id="270" r:id="rId52"/>
    <p:sldId id="264" r:id="rId53"/>
    <p:sldId id="267" r:id="rId54"/>
    <p:sldId id="27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33"/>
    <a:srgbClr val="0000FF"/>
    <a:srgbClr val="33996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444" autoAdjust="0"/>
  </p:normalViewPr>
  <p:slideViewPr>
    <p:cSldViewPr snapToGrid="0">
      <p:cViewPr varScale="1">
        <p:scale>
          <a:sx n="70" d="100"/>
          <a:sy n="70" d="100"/>
        </p:scale>
        <p:origin x="116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2BD3A-0C43-41D6-A7D7-258BD467F44C}" type="datetimeFigureOut">
              <a:rPr lang="es-CO" smtClean="0"/>
              <a:t>12/12/2025</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4BBCA-A660-4B3C-A459-FD08899BDEA8}" type="slidenum">
              <a:rPr lang="es-CO" smtClean="0"/>
              <a:t>‹#›</a:t>
            </a:fld>
            <a:endParaRPr lang="es-CO"/>
          </a:p>
        </p:txBody>
      </p:sp>
    </p:spTree>
    <p:extLst>
      <p:ext uri="{BB962C8B-B14F-4D97-AF65-F5344CB8AC3E}">
        <p14:creationId xmlns:p14="http://schemas.microsoft.com/office/powerpoint/2010/main" val="1794359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sz="1200" dirty="0"/>
              <a:t>[mean(mMagPos_M_4025) mean(mMagPos_H_4025)]</a:t>
            </a:r>
          </a:p>
          <a:p>
            <a:r>
              <a:rPr lang="es-CO" sz="1200" dirty="0" err="1"/>
              <a:t>ans</a:t>
            </a:r>
            <a:r>
              <a:rPr lang="es-CO" sz="1200" dirty="0"/>
              <a:t> =    0.7270    0.7379</a:t>
            </a:r>
          </a:p>
          <a:p>
            <a:endParaRPr lang="es-CO" sz="1200" dirty="0"/>
          </a:p>
          <a:p>
            <a:r>
              <a:rPr lang="es-CO" sz="1200" dirty="0"/>
              <a:t>&gt;&gt; [mean(mMagPos_M_4012) mean(mMagPos_H_4012)]</a:t>
            </a:r>
          </a:p>
          <a:p>
            <a:r>
              <a:rPr lang="es-CO" sz="1200" dirty="0" err="1"/>
              <a:t>ans</a:t>
            </a:r>
            <a:r>
              <a:rPr lang="es-CO" sz="1200" dirty="0"/>
              <a:t> =    1.0818    1.0542</a:t>
            </a:r>
          </a:p>
          <a:p>
            <a:endParaRPr lang="es-CO" sz="1200" dirty="0"/>
          </a:p>
          <a:p>
            <a:r>
              <a:rPr lang="en-US" sz="1200" dirty="0"/>
              <a:t>[mean(mMagNeg_M_4012) mean(mMagNeg_H_4012)]</a:t>
            </a:r>
          </a:p>
          <a:p>
            <a:r>
              <a:rPr lang="en-US" sz="1200" dirty="0" err="1"/>
              <a:t>ans</a:t>
            </a:r>
            <a:r>
              <a:rPr lang="en-US" sz="1200" dirty="0"/>
              <a:t> =   -1.1854   -1.1586</a:t>
            </a:r>
          </a:p>
          <a:p>
            <a:endParaRPr lang="en-US" sz="1200" dirty="0"/>
          </a:p>
          <a:p>
            <a:r>
              <a:rPr lang="en-US" sz="1200" dirty="0"/>
              <a:t>&gt;&gt; [mean(mMagNeg_M_4025) mean(mMagNeg_H_4025)]</a:t>
            </a:r>
          </a:p>
          <a:p>
            <a:r>
              <a:rPr lang="en-US" sz="1200" dirty="0" err="1"/>
              <a:t>ans</a:t>
            </a:r>
            <a:r>
              <a:rPr lang="en-US" sz="1200" dirty="0"/>
              <a:t> =   -0.7500   -0.7766</a:t>
            </a:r>
          </a:p>
          <a:p>
            <a:endParaRPr lang="es-CO" sz="1200" dirty="0"/>
          </a:p>
          <a:p>
            <a:r>
              <a:rPr lang="en-US" sz="1200" dirty="0"/>
              <a:t>&gt;&gt; milliseconds([mean(mDurPos_M_4012) mean(mDurPos_H_4012)])</a:t>
            </a:r>
          </a:p>
          <a:p>
            <a:r>
              <a:rPr lang="en-US" sz="1200" dirty="0" err="1"/>
              <a:t>ans</a:t>
            </a:r>
            <a:r>
              <a:rPr lang="en-US" sz="1200" dirty="0"/>
              <a:t> =   1.0e+03 *    1.2706    1.1727</a:t>
            </a:r>
          </a:p>
          <a:p>
            <a:endParaRPr lang="en-US" sz="1200" dirty="0"/>
          </a:p>
          <a:p>
            <a:r>
              <a:rPr lang="en-US" sz="1200" dirty="0"/>
              <a:t>&gt;&gt; milliseconds([mean(mDurPos_M_4025) mean(mDurPos_H_4025)])</a:t>
            </a:r>
          </a:p>
          <a:p>
            <a:r>
              <a:rPr lang="en-US" sz="1200" dirty="0" err="1"/>
              <a:t>ans</a:t>
            </a:r>
            <a:r>
              <a:rPr lang="en-US" sz="1200" dirty="0"/>
              <a:t> =   1.0e+03 *    1.8031    1.9330</a:t>
            </a:r>
          </a:p>
          <a:p>
            <a:endParaRPr lang="en-US" sz="1200" dirty="0"/>
          </a:p>
          <a:p>
            <a:r>
              <a:rPr lang="en-US" sz="1200" dirty="0"/>
              <a:t>milliseconds([mean(mDurNeg_M_4012) mean(mDurNeg_H_4012)])</a:t>
            </a:r>
          </a:p>
          <a:p>
            <a:r>
              <a:rPr lang="en-US" sz="1200" dirty="0" err="1"/>
              <a:t>ans</a:t>
            </a:r>
            <a:r>
              <a:rPr lang="en-US" sz="1200" dirty="0"/>
              <a:t> =   1.0e+03 *    1.4299    1.3198</a:t>
            </a:r>
          </a:p>
          <a:p>
            <a:br>
              <a:rPr lang="en-US" sz="1200" dirty="0"/>
            </a:br>
            <a:r>
              <a:rPr lang="en-US" sz="1200" dirty="0"/>
              <a:t>milliseconds([mean(mDurNeg_M_4025) mean(mDurNeg_H_4025)])</a:t>
            </a:r>
          </a:p>
          <a:p>
            <a:r>
              <a:rPr lang="en-US" sz="1200" dirty="0" err="1"/>
              <a:t>ans</a:t>
            </a:r>
            <a:r>
              <a:rPr lang="en-US" sz="1200" dirty="0"/>
              <a:t> =   1.0e+03 *    1.9658    2.0895</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20</a:t>
            </a:fld>
            <a:endParaRPr lang="es-CO"/>
          </a:p>
        </p:txBody>
      </p:sp>
    </p:spTree>
    <p:extLst>
      <p:ext uri="{BB962C8B-B14F-4D97-AF65-F5344CB8AC3E}">
        <p14:creationId xmlns:p14="http://schemas.microsoft.com/office/powerpoint/2010/main" val="103759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sz="1200" dirty="0"/>
              <a:t>Por lo anterior, cualquier evaluación sobre los indicadores de aceleración debe hacer por cada uno de los dos únicos buses donde hay información el sexo: el 4012 (el brusco) y el 4025.</a:t>
            </a:r>
          </a:p>
          <a:p>
            <a:endParaRPr lang="es-CO" sz="1200" dirty="0"/>
          </a:p>
          <a:p>
            <a:r>
              <a:rPr lang="es-CO" sz="1200" dirty="0"/>
              <a:t>La matriz de correlación no muestra mayores indicios sobre patrones entre sexos.</a:t>
            </a:r>
          </a:p>
          <a:p>
            <a:r>
              <a:rPr lang="es-CO" sz="1200" b="1" dirty="0"/>
              <a:t>Se repite en los dos buses:</a:t>
            </a:r>
          </a:p>
          <a:p>
            <a:pPr marL="171450" indent="-171450">
              <a:buFont typeface="Arial" panose="020B0604020202020204" pitchFamily="34" charset="0"/>
              <a:buChar char="•"/>
            </a:pPr>
            <a:r>
              <a:rPr lang="es-CO" sz="1200" dirty="0"/>
              <a:t>Correlación positiva: Mag Aceleraciones con Mag frenadas</a:t>
            </a:r>
          </a:p>
          <a:p>
            <a:pPr marL="171450" indent="-171450">
              <a:buFont typeface="Arial" panose="020B0604020202020204" pitchFamily="34" charset="0"/>
              <a:buChar char="•"/>
            </a:pPr>
            <a:r>
              <a:rPr lang="es-CO" sz="1200" dirty="0"/>
              <a:t>Correlación Alta positiva: Dur Aceleraciones con Dur frenadas</a:t>
            </a:r>
          </a:p>
          <a:p>
            <a:pPr marL="171450" indent="-171450">
              <a:buFont typeface="Arial" panose="020B0604020202020204" pitchFamily="34" charset="0"/>
              <a:buChar char="•"/>
            </a:pPr>
            <a:r>
              <a:rPr lang="es-CO" sz="1200" dirty="0"/>
              <a:t>Correlación Alta positiva: Ace/km con fre/km</a:t>
            </a:r>
          </a:p>
          <a:p>
            <a:pPr marL="171450" indent="-171450">
              <a:buFont typeface="Arial" panose="020B0604020202020204" pitchFamily="34" charset="0"/>
              <a:buChar char="•"/>
            </a:pPr>
            <a:r>
              <a:rPr lang="es-CO" sz="1200" dirty="0"/>
              <a:t>Correlación negativa: fre/km con duraciones</a:t>
            </a:r>
          </a:p>
          <a:p>
            <a:pPr marL="171450" indent="-171450">
              <a:buFont typeface="Arial" panose="020B0604020202020204" pitchFamily="34" charset="0"/>
              <a:buChar char="•"/>
            </a:pPr>
            <a:r>
              <a:rPr lang="es-CO" sz="1200" dirty="0"/>
              <a:t>Correlación negativa: Ace/km con duraciones</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22</a:t>
            </a:fld>
            <a:endParaRPr lang="es-CO"/>
          </a:p>
        </p:txBody>
      </p:sp>
    </p:spTree>
    <p:extLst>
      <p:ext uri="{BB962C8B-B14F-4D97-AF65-F5344CB8AC3E}">
        <p14:creationId xmlns:p14="http://schemas.microsoft.com/office/powerpoint/2010/main" val="1632926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Wingdings" panose="05000000000000000000" pitchFamily="2" charset="2"/>
              <a:buChar char="§"/>
            </a:pPr>
            <a:r>
              <a:rPr lang="es-CO" sz="1200" dirty="0"/>
              <a:t>El bus 4012 (brusco) recorre principalmente la HA617</a:t>
            </a:r>
          </a:p>
          <a:p>
            <a:pPr marL="285750" indent="-285750">
              <a:buFont typeface="Wingdings" panose="05000000000000000000" pitchFamily="2" charset="2"/>
              <a:buChar char="§"/>
            </a:pPr>
            <a:r>
              <a:rPr lang="es-CO" sz="1200" dirty="0"/>
              <a:t>El bus 4025 recorre principalmente la HL613</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23</a:t>
            </a:fld>
            <a:endParaRPr lang="es-CO"/>
          </a:p>
        </p:txBody>
      </p:sp>
    </p:spTree>
    <p:extLst>
      <p:ext uri="{BB962C8B-B14F-4D97-AF65-F5344CB8AC3E}">
        <p14:creationId xmlns:p14="http://schemas.microsoft.com/office/powerpoint/2010/main" val="1504913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s-CO" sz="1200" dirty="0"/>
                  <a:t>(1,1) es el límite de la región en donde los recorridos de un conductor (ID) tienen menor STD (</a:t>
                </a:r>
                <a14:m>
                  <m:oMath xmlns:m="http://schemas.openxmlformats.org/officeDocument/2006/math">
                    <m:r>
                      <a:rPr lang="es-ES" sz="1200" b="0" i="1" smtClean="0">
                        <a:latin typeface="Cambria Math" panose="02040503050406030204" pitchFamily="18" charset="0"/>
                      </a:rPr>
                      <m:t>𝜎</m:t>
                    </m:r>
                  </m:oMath>
                </a14:m>
                <a:r>
                  <a:rPr lang="es-CO" sz="1200" dirty="0"/>
                  <a:t>) que la STD promedio del grupo aleatorio del mismo tamaño (cualquier </a:t>
                </a:r>
                <a14:m>
                  <m:oMath xmlns:m="http://schemas.openxmlformats.org/officeDocument/2006/math">
                    <m:r>
                      <a:rPr lang="es-CO" sz="1200" i="1" dirty="0" smtClean="0">
                        <a:latin typeface="Cambria Math" panose="02040503050406030204" pitchFamily="18" charset="0"/>
                      </a:rPr>
                      <m:t>𝑛</m:t>
                    </m:r>
                  </m:oMath>
                </a14:m>
                <a:r>
                  <a:rPr lang="es-CO" sz="1200" dirty="0"/>
                  <a:t> muestras aleatorias, donde </a:t>
                </a:r>
                <a14:m>
                  <m:oMath xmlns:m="http://schemas.openxmlformats.org/officeDocument/2006/math">
                    <m:r>
                      <a:rPr lang="es-CO" sz="1200" i="1" dirty="0" smtClean="0">
                        <a:latin typeface="Cambria Math" panose="02040503050406030204" pitchFamily="18" charset="0"/>
                      </a:rPr>
                      <m:t>𝑛</m:t>
                    </m:r>
                  </m:oMath>
                </a14:m>
                <a:r>
                  <a:rPr lang="es-CO" sz="1200" dirty="0"/>
                  <a:t> es el # de recorridos de cada ID)</a:t>
                </a:r>
              </a:p>
              <a:p>
                <a:r>
                  <a:rPr lang="es-CO" sz="1200" dirty="0"/>
                  <a:t>Hay 52 </a:t>
                </a:r>
                <a:r>
                  <a:rPr lang="es-CO" sz="1200" dirty="0" err="1"/>
                  <a:t>IDs</a:t>
                </a:r>
                <a:r>
                  <a:rPr lang="es-CO" sz="1200" dirty="0"/>
                  <a:t> diferentes (9 + 26 + 11 + 6) con múltiples recorridos (H_4012 M4012 H4025 M_4025). De esos 52, uno está en la zona gris oscura (aunque no aparece en la figura), 11 están en las zonas grises (una de las dos variables por encima de la STD RND) y 40 (el 77%) está dentro de la zona blanca que puede interpretarse como ‘alta probabilidad de patrón’. Es decir, un mismo ID (un mismo conductor) tiende a conservar su par (</a:t>
                </a:r>
                <a:r>
                  <a:rPr lang="es-CO" sz="1200" dirty="0" err="1"/>
                  <a:t>Acc</a:t>
                </a:r>
                <a:r>
                  <a:rPr lang="es-CO" sz="1200" dirty="0"/>
                  <a:t>- </a:t>
                </a:r>
                <a:r>
                  <a:rPr lang="es-CO" sz="1200" dirty="0" err="1"/>
                  <a:t>duration</a:t>
                </a:r>
                <a:r>
                  <a:rPr lang="es-CO" sz="1200" dirty="0"/>
                  <a:t>, </a:t>
                </a:r>
                <a:r>
                  <a:rPr lang="es-CO" sz="1200" dirty="0" err="1"/>
                  <a:t>Acc</a:t>
                </a:r>
                <a:r>
                  <a:rPr lang="es-CO" sz="1200" dirty="0"/>
                  <a:t>-/km) en diferentes recorridos.</a:t>
                </a:r>
              </a:p>
              <a:p>
                <a:endParaRPr lang="es-CO" dirty="0"/>
              </a:p>
            </p:txBody>
          </p:sp>
        </mc:Choice>
        <mc:Fallback xmlns="">
          <p:sp>
            <p:nvSpPr>
              <p:cNvPr id="3" name="Notes Placeholder 2"/>
              <p:cNvSpPr>
                <a:spLocks noGrp="1"/>
              </p:cNvSpPr>
              <p:nvPr>
                <p:ph type="body" idx="1"/>
              </p:nvPr>
            </p:nvSpPr>
            <p:spPr/>
            <p:txBody>
              <a:bodyPr/>
              <a:lstStyle/>
              <a:p>
                <a:r>
                  <a:rPr lang="es-CO" sz="1200" dirty="0"/>
                  <a:t>(1,1) es el límite de la región en donde los recorridos de un conductor (ID) tienen menor STD (</a:t>
                </a:r>
                <a:r>
                  <a:rPr lang="es-ES" sz="1200" b="0" i="0">
                    <a:latin typeface="Cambria Math" panose="02040503050406030204" pitchFamily="18" charset="0"/>
                  </a:rPr>
                  <a:t>𝜎</a:t>
                </a:r>
                <a:r>
                  <a:rPr lang="es-CO" sz="1200" dirty="0"/>
                  <a:t>) que la STD promedio del grupo aleatorio del mismo tamaño (cualquier </a:t>
                </a:r>
                <a:r>
                  <a:rPr lang="es-CO" sz="1200" i="0" dirty="0">
                    <a:latin typeface="Cambria Math" panose="02040503050406030204" pitchFamily="18" charset="0"/>
                  </a:rPr>
                  <a:t>𝑛</a:t>
                </a:r>
                <a:r>
                  <a:rPr lang="es-CO" sz="1200" dirty="0"/>
                  <a:t> muestras aleatorias, donde </a:t>
                </a:r>
                <a:r>
                  <a:rPr lang="es-CO" sz="1200" i="0" dirty="0">
                    <a:latin typeface="Cambria Math" panose="02040503050406030204" pitchFamily="18" charset="0"/>
                  </a:rPr>
                  <a:t>𝑛</a:t>
                </a:r>
                <a:r>
                  <a:rPr lang="es-CO" sz="1200" dirty="0"/>
                  <a:t> es el # de recorridos de cada ID)</a:t>
                </a:r>
              </a:p>
              <a:p>
                <a:r>
                  <a:rPr lang="es-CO" sz="1200" dirty="0"/>
                  <a:t>Hay 52 </a:t>
                </a:r>
                <a:r>
                  <a:rPr lang="es-CO" sz="1200" dirty="0" err="1"/>
                  <a:t>IDs</a:t>
                </a:r>
                <a:r>
                  <a:rPr lang="es-CO" sz="1200" dirty="0"/>
                  <a:t> diferentes (9 + 26 + 11 + 6) con múltiples recorridos (H_4012 M4012 H4025 M_4025). De esos 52, uno está en la zona gris oscura (aunque no aparece en la figura), 11 están en las zonas grises (una de las dos variables por encima de la STD RND) y 40 (el 77%) está dentro de la zona blanca que puede interpretarse como ‘alta probabilidad de patrón’. Es decir, un mismo ID (un mismo conductor) tiende a conservar su par (</a:t>
                </a:r>
                <a:r>
                  <a:rPr lang="es-CO" sz="1200" dirty="0" err="1"/>
                  <a:t>Acc</a:t>
                </a:r>
                <a:r>
                  <a:rPr lang="es-CO" sz="1200" dirty="0"/>
                  <a:t>- </a:t>
                </a:r>
                <a:r>
                  <a:rPr lang="es-CO" sz="1200" dirty="0" err="1"/>
                  <a:t>duration</a:t>
                </a:r>
                <a:r>
                  <a:rPr lang="es-CO" sz="1200" dirty="0"/>
                  <a:t>, </a:t>
                </a:r>
                <a:r>
                  <a:rPr lang="es-CO" sz="1200" dirty="0" err="1"/>
                  <a:t>Acc</a:t>
                </a:r>
                <a:r>
                  <a:rPr lang="es-CO" sz="1200" dirty="0"/>
                  <a:t>-/km) en diferentes recorridos.</a:t>
                </a:r>
              </a:p>
              <a:p>
                <a:endParaRPr lang="es-CO" dirty="0"/>
              </a:p>
            </p:txBody>
          </p:sp>
        </mc:Fallback>
      </mc:AlternateContent>
      <p:sp>
        <p:nvSpPr>
          <p:cNvPr id="4" name="Slide Number Placeholder 3"/>
          <p:cNvSpPr>
            <a:spLocks noGrp="1"/>
          </p:cNvSpPr>
          <p:nvPr>
            <p:ph type="sldNum" sz="quarter" idx="5"/>
          </p:nvPr>
        </p:nvSpPr>
        <p:spPr/>
        <p:txBody>
          <a:bodyPr/>
          <a:lstStyle/>
          <a:p>
            <a:fld id="{BA64BBCA-A660-4B3C-A459-FD08899BDEA8}" type="slidenum">
              <a:rPr lang="es-CO" smtClean="0"/>
              <a:t>24</a:t>
            </a:fld>
            <a:endParaRPr lang="es-CO"/>
          </a:p>
        </p:txBody>
      </p:sp>
    </p:spTree>
    <p:extLst>
      <p:ext uri="{BB962C8B-B14F-4D97-AF65-F5344CB8AC3E}">
        <p14:creationId xmlns:p14="http://schemas.microsoft.com/office/powerpoint/2010/main" val="2865503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4E7F299-4789-4FF8-B81D-36FBED8B2FD5}" type="datetime1">
              <a:rPr lang="es-CO" smtClean="0"/>
              <a:t>12/12/2025</a:t>
            </a:fld>
            <a:endParaRPr lang="es-CO"/>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25158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97D82C-D574-4019-AF4D-2B46E0A93F26}" type="datetime1">
              <a:rPr lang="es-CO" smtClean="0"/>
              <a:t>12/12/2025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10558300" y="5956137"/>
            <a:ext cx="1052508" cy="365125"/>
          </a:xfrm>
        </p:spPr>
        <p:txBody>
          <a:bodyPr/>
          <a:lstStyle/>
          <a:p>
            <a:fld id="{00670DA0-C7A9-4FF5-B8FB-4DCD6DFD0B70}" type="slidenum">
              <a:rPr lang="es-CO" smtClean="0"/>
              <a:t>‹#›</a:t>
            </a:fld>
            <a:endParaRPr lang="es-CO"/>
          </a:p>
        </p:txBody>
      </p:sp>
      <p:pic>
        <p:nvPicPr>
          <p:cNvPr id="8" name="Imagen 4">
            <a:extLst>
              <a:ext uri="{FF2B5EF4-FFF2-40B4-BE49-F238E27FC236}">
                <a16:creationId xmlns:a16="http://schemas.microsoft.com/office/drawing/2014/main" id="{38EF0A7A-FCB8-46BD-8203-97CC63567978}"/>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3107976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B38E484-F25F-402E-A22E-2B53A3AACBDC}" type="datetime1">
              <a:rPr lang="es-CO" smtClean="0"/>
              <a:t>12/12/2025</a:t>
            </a:fld>
            <a:endParaRPr lang="es-CO"/>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14D26978-940E-426F-AE1C-6F9ABEF3B6F1}"/>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3348781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C89960-D316-4E86-95C4-B1BD34710697}" type="datetime1">
              <a:rPr lang="es-CO" smtClean="0"/>
              <a:t>12/12/2025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965838D5-E719-45AB-804D-807FA5F1BEB7}"/>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44792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5BF3BB-624E-403B-AA2F-2857E4415C7C}" type="datetime1">
              <a:rPr lang="es-CO" smtClean="0"/>
              <a:t>12/12/2025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0670DA0-C7A9-4FF5-B8FB-4DCD6DFD0B70}" type="slidenum">
              <a:rPr lang="es-CO" smtClean="0"/>
              <a:t>‹#›</a:t>
            </a:fld>
            <a:endParaRPr lang="es-CO"/>
          </a:p>
        </p:txBody>
      </p:sp>
      <p:pic>
        <p:nvPicPr>
          <p:cNvPr id="13" name="Imagen 4">
            <a:extLst>
              <a:ext uri="{FF2B5EF4-FFF2-40B4-BE49-F238E27FC236}">
                <a16:creationId xmlns:a16="http://schemas.microsoft.com/office/drawing/2014/main" id="{1063869E-4C7C-4776-83AB-18A6C79F6705}"/>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7584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26D0E6-08A0-42CD-87DB-389E0AEE9182}" type="datetime1">
              <a:rPr lang="es-CO" smtClean="0"/>
              <a:t>12/12/2025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DB79AFE9-11C0-46EB-8CFB-9C2F6141F1EE}"/>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426204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212BF-CCFA-42C7-BF8E-F7EF9D364C27}" type="datetime1">
              <a:rPr lang="es-CO" smtClean="0"/>
              <a:t>12/12/2025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0670DA0-C7A9-4FF5-B8FB-4DCD6DFD0B70}" type="slidenum">
              <a:rPr lang="es-CO" smtClean="0"/>
              <a:t>‹#›</a:t>
            </a:fld>
            <a:endParaRPr lang="es-CO"/>
          </a:p>
        </p:txBody>
      </p:sp>
      <p:pic>
        <p:nvPicPr>
          <p:cNvPr id="5" name="Imagen 4">
            <a:extLst>
              <a:ext uri="{FF2B5EF4-FFF2-40B4-BE49-F238E27FC236}">
                <a16:creationId xmlns:a16="http://schemas.microsoft.com/office/drawing/2014/main" id="{A3DA9ABF-7DCC-4E99-BDDA-D1E1154656C0}"/>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189232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50B51CB-CCA4-4FCA-8151-547A229E58ED}" type="datetime1">
              <a:rPr lang="es-CO" smtClean="0"/>
              <a:t>12/12/2025</a:t>
            </a:fld>
            <a:endParaRPr lang="es-CO"/>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181030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29A507-D0EA-4AC2-AFBE-38BD0F5C6C7F}" type="datetime1">
              <a:rPr lang="es-CO" smtClean="0"/>
              <a:t>12/12/2025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885942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7B9B63-427D-4E12-832F-8B94132739A4}" type="datetime1">
              <a:rPr lang="es-CO" smtClean="0"/>
              <a:t>12/12/2025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1158250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34D0A3-E27F-445F-AC4C-F75556BACB5E}" type="datetime1">
              <a:rPr lang="es-CO" smtClean="0"/>
              <a:t>12/12/2025</a:t>
            </a:fld>
            <a:endParaRPr lang="es-CO"/>
          </a:p>
        </p:txBody>
      </p:sp>
      <p:sp>
        <p:nvSpPr>
          <p:cNvPr id="5" name="Footer Placeholder 4"/>
          <p:cNvSpPr>
            <a:spLocks noGrp="1"/>
          </p:cNvSpPr>
          <p:nvPr>
            <p:ph type="ftr" sz="quarter" idx="11"/>
          </p:nvPr>
        </p:nvSpPr>
        <p:spPr>
          <a:xfrm>
            <a:off x="774923" y="5951811"/>
            <a:ext cx="7896279" cy="365125"/>
          </a:xfrm>
        </p:spPr>
        <p:txBody>
          <a:bodyPr/>
          <a:lstStyle/>
          <a:p>
            <a:endParaRPr lang="es-CO"/>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993255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D09F81E-7AE8-44A7-9D99-D9B9EB84A85B}" type="datetime1">
              <a:rPr lang="es-CO" smtClean="0"/>
              <a:t>12/12/2025</a:t>
            </a:fld>
            <a:endParaRPr lang="es-CO"/>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s-CO"/>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0670DA0-C7A9-4FF5-B8FB-4DCD6DFD0B70}" type="slidenum">
              <a:rPr lang="es-CO" smtClean="0"/>
              <a:t>‹#›</a:t>
            </a:fld>
            <a:endParaRPr lang="es-CO"/>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49847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jpe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6868-1D3E-4683-A1A0-30D3995D2D3C}"/>
              </a:ext>
            </a:extLst>
          </p:cNvPr>
          <p:cNvSpPr>
            <a:spLocks noGrp="1"/>
          </p:cNvSpPr>
          <p:nvPr>
            <p:ph type="ctrTitle"/>
          </p:nvPr>
        </p:nvSpPr>
        <p:spPr/>
        <p:txBody>
          <a:bodyPr>
            <a:normAutofit/>
          </a:bodyPr>
          <a:lstStyle/>
          <a:p>
            <a:r>
              <a:rPr lang="es-CO" dirty="0"/>
              <a:t>Patrones de conducción y diferencias entre sexos en buses de La Rolita</a:t>
            </a:r>
          </a:p>
        </p:txBody>
      </p:sp>
      <p:sp>
        <p:nvSpPr>
          <p:cNvPr id="3" name="Subtitle 2">
            <a:extLst>
              <a:ext uri="{FF2B5EF4-FFF2-40B4-BE49-F238E27FC236}">
                <a16:creationId xmlns:a16="http://schemas.microsoft.com/office/drawing/2014/main" id="{B4321D8D-5963-408C-999E-5741D917B19A}"/>
              </a:ext>
            </a:extLst>
          </p:cNvPr>
          <p:cNvSpPr>
            <a:spLocks noGrp="1"/>
          </p:cNvSpPr>
          <p:nvPr>
            <p:ph type="subTitle" idx="1"/>
          </p:nvPr>
        </p:nvSpPr>
        <p:spPr>
          <a:xfrm>
            <a:off x="581194" y="3295545"/>
            <a:ext cx="10993546" cy="828780"/>
          </a:xfrm>
        </p:spPr>
        <p:txBody>
          <a:bodyPr>
            <a:normAutofit/>
          </a:bodyPr>
          <a:lstStyle/>
          <a:p>
            <a:pPr>
              <a:lnSpc>
                <a:spcPct val="60000"/>
              </a:lnSpc>
              <a:spcBef>
                <a:spcPts val="0"/>
              </a:spcBef>
              <a:spcAft>
                <a:spcPts val="200"/>
              </a:spcAft>
            </a:pPr>
            <a:r>
              <a:rPr lang="es-CO" b="1" dirty="0"/>
              <a:t>Rodión Tabares</a:t>
            </a:r>
          </a:p>
          <a:p>
            <a:pPr>
              <a:lnSpc>
                <a:spcPct val="60000"/>
              </a:lnSpc>
              <a:spcBef>
                <a:spcPts val="0"/>
              </a:spcBef>
              <a:spcAft>
                <a:spcPts val="200"/>
              </a:spcAft>
            </a:pPr>
            <a:r>
              <a:rPr lang="es-CO" b="1" dirty="0"/>
              <a:t>Jeisson Ruiz</a:t>
            </a:r>
          </a:p>
          <a:p>
            <a:pPr>
              <a:lnSpc>
                <a:spcPct val="60000"/>
              </a:lnSpc>
              <a:spcBef>
                <a:spcPts val="0"/>
              </a:spcBef>
              <a:spcAft>
                <a:spcPts val="200"/>
              </a:spcAft>
            </a:pPr>
            <a:endParaRPr lang="es-CO" b="1" dirty="0"/>
          </a:p>
          <a:p>
            <a:pPr>
              <a:lnSpc>
                <a:spcPct val="60000"/>
              </a:lnSpc>
              <a:spcBef>
                <a:spcPts val="0"/>
              </a:spcBef>
              <a:spcAft>
                <a:spcPts val="200"/>
              </a:spcAft>
            </a:pPr>
            <a:r>
              <a:rPr lang="es-CO" b="1" dirty="0"/>
              <a:t>Profesor Daniel Jaramillo Ramírez, Ph.D.</a:t>
            </a:r>
          </a:p>
        </p:txBody>
      </p:sp>
      <p:pic>
        <p:nvPicPr>
          <p:cNvPr id="1026" name="Picture 2" descr="Ing_Industrial: EMPRESA: OPERADORA DISTRITAL DE TRANSPORTE S.A.S. - LA  ROLITA | Aulas Virtuales">
            <a:extLst>
              <a:ext uri="{FF2B5EF4-FFF2-40B4-BE49-F238E27FC236}">
                <a16:creationId xmlns:a16="http://schemas.microsoft.com/office/drawing/2014/main" id="{2C5FF85F-97FA-4CB4-966E-AB7CA6783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525" y="4530610"/>
            <a:ext cx="4283605" cy="142284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1D3AD460-D5EB-45F5-9882-7781DDFB872C}"/>
              </a:ext>
            </a:extLst>
          </p:cNvPr>
          <p:cNvPicPr>
            <a:picLocks noChangeAspect="1"/>
          </p:cNvPicPr>
          <p:nvPr/>
        </p:nvPicPr>
        <p:blipFill>
          <a:blip r:embed="rId3"/>
          <a:stretch>
            <a:fillRect/>
          </a:stretch>
        </p:blipFill>
        <p:spPr>
          <a:xfrm>
            <a:off x="1040870" y="4530610"/>
            <a:ext cx="3032643" cy="1422850"/>
          </a:xfrm>
          <a:prstGeom prst="rect">
            <a:avLst/>
          </a:prstGeom>
        </p:spPr>
      </p:pic>
    </p:spTree>
    <p:extLst>
      <p:ext uri="{BB962C8B-B14F-4D97-AF65-F5344CB8AC3E}">
        <p14:creationId xmlns:p14="http://schemas.microsoft.com/office/powerpoint/2010/main" val="254897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1709739"/>
            <a:ext cx="10515600" cy="855662"/>
          </a:xfrm>
        </p:spPr>
        <p:txBody>
          <a:bodyPr>
            <a:normAutofit/>
          </a:bodyPr>
          <a:lstStyle/>
          <a:p>
            <a:r>
              <a:rPr lang="es-CO" dirty="0"/>
              <a:t>Contexto </a:t>
            </a:r>
          </a:p>
        </p:txBody>
      </p:sp>
      <p:sp>
        <p:nvSpPr>
          <p:cNvPr id="3" name="Text Placeholder 2">
            <a:extLst>
              <a:ext uri="{FF2B5EF4-FFF2-40B4-BE49-F238E27FC236}">
                <a16:creationId xmlns:a16="http://schemas.microsoft.com/office/drawing/2014/main" id="{16C8FF78-876F-4928-8E5C-5112CD32348C}"/>
              </a:ext>
            </a:extLst>
          </p:cNvPr>
          <p:cNvSpPr>
            <a:spLocks noGrp="1"/>
          </p:cNvSpPr>
          <p:nvPr>
            <p:ph type="body" idx="1"/>
          </p:nvPr>
        </p:nvSpPr>
        <p:spPr>
          <a:xfrm>
            <a:off x="831850" y="2853267"/>
            <a:ext cx="10778960" cy="3236383"/>
          </a:xfrm>
        </p:spPr>
        <p:txBody>
          <a:bodyPr/>
          <a:lstStyle/>
          <a:p>
            <a:pPr marL="457200" indent="-457200">
              <a:buFont typeface="Wingdings" panose="05000000000000000000" pitchFamily="2" charset="2"/>
              <a:buChar char="§"/>
            </a:pPr>
            <a:r>
              <a:rPr lang="es-CO" dirty="0"/>
              <a:t>“Las mujeres no saben manejar un bus”</a:t>
            </a:r>
          </a:p>
          <a:p>
            <a:pPr marL="457200" indent="-457200">
              <a:buFont typeface="Wingdings" panose="05000000000000000000" pitchFamily="2" charset="2"/>
              <a:buChar char="§"/>
            </a:pPr>
            <a:r>
              <a:rPr lang="es-CO" dirty="0"/>
              <a:t>Prudencia vs pericia</a:t>
            </a:r>
          </a:p>
          <a:p>
            <a:pPr marL="457200" indent="-457200">
              <a:buFont typeface="Wingdings" panose="05000000000000000000" pitchFamily="2" charset="2"/>
              <a:buChar char="§"/>
            </a:pPr>
            <a:r>
              <a:rPr lang="es-CO" dirty="0"/>
              <a:t>literatura: Patrones de conducción para ahorro de combustible o id conductor</a:t>
            </a:r>
          </a:p>
          <a:p>
            <a:pPr marL="457200" indent="-457200">
              <a:buFont typeface="Wingdings" panose="05000000000000000000" pitchFamily="2" charset="2"/>
              <a:buChar char="§"/>
            </a:pPr>
            <a:r>
              <a:rPr lang="es-CO" dirty="0"/>
              <a:t>Poca investigación de diferencias entre sexos en conducción de buses</a:t>
            </a:r>
          </a:p>
        </p:txBody>
      </p:sp>
      <p:sp>
        <p:nvSpPr>
          <p:cNvPr id="4" name="Slide Number Placeholder 3">
            <a:extLst>
              <a:ext uri="{FF2B5EF4-FFF2-40B4-BE49-F238E27FC236}">
                <a16:creationId xmlns:a16="http://schemas.microsoft.com/office/drawing/2014/main" id="{20C4914C-10D6-4B35-B5E8-5194BFCA4D17}"/>
              </a:ext>
            </a:extLst>
          </p:cNvPr>
          <p:cNvSpPr>
            <a:spLocks noGrp="1"/>
          </p:cNvSpPr>
          <p:nvPr>
            <p:ph type="sldNum" sz="quarter" idx="12"/>
          </p:nvPr>
        </p:nvSpPr>
        <p:spPr/>
        <p:txBody>
          <a:bodyPr/>
          <a:lstStyle/>
          <a:p>
            <a:fld id="{00670DA0-C7A9-4FF5-B8FB-4DCD6DFD0B70}" type="slidenum">
              <a:rPr lang="es-CO" smtClean="0"/>
              <a:t>2</a:t>
            </a:fld>
            <a:endParaRPr lang="es-CO"/>
          </a:p>
        </p:txBody>
      </p:sp>
    </p:spTree>
    <p:extLst>
      <p:ext uri="{BB962C8B-B14F-4D97-AF65-F5344CB8AC3E}">
        <p14:creationId xmlns:p14="http://schemas.microsoft.com/office/powerpoint/2010/main" val="310457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extLst>
              <p:ext uri="{D42A27DB-BD31-4B8C-83A1-F6EECF244321}">
                <p14:modId xmlns:p14="http://schemas.microsoft.com/office/powerpoint/2010/main" val="276936905"/>
              </p:ext>
            </p:extLst>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1727199"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470462" cy="82867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Recolección de datos</a:t>
              </a:r>
            </a:p>
          </p:txBody>
        </p:sp>
      </p:grpSp>
      <p:sp>
        <p:nvSpPr>
          <p:cNvPr id="10" name="Slide Number Placeholder 9">
            <a:extLst>
              <a:ext uri="{FF2B5EF4-FFF2-40B4-BE49-F238E27FC236}">
                <a16:creationId xmlns:a16="http://schemas.microsoft.com/office/drawing/2014/main" id="{F598E8F9-098B-4639-B788-AEFA2A4C63C0}"/>
              </a:ext>
            </a:extLst>
          </p:cNvPr>
          <p:cNvSpPr>
            <a:spLocks noGrp="1"/>
          </p:cNvSpPr>
          <p:nvPr>
            <p:ph type="sldNum" sz="quarter" idx="12"/>
          </p:nvPr>
        </p:nvSpPr>
        <p:spPr/>
        <p:txBody>
          <a:bodyPr/>
          <a:lstStyle/>
          <a:p>
            <a:fld id="{00670DA0-C7A9-4FF5-B8FB-4DCD6DFD0B70}" type="slidenum">
              <a:rPr lang="es-CO" smtClean="0"/>
              <a:t>3</a:t>
            </a:fld>
            <a:endParaRPr lang="es-CO"/>
          </a:p>
        </p:txBody>
      </p:sp>
    </p:spTree>
    <p:extLst>
      <p:ext uri="{BB962C8B-B14F-4D97-AF65-F5344CB8AC3E}">
        <p14:creationId xmlns:p14="http://schemas.microsoft.com/office/powerpoint/2010/main" val="82074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A1D9-73AD-4A2D-BF0A-A30626819375}"/>
              </a:ext>
            </a:extLst>
          </p:cNvPr>
          <p:cNvSpPr>
            <a:spLocks noGrp="1"/>
          </p:cNvSpPr>
          <p:nvPr>
            <p:ph type="title"/>
          </p:nvPr>
        </p:nvSpPr>
        <p:spPr/>
        <p:txBody>
          <a:bodyPr/>
          <a:lstStyle/>
          <a:p>
            <a:r>
              <a:rPr lang="es-CO" dirty="0"/>
              <a:t>Recolección de datos</a:t>
            </a:r>
          </a:p>
        </p:txBody>
      </p:sp>
      <p:sp>
        <p:nvSpPr>
          <p:cNvPr id="3" name="Text Placeholder 2">
            <a:extLst>
              <a:ext uri="{FF2B5EF4-FFF2-40B4-BE49-F238E27FC236}">
                <a16:creationId xmlns:a16="http://schemas.microsoft.com/office/drawing/2014/main" id="{47BED64F-A49A-4FD9-9FF4-70BA1A922620}"/>
              </a:ext>
            </a:extLst>
          </p:cNvPr>
          <p:cNvSpPr>
            <a:spLocks noGrp="1"/>
          </p:cNvSpPr>
          <p:nvPr>
            <p:ph type="body" idx="1"/>
          </p:nvPr>
        </p:nvSpPr>
        <p:spPr/>
        <p:txBody>
          <a:bodyPr/>
          <a:lstStyle/>
          <a:p>
            <a:r>
              <a:rPr lang="es-CO" dirty="0"/>
              <a:t>ITS </a:t>
            </a:r>
            <a:r>
              <a:rPr lang="es-CO" dirty="0" err="1"/>
              <a:t>TransMilenio</a:t>
            </a:r>
            <a:r>
              <a:rPr lang="es-CO" dirty="0"/>
              <a:t> (STS)</a:t>
            </a:r>
          </a:p>
        </p:txBody>
      </p:sp>
      <p:sp>
        <p:nvSpPr>
          <p:cNvPr id="4" name="Content Placeholder 3">
            <a:extLst>
              <a:ext uri="{FF2B5EF4-FFF2-40B4-BE49-F238E27FC236}">
                <a16:creationId xmlns:a16="http://schemas.microsoft.com/office/drawing/2014/main" id="{8ADED0C3-F7BA-4170-BD2D-7446E41CA1B8}"/>
              </a:ext>
            </a:extLst>
          </p:cNvPr>
          <p:cNvSpPr>
            <a:spLocks noGrp="1"/>
          </p:cNvSpPr>
          <p:nvPr>
            <p:ph sz="half" idx="2"/>
          </p:nvPr>
        </p:nvSpPr>
        <p:spPr/>
        <p:txBody>
          <a:bodyPr/>
          <a:lstStyle/>
          <a:p>
            <a:r>
              <a:rPr lang="es-CO" dirty="0"/>
              <a:t>P20 (Velocidad cada 20 </a:t>
            </a:r>
            <a:r>
              <a:rPr lang="es-CO" dirty="0" err="1"/>
              <a:t>seg</a:t>
            </a:r>
            <a:r>
              <a:rPr lang="es-CO" dirty="0"/>
              <a:t>)</a:t>
            </a:r>
          </a:p>
          <a:p>
            <a:r>
              <a:rPr lang="es-CO" dirty="0"/>
              <a:t>P60 (Consumo)</a:t>
            </a:r>
          </a:p>
          <a:p>
            <a:r>
              <a:rPr lang="es-CO" dirty="0"/>
              <a:t>Alarmas (No usadas)</a:t>
            </a:r>
          </a:p>
          <a:p>
            <a:r>
              <a:rPr lang="es-CO" dirty="0"/>
              <a:t>Eventos (Apertura/cierre de puertas)</a:t>
            </a:r>
          </a:p>
        </p:txBody>
      </p:sp>
      <p:sp>
        <p:nvSpPr>
          <p:cNvPr id="5" name="Text Placeholder 4">
            <a:extLst>
              <a:ext uri="{FF2B5EF4-FFF2-40B4-BE49-F238E27FC236}">
                <a16:creationId xmlns:a16="http://schemas.microsoft.com/office/drawing/2014/main" id="{3836DD12-A363-4E6B-AC04-2A4502927E25}"/>
              </a:ext>
            </a:extLst>
          </p:cNvPr>
          <p:cNvSpPr>
            <a:spLocks noGrp="1"/>
          </p:cNvSpPr>
          <p:nvPr>
            <p:ph type="body" sz="quarter" idx="3"/>
          </p:nvPr>
        </p:nvSpPr>
        <p:spPr/>
        <p:txBody>
          <a:bodyPr/>
          <a:lstStyle/>
          <a:p>
            <a:r>
              <a:rPr lang="es-CO" dirty="0"/>
              <a:t>IMU Teléfono celular (1 Hz)</a:t>
            </a:r>
          </a:p>
        </p:txBody>
      </p:sp>
      <p:sp>
        <p:nvSpPr>
          <p:cNvPr id="6" name="Content Placeholder 5">
            <a:extLst>
              <a:ext uri="{FF2B5EF4-FFF2-40B4-BE49-F238E27FC236}">
                <a16:creationId xmlns:a16="http://schemas.microsoft.com/office/drawing/2014/main" id="{DF28AE44-329A-49E9-942E-474CC1ABF854}"/>
              </a:ext>
            </a:extLst>
          </p:cNvPr>
          <p:cNvSpPr>
            <a:spLocks noGrp="1"/>
          </p:cNvSpPr>
          <p:nvPr>
            <p:ph sz="quarter" idx="4"/>
          </p:nvPr>
        </p:nvSpPr>
        <p:spPr/>
        <p:txBody>
          <a:bodyPr/>
          <a:lstStyle/>
          <a:p>
            <a:r>
              <a:rPr lang="es-CO" dirty="0"/>
              <a:t>Velocidad</a:t>
            </a:r>
          </a:p>
          <a:p>
            <a:r>
              <a:rPr lang="es-CO" dirty="0"/>
              <a:t>Aceleración</a:t>
            </a:r>
          </a:p>
          <a:p>
            <a:r>
              <a:rPr lang="es-CO" dirty="0"/>
              <a:t>Latitud, Longitud</a:t>
            </a:r>
          </a:p>
          <a:p>
            <a:endParaRPr lang="es-CO" dirty="0"/>
          </a:p>
          <a:p>
            <a:endParaRPr lang="es-CO" dirty="0"/>
          </a:p>
          <a:p>
            <a:endParaRPr lang="es-CO" dirty="0"/>
          </a:p>
          <a:p>
            <a:r>
              <a:rPr lang="es-CO" b="1" dirty="0"/>
              <a:t>Todos los datos cada 1 segundo.</a:t>
            </a:r>
          </a:p>
        </p:txBody>
      </p:sp>
      <p:pic>
        <p:nvPicPr>
          <p:cNvPr id="7" name="Imagen 5" descr="Un hombre con una maleta de viaje&#10;&#10;Descripción generada automáticamente con confianza media">
            <a:extLst>
              <a:ext uri="{FF2B5EF4-FFF2-40B4-BE49-F238E27FC236}">
                <a16:creationId xmlns:a16="http://schemas.microsoft.com/office/drawing/2014/main" id="{2596D081-F2F8-437A-B371-8C34A9F8C7B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l="10126" t="23155" r="24008" b="14858"/>
          <a:stretch/>
        </p:blipFill>
        <p:spPr>
          <a:xfrm>
            <a:off x="9086850" y="3171426"/>
            <a:ext cx="1461222" cy="1833507"/>
          </a:xfrm>
          <a:prstGeom prst="rect">
            <a:avLst/>
          </a:prstGeom>
        </p:spPr>
      </p:pic>
      <p:sp>
        <p:nvSpPr>
          <p:cNvPr id="8" name="Slide Number Placeholder 7">
            <a:extLst>
              <a:ext uri="{FF2B5EF4-FFF2-40B4-BE49-F238E27FC236}">
                <a16:creationId xmlns:a16="http://schemas.microsoft.com/office/drawing/2014/main" id="{48D8FC38-B440-4858-A553-36CD7A626972}"/>
              </a:ext>
            </a:extLst>
          </p:cNvPr>
          <p:cNvSpPr>
            <a:spLocks noGrp="1"/>
          </p:cNvSpPr>
          <p:nvPr>
            <p:ph type="sldNum" sz="quarter" idx="12"/>
          </p:nvPr>
        </p:nvSpPr>
        <p:spPr/>
        <p:txBody>
          <a:bodyPr/>
          <a:lstStyle/>
          <a:p>
            <a:fld id="{00670DA0-C7A9-4FF5-B8FB-4DCD6DFD0B70}" type="slidenum">
              <a:rPr lang="es-CO" smtClean="0"/>
              <a:t>4</a:t>
            </a:fld>
            <a:endParaRPr lang="es-CO"/>
          </a:p>
        </p:txBody>
      </p:sp>
    </p:spTree>
    <p:extLst>
      <p:ext uri="{BB962C8B-B14F-4D97-AF65-F5344CB8AC3E}">
        <p14:creationId xmlns:p14="http://schemas.microsoft.com/office/powerpoint/2010/main" val="137898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A492A-6483-4DFF-911B-4A0B3089AAD7}"/>
              </a:ext>
            </a:extLst>
          </p:cNvPr>
          <p:cNvSpPr>
            <a:spLocks noGrp="1"/>
          </p:cNvSpPr>
          <p:nvPr>
            <p:ph type="title"/>
          </p:nvPr>
        </p:nvSpPr>
        <p:spPr/>
        <p:txBody>
          <a:bodyPr/>
          <a:lstStyle/>
          <a:p>
            <a:r>
              <a:rPr lang="es-CO" dirty="0"/>
              <a:t>Recolección de datos</a:t>
            </a:r>
          </a:p>
        </p:txBody>
      </p:sp>
      <p:sp>
        <p:nvSpPr>
          <p:cNvPr id="3" name="Content Placeholder 2">
            <a:extLst>
              <a:ext uri="{FF2B5EF4-FFF2-40B4-BE49-F238E27FC236}">
                <a16:creationId xmlns:a16="http://schemas.microsoft.com/office/drawing/2014/main" id="{C66B3BDA-D5C4-433F-8C27-E219637CD219}"/>
              </a:ext>
            </a:extLst>
          </p:cNvPr>
          <p:cNvSpPr>
            <a:spLocks noGrp="1"/>
          </p:cNvSpPr>
          <p:nvPr>
            <p:ph idx="1"/>
          </p:nvPr>
        </p:nvSpPr>
        <p:spPr/>
        <p:txBody>
          <a:bodyPr>
            <a:normAutofit/>
          </a:bodyPr>
          <a:lstStyle/>
          <a:p>
            <a:pPr marL="0" indent="0">
              <a:buNone/>
            </a:pPr>
            <a:r>
              <a:rPr lang="es-CO" dirty="0"/>
              <a:t>Resumen: 344 recorridos</a:t>
            </a:r>
          </a:p>
          <a:p>
            <a:pPr>
              <a:buFont typeface="Wingdings" panose="05000000000000000000" pitchFamily="2" charset="2"/>
              <a:buChar char="§"/>
            </a:pPr>
            <a:r>
              <a:rPr lang="es-CO" dirty="0"/>
              <a:t>Abril 2024 (115 recorridos, sin información del sexo del conductor), </a:t>
            </a:r>
          </a:p>
          <a:p>
            <a:pPr>
              <a:buFont typeface="Wingdings" panose="05000000000000000000" pitchFamily="2" charset="2"/>
              <a:buChar char="§"/>
            </a:pPr>
            <a:r>
              <a:rPr lang="es-CO" dirty="0"/>
              <a:t>Julio-Agosto 2024 (229 recorridos)</a:t>
            </a:r>
          </a:p>
          <a:p>
            <a:pPr lvl="1">
              <a:buFont typeface="Wingdings" panose="05000000000000000000" pitchFamily="2" charset="2"/>
              <a:buChar char="§"/>
            </a:pPr>
            <a:r>
              <a:rPr lang="es-CO" dirty="0"/>
              <a:t>187 con información del sexo del conductor: 60 Masculino (32%), 127 Femenino (68%)</a:t>
            </a:r>
          </a:p>
          <a:p>
            <a:r>
              <a:rPr lang="es-CO" dirty="0"/>
              <a:t>24 Hombres diferentes y 51 Mujeres diferentes (hay suficiente varianza)</a:t>
            </a:r>
          </a:p>
          <a:p>
            <a:r>
              <a:rPr lang="es-CO" dirty="0"/>
              <a:t>Vehículos: 4 buses diferentes (Z37-4012, 4020, 4025, 4104)</a:t>
            </a:r>
          </a:p>
          <a:p>
            <a:r>
              <a:rPr lang="es-CO" dirty="0"/>
              <a:t>Rutas:  14 rutas diferentes (</a:t>
            </a:r>
            <a:r>
              <a:rPr lang="pt-BR" dirty="0"/>
              <a:t>"A601“, "A617“, "A618“, "H601“, "H613“, "H617“, "H618“, "H629“, "H635“, "H636“, "K629“, "K635“, "L613“, "L636"</a:t>
            </a:r>
            <a:r>
              <a:rPr lang="es-CO" dirty="0"/>
              <a:t>)</a:t>
            </a:r>
          </a:p>
          <a:p>
            <a:pPr marL="0" indent="0">
              <a:buNone/>
            </a:pPr>
            <a:endParaRPr lang="es-CO" dirty="0"/>
          </a:p>
        </p:txBody>
      </p:sp>
      <p:sp>
        <p:nvSpPr>
          <p:cNvPr id="4" name="Slide Number Placeholder 3">
            <a:extLst>
              <a:ext uri="{FF2B5EF4-FFF2-40B4-BE49-F238E27FC236}">
                <a16:creationId xmlns:a16="http://schemas.microsoft.com/office/drawing/2014/main" id="{67DB2E54-D2D7-4E61-ADAB-AA430A4EC09E}"/>
              </a:ext>
            </a:extLst>
          </p:cNvPr>
          <p:cNvSpPr>
            <a:spLocks noGrp="1"/>
          </p:cNvSpPr>
          <p:nvPr>
            <p:ph type="sldNum" sz="quarter" idx="12"/>
          </p:nvPr>
        </p:nvSpPr>
        <p:spPr/>
        <p:txBody>
          <a:bodyPr/>
          <a:lstStyle/>
          <a:p>
            <a:fld id="{00670DA0-C7A9-4FF5-B8FB-4DCD6DFD0B70}" type="slidenum">
              <a:rPr lang="es-CO" smtClean="0"/>
              <a:t>5</a:t>
            </a:fld>
            <a:endParaRPr lang="es-CO"/>
          </a:p>
        </p:txBody>
      </p:sp>
    </p:spTree>
    <p:extLst>
      <p:ext uri="{BB962C8B-B14F-4D97-AF65-F5344CB8AC3E}">
        <p14:creationId xmlns:p14="http://schemas.microsoft.com/office/powerpoint/2010/main" val="8837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749B-7486-4842-8A1C-899970AF3027}"/>
              </a:ext>
            </a:extLst>
          </p:cNvPr>
          <p:cNvSpPr>
            <a:spLocks noGrp="1"/>
          </p:cNvSpPr>
          <p:nvPr>
            <p:ph type="title"/>
          </p:nvPr>
        </p:nvSpPr>
        <p:spPr/>
        <p:txBody>
          <a:bodyPr/>
          <a:lstStyle/>
          <a:p>
            <a:r>
              <a:rPr lang="es-CO" dirty="0"/>
              <a:t>Recolección de datos</a:t>
            </a:r>
          </a:p>
        </p:txBody>
      </p:sp>
      <p:sp>
        <p:nvSpPr>
          <p:cNvPr id="3" name="Content Placeholder 2">
            <a:extLst>
              <a:ext uri="{FF2B5EF4-FFF2-40B4-BE49-F238E27FC236}">
                <a16:creationId xmlns:a16="http://schemas.microsoft.com/office/drawing/2014/main" id="{CF3F9270-7D54-4DA2-A41F-9C647B32A8F1}"/>
              </a:ext>
            </a:extLst>
          </p:cNvPr>
          <p:cNvSpPr>
            <a:spLocks noGrp="1"/>
          </p:cNvSpPr>
          <p:nvPr>
            <p:ph idx="1"/>
          </p:nvPr>
        </p:nvSpPr>
        <p:spPr/>
        <p:txBody>
          <a:bodyPr/>
          <a:lstStyle/>
          <a:p>
            <a:r>
              <a:rPr lang="es-CO" dirty="0"/>
              <a:t>Rutas con mayor información</a:t>
            </a:r>
          </a:p>
          <a:p>
            <a:endParaRPr lang="es-CO" dirty="0"/>
          </a:p>
          <a:p>
            <a:endParaRPr lang="es-CO" dirty="0"/>
          </a:p>
          <a:p>
            <a:endParaRPr lang="es-CO" dirty="0"/>
          </a:p>
          <a:p>
            <a:endParaRPr lang="es-CO" dirty="0"/>
          </a:p>
          <a:p>
            <a:endParaRPr lang="es-CO" dirty="0"/>
          </a:p>
          <a:p>
            <a:endParaRPr lang="es-CO" dirty="0"/>
          </a:p>
          <a:p>
            <a:endParaRPr lang="es-CO" dirty="0"/>
          </a:p>
          <a:p>
            <a:endParaRPr lang="es-CO" dirty="0"/>
          </a:p>
        </p:txBody>
      </p:sp>
      <p:pic>
        <p:nvPicPr>
          <p:cNvPr id="1026" name="Picture 2">
            <a:extLst>
              <a:ext uri="{FF2B5EF4-FFF2-40B4-BE49-F238E27FC236}">
                <a16:creationId xmlns:a16="http://schemas.microsoft.com/office/drawing/2014/main" id="{EA9AD86C-A06C-419F-8E7A-B02E8B902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2749152"/>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7457FA1-AC54-47BC-B050-390214947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927" y="2741800"/>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3A6B986-2E4C-46F9-B212-E30B2D1E2330}"/>
              </a:ext>
            </a:extLst>
          </p:cNvPr>
          <p:cNvPicPr>
            <a:picLocks noChangeAspect="1"/>
          </p:cNvPicPr>
          <p:nvPr/>
        </p:nvPicPr>
        <p:blipFill>
          <a:blip r:embed="rId4"/>
          <a:stretch>
            <a:fillRect/>
          </a:stretch>
        </p:blipFill>
        <p:spPr>
          <a:xfrm>
            <a:off x="2598372" y="2760231"/>
            <a:ext cx="5328804" cy="3448050"/>
          </a:xfrm>
          <a:prstGeom prst="rect">
            <a:avLst/>
          </a:prstGeom>
        </p:spPr>
      </p:pic>
      <p:pic>
        <p:nvPicPr>
          <p:cNvPr id="2050" name="Picture 2" descr="Servicio zonal L636 - H636 extiende su recorrido y cambia su nombre">
            <a:extLst>
              <a:ext uri="{FF2B5EF4-FFF2-40B4-BE49-F238E27FC236}">
                <a16:creationId xmlns:a16="http://schemas.microsoft.com/office/drawing/2014/main" id="{F1E727E3-C30D-4C15-850F-53DCC9953D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8617" b="9913"/>
          <a:stretch/>
        </p:blipFill>
        <p:spPr bwMode="auto">
          <a:xfrm>
            <a:off x="3572820" y="2800069"/>
            <a:ext cx="4383893" cy="34480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2D84DC34-3F56-4FCC-BEB0-E7B7FF687F92}"/>
              </a:ext>
            </a:extLst>
          </p:cNvPr>
          <p:cNvGraphicFramePr>
            <a:graphicFrameLocks noGrp="1"/>
          </p:cNvGraphicFramePr>
          <p:nvPr>
            <p:extLst>
              <p:ext uri="{D42A27DB-BD31-4B8C-83A1-F6EECF244321}">
                <p14:modId xmlns:p14="http://schemas.microsoft.com/office/powerpoint/2010/main" val="920738024"/>
              </p:ext>
            </p:extLst>
          </p:nvPr>
        </p:nvGraphicFramePr>
        <p:xfrm>
          <a:off x="9593628" y="2818000"/>
          <a:ext cx="2081306" cy="2265540"/>
        </p:xfrm>
        <a:graphic>
          <a:graphicData uri="http://schemas.openxmlformats.org/drawingml/2006/table">
            <a:tbl>
              <a:tblPr firstRow="1" bandRow="1">
                <a:tableStyleId>{5C22544A-7EE6-4342-B048-85BDC9FD1C3A}</a:tableStyleId>
              </a:tblPr>
              <a:tblGrid>
                <a:gridCol w="1040653">
                  <a:extLst>
                    <a:ext uri="{9D8B030D-6E8A-4147-A177-3AD203B41FA5}">
                      <a16:colId xmlns:a16="http://schemas.microsoft.com/office/drawing/2014/main" val="1573899599"/>
                    </a:ext>
                  </a:extLst>
                </a:gridCol>
                <a:gridCol w="1040653">
                  <a:extLst>
                    <a:ext uri="{9D8B030D-6E8A-4147-A177-3AD203B41FA5}">
                      <a16:colId xmlns:a16="http://schemas.microsoft.com/office/drawing/2014/main" val="1610114390"/>
                    </a:ext>
                  </a:extLst>
                </a:gridCol>
              </a:tblGrid>
              <a:tr h="377590">
                <a:tc>
                  <a:txBody>
                    <a:bodyPr/>
                    <a:lstStyle/>
                    <a:p>
                      <a:r>
                        <a:rPr lang="es-CO" sz="1400" dirty="0" err="1"/>
                        <a:t>Inbound</a:t>
                      </a:r>
                      <a:endParaRPr lang="es-CO" sz="1400" dirty="0"/>
                    </a:p>
                  </a:txBody>
                  <a:tcPr/>
                </a:tc>
                <a:tc>
                  <a:txBody>
                    <a:bodyPr/>
                    <a:lstStyle/>
                    <a:p>
                      <a:r>
                        <a:rPr lang="es-CO" sz="1400" dirty="0" err="1"/>
                        <a:t>Outbound</a:t>
                      </a:r>
                      <a:endParaRPr lang="es-CO" sz="1400" dirty="0"/>
                    </a:p>
                  </a:txBody>
                  <a:tcPr/>
                </a:tc>
                <a:extLst>
                  <a:ext uri="{0D108BD9-81ED-4DB2-BD59-A6C34878D82A}">
                    <a16:rowId xmlns:a16="http://schemas.microsoft.com/office/drawing/2014/main" val="2275794849"/>
                  </a:ext>
                </a:extLst>
              </a:tr>
              <a:tr h="377590">
                <a:tc>
                  <a:txBody>
                    <a:bodyPr/>
                    <a:lstStyle/>
                    <a:p>
                      <a:r>
                        <a:rPr lang="es-CO" sz="1400" dirty="0"/>
                        <a:t>A601 (18)</a:t>
                      </a:r>
                    </a:p>
                  </a:txBody>
                  <a:tcPr/>
                </a:tc>
                <a:tc>
                  <a:txBody>
                    <a:bodyPr/>
                    <a:lstStyle/>
                    <a:p>
                      <a:r>
                        <a:rPr lang="es-CO" sz="1400" dirty="0"/>
                        <a:t>H601 (18)</a:t>
                      </a:r>
                    </a:p>
                  </a:txBody>
                  <a:tcPr/>
                </a:tc>
                <a:extLst>
                  <a:ext uri="{0D108BD9-81ED-4DB2-BD59-A6C34878D82A}">
                    <a16:rowId xmlns:a16="http://schemas.microsoft.com/office/drawing/2014/main" val="4234220143"/>
                  </a:ext>
                </a:extLst>
              </a:tr>
              <a:tr h="377590">
                <a:tc>
                  <a:txBody>
                    <a:bodyPr/>
                    <a:lstStyle/>
                    <a:p>
                      <a:r>
                        <a:rPr lang="es-CO" sz="1400" dirty="0"/>
                        <a:t>A617 (71)</a:t>
                      </a:r>
                    </a:p>
                  </a:txBody>
                  <a:tcPr/>
                </a:tc>
                <a:tc>
                  <a:txBody>
                    <a:bodyPr/>
                    <a:lstStyle/>
                    <a:p>
                      <a:r>
                        <a:rPr lang="es-CO" sz="1400" dirty="0"/>
                        <a:t>H617 (66)</a:t>
                      </a:r>
                    </a:p>
                  </a:txBody>
                  <a:tcPr/>
                </a:tc>
                <a:extLst>
                  <a:ext uri="{0D108BD9-81ED-4DB2-BD59-A6C34878D82A}">
                    <a16:rowId xmlns:a16="http://schemas.microsoft.com/office/drawing/2014/main" val="3572836470"/>
                  </a:ext>
                </a:extLst>
              </a:tr>
              <a:tr h="377590">
                <a:tc>
                  <a:txBody>
                    <a:bodyPr/>
                    <a:lstStyle/>
                    <a:p>
                      <a:r>
                        <a:rPr lang="es-CO" sz="1400" dirty="0"/>
                        <a:t>L613 (45)</a:t>
                      </a:r>
                    </a:p>
                  </a:txBody>
                  <a:tcPr/>
                </a:tc>
                <a:tc>
                  <a:txBody>
                    <a:bodyPr/>
                    <a:lstStyle/>
                    <a:p>
                      <a:r>
                        <a:rPr lang="es-CO" sz="1400" dirty="0"/>
                        <a:t>H613 (41)</a:t>
                      </a:r>
                    </a:p>
                  </a:txBody>
                  <a:tcPr/>
                </a:tc>
                <a:extLst>
                  <a:ext uri="{0D108BD9-81ED-4DB2-BD59-A6C34878D82A}">
                    <a16:rowId xmlns:a16="http://schemas.microsoft.com/office/drawing/2014/main" val="3386781643"/>
                  </a:ext>
                </a:extLst>
              </a:tr>
              <a:tr h="377590">
                <a:tc>
                  <a:txBody>
                    <a:bodyPr/>
                    <a:lstStyle/>
                    <a:p>
                      <a:r>
                        <a:rPr lang="es-CO" sz="1400" dirty="0"/>
                        <a:t>L636 (23)</a:t>
                      </a:r>
                    </a:p>
                  </a:txBody>
                  <a:tcPr/>
                </a:tc>
                <a:tc>
                  <a:txBody>
                    <a:bodyPr/>
                    <a:lstStyle/>
                    <a:p>
                      <a:r>
                        <a:rPr lang="es-CO" sz="1400" dirty="0"/>
                        <a:t>H636 (21)</a:t>
                      </a:r>
                    </a:p>
                  </a:txBody>
                  <a:tcPr/>
                </a:tc>
                <a:extLst>
                  <a:ext uri="{0D108BD9-81ED-4DB2-BD59-A6C34878D82A}">
                    <a16:rowId xmlns:a16="http://schemas.microsoft.com/office/drawing/2014/main" val="294656666"/>
                  </a:ext>
                </a:extLst>
              </a:tr>
              <a:tr h="37759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400" dirty="0"/>
                        <a:t>K629 (10)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400" dirty="0"/>
                        <a:t>H629 (10)</a:t>
                      </a:r>
                    </a:p>
                  </a:txBody>
                  <a:tcPr/>
                </a:tc>
                <a:extLst>
                  <a:ext uri="{0D108BD9-81ED-4DB2-BD59-A6C34878D82A}">
                    <a16:rowId xmlns:a16="http://schemas.microsoft.com/office/drawing/2014/main" val="2487425312"/>
                  </a:ext>
                </a:extLst>
              </a:tr>
            </a:tbl>
          </a:graphicData>
        </a:graphic>
      </p:graphicFrame>
      <p:pic>
        <p:nvPicPr>
          <p:cNvPr id="5" name="Picture 4">
            <a:extLst>
              <a:ext uri="{FF2B5EF4-FFF2-40B4-BE49-F238E27FC236}">
                <a16:creationId xmlns:a16="http://schemas.microsoft.com/office/drawing/2014/main" id="{5C087763-FB24-45D9-ADD1-B5EDD4B994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5380" y="2838930"/>
            <a:ext cx="4451897" cy="28807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33E6C0A-12D6-4FF3-A096-8DFD2EDC2630}"/>
              </a:ext>
            </a:extLst>
          </p:cNvPr>
          <p:cNvSpPr txBox="1"/>
          <p:nvPr/>
        </p:nvSpPr>
        <p:spPr>
          <a:xfrm>
            <a:off x="9509515" y="2368071"/>
            <a:ext cx="2249532" cy="338554"/>
          </a:xfrm>
          <a:prstGeom prst="rect">
            <a:avLst/>
          </a:prstGeom>
          <a:noFill/>
        </p:spPr>
        <p:txBody>
          <a:bodyPr wrap="square" rtlCol="0">
            <a:spAutoFit/>
          </a:bodyPr>
          <a:lstStyle/>
          <a:p>
            <a:r>
              <a:rPr lang="es-CO" sz="1600" dirty="0"/>
              <a:t># Recorridos grabados</a:t>
            </a:r>
          </a:p>
        </p:txBody>
      </p:sp>
      <p:sp>
        <p:nvSpPr>
          <p:cNvPr id="8" name="Slide Number Placeholder 7">
            <a:extLst>
              <a:ext uri="{FF2B5EF4-FFF2-40B4-BE49-F238E27FC236}">
                <a16:creationId xmlns:a16="http://schemas.microsoft.com/office/drawing/2014/main" id="{CF2D5D30-6FA3-4C75-B56F-1FB795C63863}"/>
              </a:ext>
            </a:extLst>
          </p:cNvPr>
          <p:cNvSpPr>
            <a:spLocks noGrp="1"/>
          </p:cNvSpPr>
          <p:nvPr>
            <p:ph type="sldNum" sz="quarter" idx="12"/>
          </p:nvPr>
        </p:nvSpPr>
        <p:spPr/>
        <p:txBody>
          <a:bodyPr/>
          <a:lstStyle/>
          <a:p>
            <a:fld id="{00670DA0-C7A9-4FF5-B8FB-4DCD6DFD0B70}" type="slidenum">
              <a:rPr lang="es-CO" smtClean="0"/>
              <a:t>6</a:t>
            </a:fld>
            <a:endParaRPr lang="es-CO"/>
          </a:p>
        </p:txBody>
      </p:sp>
    </p:spTree>
    <p:extLst>
      <p:ext uri="{BB962C8B-B14F-4D97-AF65-F5344CB8AC3E}">
        <p14:creationId xmlns:p14="http://schemas.microsoft.com/office/powerpoint/2010/main" val="381386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3965574"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Preprocesamiento</a:t>
              </a:r>
            </a:p>
          </p:txBody>
        </p:sp>
      </p:grpSp>
      <p:sp>
        <p:nvSpPr>
          <p:cNvPr id="3" name="Slide Number Placeholder 2">
            <a:extLst>
              <a:ext uri="{FF2B5EF4-FFF2-40B4-BE49-F238E27FC236}">
                <a16:creationId xmlns:a16="http://schemas.microsoft.com/office/drawing/2014/main" id="{17DD6CBF-199C-44F9-B112-276454239464}"/>
              </a:ext>
            </a:extLst>
          </p:cNvPr>
          <p:cNvSpPr>
            <a:spLocks noGrp="1"/>
          </p:cNvSpPr>
          <p:nvPr>
            <p:ph type="sldNum" sz="quarter" idx="12"/>
          </p:nvPr>
        </p:nvSpPr>
        <p:spPr/>
        <p:txBody>
          <a:bodyPr/>
          <a:lstStyle/>
          <a:p>
            <a:fld id="{00670DA0-C7A9-4FF5-B8FB-4DCD6DFD0B70}" type="slidenum">
              <a:rPr lang="es-CO" smtClean="0"/>
              <a:t>7</a:t>
            </a:fld>
            <a:endParaRPr lang="es-CO"/>
          </a:p>
        </p:txBody>
      </p:sp>
    </p:spTree>
    <p:extLst>
      <p:ext uri="{BB962C8B-B14F-4D97-AF65-F5344CB8AC3E}">
        <p14:creationId xmlns:p14="http://schemas.microsoft.com/office/powerpoint/2010/main" val="179158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VELOCIDAD 			ACELERACIÓN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8</a:t>
            </a:fld>
            <a:endParaRPr lang="es-CO"/>
          </a:p>
        </p:txBody>
      </p:sp>
    </p:spTree>
    <p:extLst>
      <p:ext uri="{BB962C8B-B14F-4D97-AF65-F5344CB8AC3E}">
        <p14:creationId xmlns:p14="http://schemas.microsoft.com/office/powerpoint/2010/main" val="113952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3" y="2180496"/>
            <a:ext cx="5076658" cy="438879"/>
          </a:xfrm>
        </p:spPr>
        <p:txBody>
          <a:bodyPr/>
          <a:lstStyle/>
          <a:p>
            <a:r>
              <a:rPr lang="es-CO" dirty="0"/>
              <a:t>Recorte, identificación de rutas</a:t>
            </a:r>
          </a:p>
        </p:txBody>
      </p:sp>
      <p:pic>
        <p:nvPicPr>
          <p:cNvPr id="4" name="Picture 3" descr="A map with a route&#10;&#10;AI-generated content may be incorrect.">
            <a:extLst>
              <a:ext uri="{FF2B5EF4-FFF2-40B4-BE49-F238E27FC236}">
                <a16:creationId xmlns:a16="http://schemas.microsoft.com/office/drawing/2014/main" id="{3C1BC32F-D9E4-4C44-B2F5-28BDEB7AAE1F}"/>
              </a:ext>
            </a:extLst>
          </p:cNvPr>
          <p:cNvPicPr/>
          <p:nvPr/>
        </p:nvPicPr>
        <p:blipFill>
          <a:blip r:embed="rId2"/>
          <a:stretch>
            <a:fillRect/>
          </a:stretch>
        </p:blipFill>
        <p:spPr>
          <a:xfrm>
            <a:off x="1010920" y="2619375"/>
            <a:ext cx="4504055" cy="3402965"/>
          </a:xfrm>
          <a:prstGeom prst="rect">
            <a:avLst/>
          </a:prstGeom>
        </p:spPr>
      </p:pic>
      <p:pic>
        <p:nvPicPr>
          <p:cNvPr id="6" name="Picture 5">
            <a:extLst>
              <a:ext uri="{FF2B5EF4-FFF2-40B4-BE49-F238E27FC236}">
                <a16:creationId xmlns:a16="http://schemas.microsoft.com/office/drawing/2014/main" id="{CA1CFAE6-59C1-4288-9F69-305B0BB37F83}"/>
              </a:ext>
            </a:extLst>
          </p:cNvPr>
          <p:cNvPicPr>
            <a:picLocks noChangeAspect="1"/>
          </p:cNvPicPr>
          <p:nvPr/>
        </p:nvPicPr>
        <p:blipFill>
          <a:blip r:embed="rId3"/>
          <a:stretch>
            <a:fillRect/>
          </a:stretch>
        </p:blipFill>
        <p:spPr>
          <a:xfrm>
            <a:off x="5944703" y="2619375"/>
            <a:ext cx="5755926" cy="3402965"/>
          </a:xfrm>
          <a:prstGeom prst="rect">
            <a:avLst/>
          </a:prstGeom>
        </p:spPr>
      </p:pic>
      <p:sp>
        <p:nvSpPr>
          <p:cNvPr id="7" name="Content Placeholder 2">
            <a:extLst>
              <a:ext uri="{FF2B5EF4-FFF2-40B4-BE49-F238E27FC236}">
                <a16:creationId xmlns:a16="http://schemas.microsoft.com/office/drawing/2014/main" id="{EBA5CD3D-7193-4F70-B77B-DA742E210D64}"/>
              </a:ext>
            </a:extLst>
          </p:cNvPr>
          <p:cNvSpPr txBox="1">
            <a:spLocks/>
          </p:cNvSpPr>
          <p:nvPr/>
        </p:nvSpPr>
        <p:spPr>
          <a:xfrm>
            <a:off x="6534151" y="2180496"/>
            <a:ext cx="5076658" cy="43887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CO" dirty="0"/>
              <a:t>Suavizado de curvas</a:t>
            </a:r>
          </a:p>
        </p:txBody>
      </p:sp>
      <p:sp>
        <p:nvSpPr>
          <p:cNvPr id="8" name="Slide Number Placeholder 7">
            <a:extLst>
              <a:ext uri="{FF2B5EF4-FFF2-40B4-BE49-F238E27FC236}">
                <a16:creationId xmlns:a16="http://schemas.microsoft.com/office/drawing/2014/main" id="{72022467-99D9-4FC6-9F26-62E0E5E6B2F1}"/>
              </a:ext>
            </a:extLst>
          </p:cNvPr>
          <p:cNvSpPr>
            <a:spLocks noGrp="1"/>
          </p:cNvSpPr>
          <p:nvPr>
            <p:ph type="sldNum" sz="quarter" idx="12"/>
          </p:nvPr>
        </p:nvSpPr>
        <p:spPr/>
        <p:txBody>
          <a:bodyPr/>
          <a:lstStyle/>
          <a:p>
            <a:fld id="{00670DA0-C7A9-4FF5-B8FB-4DCD6DFD0B70}" type="slidenum">
              <a:rPr lang="es-CO" smtClean="0"/>
              <a:t>9</a:t>
            </a:fld>
            <a:endParaRPr lang="es-CO"/>
          </a:p>
        </p:txBody>
      </p:sp>
    </p:spTree>
    <p:extLst>
      <p:ext uri="{BB962C8B-B14F-4D97-AF65-F5344CB8AC3E}">
        <p14:creationId xmlns:p14="http://schemas.microsoft.com/office/powerpoint/2010/main" val="157407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100"/>
                                        <p:tgtEl>
                                          <p:spTgt spid="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6"/>
            <a:ext cx="11029615" cy="534129"/>
          </a:xfrm>
        </p:spPr>
        <p:txBody>
          <a:bodyPr/>
          <a:lstStyle/>
          <a:p>
            <a:r>
              <a:rPr lang="es-CO" dirty="0"/>
              <a:t>Filtros de velocidad y aceleración</a:t>
            </a:r>
          </a:p>
        </p:txBody>
      </p:sp>
      <p:pic>
        <p:nvPicPr>
          <p:cNvPr id="5" name="Picture 4">
            <a:extLst>
              <a:ext uri="{FF2B5EF4-FFF2-40B4-BE49-F238E27FC236}">
                <a16:creationId xmlns:a16="http://schemas.microsoft.com/office/drawing/2014/main" id="{02C8BE08-49EC-4DD9-ACA1-13D169B59751}"/>
              </a:ext>
            </a:extLst>
          </p:cNvPr>
          <p:cNvPicPr>
            <a:picLocks noChangeAspect="1"/>
          </p:cNvPicPr>
          <p:nvPr/>
        </p:nvPicPr>
        <p:blipFill>
          <a:blip r:embed="rId2"/>
          <a:stretch>
            <a:fillRect/>
          </a:stretch>
        </p:blipFill>
        <p:spPr>
          <a:xfrm>
            <a:off x="0" y="2714625"/>
            <a:ext cx="7648575" cy="1769738"/>
          </a:xfrm>
          <a:prstGeom prst="rect">
            <a:avLst/>
          </a:prstGeom>
        </p:spPr>
      </p:pic>
      <p:pic>
        <p:nvPicPr>
          <p:cNvPr id="7" name="Picture 6">
            <a:extLst>
              <a:ext uri="{FF2B5EF4-FFF2-40B4-BE49-F238E27FC236}">
                <a16:creationId xmlns:a16="http://schemas.microsoft.com/office/drawing/2014/main" id="{A508243C-AAAA-48B5-993B-22E2802FFCAA}"/>
              </a:ext>
            </a:extLst>
          </p:cNvPr>
          <p:cNvPicPr>
            <a:picLocks noChangeAspect="1"/>
          </p:cNvPicPr>
          <p:nvPr/>
        </p:nvPicPr>
        <p:blipFill rotWithShape="1">
          <a:blip r:embed="rId3"/>
          <a:srcRect l="7597"/>
          <a:stretch/>
        </p:blipFill>
        <p:spPr>
          <a:xfrm>
            <a:off x="4705350" y="3801673"/>
            <a:ext cx="7067549" cy="2433638"/>
          </a:xfrm>
          <a:prstGeom prst="rect">
            <a:avLst/>
          </a:prstGeom>
        </p:spPr>
      </p:pic>
      <p:sp>
        <p:nvSpPr>
          <p:cNvPr id="8" name="Slide Number Placeholder 7">
            <a:extLst>
              <a:ext uri="{FF2B5EF4-FFF2-40B4-BE49-F238E27FC236}">
                <a16:creationId xmlns:a16="http://schemas.microsoft.com/office/drawing/2014/main" id="{19AF5EF8-86BC-43CB-8C3C-A9AADDA0D34D}"/>
              </a:ext>
            </a:extLst>
          </p:cNvPr>
          <p:cNvSpPr>
            <a:spLocks noGrp="1"/>
          </p:cNvSpPr>
          <p:nvPr>
            <p:ph type="sldNum" sz="quarter" idx="12"/>
          </p:nvPr>
        </p:nvSpPr>
        <p:spPr/>
        <p:txBody>
          <a:bodyPr/>
          <a:lstStyle/>
          <a:p>
            <a:fld id="{00670DA0-C7A9-4FF5-B8FB-4DCD6DFD0B70}" type="slidenum">
              <a:rPr lang="es-CO" smtClean="0"/>
              <a:t>10</a:t>
            </a:fld>
            <a:endParaRPr lang="es-CO"/>
          </a:p>
        </p:txBody>
      </p:sp>
    </p:spTree>
    <p:extLst>
      <p:ext uri="{BB962C8B-B14F-4D97-AF65-F5344CB8AC3E}">
        <p14:creationId xmlns:p14="http://schemas.microsoft.com/office/powerpoint/2010/main" val="86216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7"/>
            <a:ext cx="4186017" cy="2961548"/>
          </a:xfrm>
        </p:spPr>
        <p:txBody>
          <a:bodyPr>
            <a:normAutofit/>
          </a:bodyPr>
          <a:lstStyle/>
          <a:p>
            <a:pPr marL="0" indent="0">
              <a:buNone/>
            </a:pPr>
            <a:r>
              <a:rPr lang="es-CO" dirty="0"/>
              <a:t>Consumo energético</a:t>
            </a:r>
          </a:p>
          <a:p>
            <a:r>
              <a:rPr lang="es-CO" dirty="0"/>
              <a:t>A una muestra por minuto, la resolución temporal es muy mala.</a:t>
            </a:r>
          </a:p>
          <a:p>
            <a:r>
              <a:rPr lang="es-CO" dirty="0"/>
              <a:t>El dato llega en % sin decimales, la precisión es muy mala: 1% de carga alcanza unos 3,1 km.</a:t>
            </a:r>
          </a:p>
          <a:p>
            <a:pPr marL="0" indent="0">
              <a:buNone/>
            </a:pPr>
            <a:endParaRPr lang="es-CO" dirty="0"/>
          </a:p>
        </p:txBody>
      </p:sp>
      <p:sp>
        <p:nvSpPr>
          <p:cNvPr id="4" name="Slide Number Placeholder 3">
            <a:extLst>
              <a:ext uri="{FF2B5EF4-FFF2-40B4-BE49-F238E27FC236}">
                <a16:creationId xmlns:a16="http://schemas.microsoft.com/office/drawing/2014/main" id="{0D51B940-9A3C-4F4F-A5BC-DA1CE8F9B5F0}"/>
              </a:ext>
            </a:extLst>
          </p:cNvPr>
          <p:cNvSpPr>
            <a:spLocks noGrp="1"/>
          </p:cNvSpPr>
          <p:nvPr>
            <p:ph type="sldNum" sz="quarter" idx="12"/>
          </p:nvPr>
        </p:nvSpPr>
        <p:spPr/>
        <p:txBody>
          <a:bodyPr/>
          <a:lstStyle/>
          <a:p>
            <a:fld id="{00670DA0-C7A9-4FF5-B8FB-4DCD6DFD0B70}" type="slidenum">
              <a:rPr lang="es-CO" smtClean="0"/>
              <a:t>11</a:t>
            </a:fld>
            <a:endParaRPr lang="es-CO"/>
          </a:p>
        </p:txBody>
      </p:sp>
      <p:pic>
        <p:nvPicPr>
          <p:cNvPr id="10" name="Picture 9">
            <a:extLst>
              <a:ext uri="{FF2B5EF4-FFF2-40B4-BE49-F238E27FC236}">
                <a16:creationId xmlns:a16="http://schemas.microsoft.com/office/drawing/2014/main" id="{4DB27C90-1B0C-4CA1-B460-B7D928FA1CD2}"/>
              </a:ext>
            </a:extLst>
          </p:cNvPr>
          <p:cNvPicPr>
            <a:picLocks noChangeAspect="1"/>
          </p:cNvPicPr>
          <p:nvPr/>
        </p:nvPicPr>
        <p:blipFill>
          <a:blip r:embed="rId2"/>
          <a:stretch>
            <a:fillRect/>
          </a:stretch>
        </p:blipFill>
        <p:spPr>
          <a:xfrm>
            <a:off x="4514961" y="2180497"/>
            <a:ext cx="6710056" cy="4286784"/>
          </a:xfrm>
          <a:prstGeom prst="rect">
            <a:avLst/>
          </a:prstGeom>
        </p:spPr>
      </p:pic>
    </p:spTree>
    <p:extLst>
      <p:ext uri="{BB962C8B-B14F-4D97-AF65-F5344CB8AC3E}">
        <p14:creationId xmlns:p14="http://schemas.microsoft.com/office/powerpoint/2010/main" val="1712230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6096000"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Procesamiento</a:t>
              </a:r>
            </a:p>
          </p:txBody>
        </p:sp>
      </p:grpSp>
      <p:sp>
        <p:nvSpPr>
          <p:cNvPr id="3" name="Slide Number Placeholder 2">
            <a:extLst>
              <a:ext uri="{FF2B5EF4-FFF2-40B4-BE49-F238E27FC236}">
                <a16:creationId xmlns:a16="http://schemas.microsoft.com/office/drawing/2014/main" id="{17DD6CBF-199C-44F9-B112-276454239464}"/>
              </a:ext>
            </a:extLst>
          </p:cNvPr>
          <p:cNvSpPr>
            <a:spLocks noGrp="1"/>
          </p:cNvSpPr>
          <p:nvPr>
            <p:ph type="sldNum" sz="quarter" idx="12"/>
          </p:nvPr>
        </p:nvSpPr>
        <p:spPr/>
        <p:txBody>
          <a:bodyPr/>
          <a:lstStyle/>
          <a:p>
            <a:fld id="{00670DA0-C7A9-4FF5-B8FB-4DCD6DFD0B70}" type="slidenum">
              <a:rPr lang="es-CO" smtClean="0"/>
              <a:t>12</a:t>
            </a:fld>
            <a:endParaRPr lang="es-CO"/>
          </a:p>
        </p:txBody>
      </p:sp>
      <p:grpSp>
        <p:nvGrpSpPr>
          <p:cNvPr id="10" name="Group 9">
            <a:extLst>
              <a:ext uri="{FF2B5EF4-FFF2-40B4-BE49-F238E27FC236}">
                <a16:creationId xmlns:a16="http://schemas.microsoft.com/office/drawing/2014/main" id="{3567B9E9-688A-4160-B102-EA2281A75C43}"/>
              </a:ext>
            </a:extLst>
          </p:cNvPr>
          <p:cNvGrpSpPr/>
          <p:nvPr/>
        </p:nvGrpSpPr>
        <p:grpSpPr>
          <a:xfrm>
            <a:off x="8352697" y="2934083"/>
            <a:ext cx="2450769" cy="980307"/>
            <a:chOff x="4210" y="1601113"/>
            <a:chExt cx="2450769" cy="980307"/>
          </a:xfrm>
          <a:solidFill>
            <a:schemeClr val="bg2"/>
          </a:solidFill>
        </p:grpSpPr>
        <p:sp>
          <p:nvSpPr>
            <p:cNvPr id="11" name="Arrow: Chevron 10">
              <a:extLst>
                <a:ext uri="{FF2B5EF4-FFF2-40B4-BE49-F238E27FC236}">
                  <a16:creationId xmlns:a16="http://schemas.microsoft.com/office/drawing/2014/main" id="{D47E55E6-4F0A-4C5F-A45B-895F7194E42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Arrow: Chevron 4">
              <a:extLst>
                <a:ext uri="{FF2B5EF4-FFF2-40B4-BE49-F238E27FC236}">
                  <a16:creationId xmlns:a16="http://schemas.microsoft.com/office/drawing/2014/main" id="{5105C5D5-871E-4A80-ACAE-171A8E205538}"/>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Análisis</a:t>
              </a:r>
            </a:p>
          </p:txBody>
        </p:sp>
      </p:grpSp>
    </p:spTree>
    <p:extLst>
      <p:ext uri="{BB962C8B-B14F-4D97-AF65-F5344CB8AC3E}">
        <p14:creationId xmlns:p14="http://schemas.microsoft.com/office/powerpoint/2010/main" val="216606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9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9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VELOCIDAD 			</a:t>
            </a:r>
            <a:r>
              <a:rPr lang="es-CO" dirty="0">
                <a:solidFill>
                  <a:schemeClr val="accent1"/>
                </a:solidFill>
              </a:rPr>
              <a:t>ACELERACIÓN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13</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19150" y="4352925"/>
            <a:ext cx="2838450" cy="1754326"/>
          </a:xfrm>
          <a:prstGeom prst="rect">
            <a:avLst/>
          </a:prstGeom>
          <a:noFill/>
        </p:spPr>
        <p:txBody>
          <a:bodyPr wrap="square" rtlCol="0">
            <a:spAutoFit/>
          </a:bodyPr>
          <a:lstStyle/>
          <a:p>
            <a:pPr marL="285750" indent="-285750">
              <a:buFontTx/>
              <a:buChar char="-"/>
            </a:pPr>
            <a:r>
              <a:rPr lang="es-CO" dirty="0"/>
              <a:t>Velocidad en movimiento</a:t>
            </a:r>
          </a:p>
          <a:p>
            <a:pPr marL="285750" indent="-285750">
              <a:buFontTx/>
              <a:buChar char="-"/>
            </a:pPr>
            <a:r>
              <a:rPr lang="es-CO" dirty="0"/>
              <a:t>Velocidad normalizada</a:t>
            </a:r>
          </a:p>
          <a:p>
            <a:pPr marL="285750" indent="-285750">
              <a:buFontTx/>
              <a:buChar char="-"/>
            </a:pPr>
            <a:r>
              <a:rPr lang="es-CO" dirty="0"/>
              <a:t>Desviación de la media por sector</a:t>
            </a:r>
          </a:p>
          <a:p>
            <a:pPr marL="285750" indent="-285750">
              <a:buFontTx/>
              <a:buChar char="-"/>
            </a:pPr>
            <a:endParaRPr lang="es-CO" dirty="0"/>
          </a:p>
          <a:p>
            <a:pPr marL="285750" indent="-285750">
              <a:buFontTx/>
              <a:buChar char="-"/>
            </a:pPr>
            <a:r>
              <a:rPr lang="es-CO" dirty="0"/>
              <a:t>Velocidad comercial</a:t>
            </a:r>
          </a:p>
        </p:txBody>
      </p:sp>
    </p:spTree>
    <p:extLst>
      <p:ext uri="{BB962C8B-B14F-4D97-AF65-F5344CB8AC3E}">
        <p14:creationId xmlns:p14="http://schemas.microsoft.com/office/powerpoint/2010/main" val="869794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en movimiento</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1334105" y="4800600"/>
            <a:ext cx="5285770" cy="1243012"/>
          </a:xfrm>
        </p:spPr>
        <p:txBody>
          <a:bodyPr>
            <a:noAutofit/>
          </a:bodyPr>
          <a:lstStyle/>
          <a:p>
            <a:r>
              <a:rPr lang="es-CO" sz="1100" dirty="0"/>
              <a:t>La velocidad está fuertemente limitada por la congestión de la ciudad.</a:t>
            </a:r>
          </a:p>
          <a:p>
            <a:r>
              <a:rPr lang="es-CO" sz="1100" dirty="0"/>
              <a:t>Horario: para el </a:t>
            </a:r>
            <a:r>
              <a:rPr lang="es-CO" sz="1100" b="1" dirty="0"/>
              <a:t>Zonal</a:t>
            </a:r>
            <a:r>
              <a:rPr lang="es-CO" sz="1100" dirty="0"/>
              <a:t>, casi todo el día es hora pico.</a:t>
            </a:r>
          </a:p>
          <a:p>
            <a:r>
              <a:rPr lang="es-CO" sz="1100" dirty="0"/>
              <a:t>Por ruta: ligeras diferencias, especialmente </a:t>
            </a:r>
            <a:r>
              <a:rPr lang="es-CO" sz="1100" dirty="0" err="1"/>
              <a:t>inbound</a:t>
            </a:r>
            <a:r>
              <a:rPr lang="es-CO" sz="1100" dirty="0"/>
              <a:t>/</a:t>
            </a:r>
            <a:r>
              <a:rPr lang="es-CO" sz="1100" dirty="0" err="1"/>
              <a:t>outbound</a:t>
            </a:r>
            <a:r>
              <a:rPr lang="es-CO" sz="1100" dirty="0"/>
              <a:t>.</a:t>
            </a:r>
          </a:p>
        </p:txBody>
      </p:sp>
      <p:pic>
        <p:nvPicPr>
          <p:cNvPr id="15" name="Picture 14">
            <a:extLst>
              <a:ext uri="{FF2B5EF4-FFF2-40B4-BE49-F238E27FC236}">
                <a16:creationId xmlns:a16="http://schemas.microsoft.com/office/drawing/2014/main" id="{A06CFCF9-24CE-4588-907B-4378F2A95886}"/>
              </a:ext>
            </a:extLst>
          </p:cNvPr>
          <p:cNvPicPr>
            <a:picLocks noChangeAspect="1"/>
          </p:cNvPicPr>
          <p:nvPr/>
        </p:nvPicPr>
        <p:blipFill>
          <a:blip r:embed="rId2"/>
          <a:stretch>
            <a:fillRect/>
          </a:stretch>
        </p:blipFill>
        <p:spPr>
          <a:xfrm>
            <a:off x="491048" y="1983139"/>
            <a:ext cx="6128827" cy="2534034"/>
          </a:xfrm>
          <a:prstGeom prst="rect">
            <a:avLst/>
          </a:prstGeom>
        </p:spPr>
      </p:pic>
      <p:pic>
        <p:nvPicPr>
          <p:cNvPr id="21" name="Picture 20">
            <a:extLst>
              <a:ext uri="{FF2B5EF4-FFF2-40B4-BE49-F238E27FC236}">
                <a16:creationId xmlns:a16="http://schemas.microsoft.com/office/drawing/2014/main" id="{7E60C4BE-DFA1-4B8C-A985-349ED1B6ECD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940798" y="4122608"/>
            <a:ext cx="3793877" cy="2416177"/>
          </a:xfrm>
          <a:prstGeom prst="rect">
            <a:avLst/>
          </a:prstGeom>
        </p:spPr>
      </p:pic>
      <p:pic>
        <p:nvPicPr>
          <p:cNvPr id="23" name="Picture 22">
            <a:extLst>
              <a:ext uri="{FF2B5EF4-FFF2-40B4-BE49-F238E27FC236}">
                <a16:creationId xmlns:a16="http://schemas.microsoft.com/office/drawing/2014/main" id="{7699D1EA-E0D7-47E4-81E0-D6A994EFDE3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845548" y="1782631"/>
            <a:ext cx="4651127" cy="2416177"/>
          </a:xfrm>
          <a:prstGeom prst="rect">
            <a:avLst/>
          </a:prstGeom>
        </p:spPr>
      </p:pic>
      <p:sp>
        <p:nvSpPr>
          <p:cNvPr id="4" name="Slide Number Placeholder 3">
            <a:extLst>
              <a:ext uri="{FF2B5EF4-FFF2-40B4-BE49-F238E27FC236}">
                <a16:creationId xmlns:a16="http://schemas.microsoft.com/office/drawing/2014/main" id="{A8A0414F-B6C7-4819-B20D-A2C9729DCBE9}"/>
              </a:ext>
            </a:extLst>
          </p:cNvPr>
          <p:cNvSpPr>
            <a:spLocks noGrp="1"/>
          </p:cNvSpPr>
          <p:nvPr>
            <p:ph type="sldNum" sz="quarter" idx="12"/>
          </p:nvPr>
        </p:nvSpPr>
        <p:spPr/>
        <p:txBody>
          <a:bodyPr/>
          <a:lstStyle/>
          <a:p>
            <a:fld id="{00670DA0-C7A9-4FF5-B8FB-4DCD6DFD0B70}" type="slidenum">
              <a:rPr lang="es-CO" smtClean="0"/>
              <a:t>14</a:t>
            </a:fld>
            <a:endParaRPr lang="es-CO"/>
          </a:p>
        </p:txBody>
      </p:sp>
    </p:spTree>
    <p:extLst>
      <p:ext uri="{BB962C8B-B14F-4D97-AF65-F5344CB8AC3E}">
        <p14:creationId xmlns:p14="http://schemas.microsoft.com/office/powerpoint/2010/main" val="263493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en movimiento</a:t>
            </a:r>
          </a:p>
        </p:txBody>
      </p:sp>
      <p:sp>
        <p:nvSpPr>
          <p:cNvPr id="4" name="Slide Number Placeholder 3">
            <a:extLst>
              <a:ext uri="{FF2B5EF4-FFF2-40B4-BE49-F238E27FC236}">
                <a16:creationId xmlns:a16="http://schemas.microsoft.com/office/drawing/2014/main" id="{A8A0414F-B6C7-4819-B20D-A2C9729DCBE9}"/>
              </a:ext>
            </a:extLst>
          </p:cNvPr>
          <p:cNvSpPr>
            <a:spLocks noGrp="1"/>
          </p:cNvSpPr>
          <p:nvPr>
            <p:ph type="sldNum" sz="quarter" idx="12"/>
          </p:nvPr>
        </p:nvSpPr>
        <p:spPr/>
        <p:txBody>
          <a:bodyPr/>
          <a:lstStyle/>
          <a:p>
            <a:fld id="{00670DA0-C7A9-4FF5-B8FB-4DCD6DFD0B70}" type="slidenum">
              <a:rPr lang="es-CO" smtClean="0"/>
              <a:t>15</a:t>
            </a:fld>
            <a:endParaRPr lang="es-CO"/>
          </a:p>
        </p:txBody>
      </p:sp>
      <p:pic>
        <p:nvPicPr>
          <p:cNvPr id="10" name="Picture 9">
            <a:extLst>
              <a:ext uri="{FF2B5EF4-FFF2-40B4-BE49-F238E27FC236}">
                <a16:creationId xmlns:a16="http://schemas.microsoft.com/office/drawing/2014/main" id="{FF1CFE9F-E7E7-4B55-8BD6-809344713DE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72386" y="2651606"/>
            <a:ext cx="11378816" cy="3771368"/>
          </a:xfrm>
          <a:prstGeom prst="rect">
            <a:avLst/>
          </a:prstGeom>
        </p:spPr>
      </p:pic>
      <p:sp>
        <p:nvSpPr>
          <p:cNvPr id="11" name="TextBox 10">
            <a:extLst>
              <a:ext uri="{FF2B5EF4-FFF2-40B4-BE49-F238E27FC236}">
                <a16:creationId xmlns:a16="http://schemas.microsoft.com/office/drawing/2014/main" id="{16D19232-9B03-4689-BE60-B081ACD453AE}"/>
              </a:ext>
            </a:extLst>
          </p:cNvPr>
          <p:cNvSpPr txBox="1"/>
          <p:nvPr/>
        </p:nvSpPr>
        <p:spPr>
          <a:xfrm>
            <a:off x="2429486" y="2282274"/>
            <a:ext cx="7264617" cy="369332"/>
          </a:xfrm>
          <a:prstGeom prst="rect">
            <a:avLst/>
          </a:prstGeom>
          <a:noFill/>
        </p:spPr>
        <p:txBody>
          <a:bodyPr wrap="none" rtlCol="0">
            <a:spAutoFit/>
          </a:bodyPr>
          <a:lstStyle/>
          <a:p>
            <a:r>
              <a:rPr lang="es-CO" dirty="0"/>
              <a:t>En la velocidad en movimiento no se ve ninguna diferencia clara entre sexos</a:t>
            </a:r>
          </a:p>
        </p:txBody>
      </p:sp>
    </p:spTree>
    <p:extLst>
      <p:ext uri="{BB962C8B-B14F-4D97-AF65-F5344CB8AC3E}">
        <p14:creationId xmlns:p14="http://schemas.microsoft.com/office/powerpoint/2010/main" val="120075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normalizada y desviación</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838200" y="1825624"/>
            <a:ext cx="3336758" cy="4351338"/>
          </a:xfrm>
        </p:spPr>
        <p:txBody>
          <a:bodyPr>
            <a:normAutofit/>
          </a:bodyPr>
          <a:lstStyle/>
          <a:p>
            <a:r>
              <a:rPr lang="es-CO" sz="1300" dirty="0"/>
              <a:t>Cada ruta se divide en 9 segmentos (misma longitud, casi 2 km cada uno). </a:t>
            </a:r>
          </a:p>
          <a:p>
            <a:r>
              <a:rPr lang="es-CO" sz="1300" dirty="0"/>
              <a:t>En cada segmento se hace normalización de rango min = 0, </a:t>
            </a:r>
            <a:r>
              <a:rPr lang="es-CO" sz="1300" dirty="0" err="1"/>
              <a:t>max</a:t>
            </a:r>
            <a:r>
              <a:rPr lang="es-CO" sz="1300" dirty="0"/>
              <a:t> = 1.</a:t>
            </a:r>
          </a:p>
          <a:p>
            <a:endParaRPr lang="es-CO" sz="1300" dirty="0"/>
          </a:p>
          <a:p>
            <a:r>
              <a:rPr lang="es-CO" sz="1300" dirty="0"/>
              <a:t>Se promedia la </a:t>
            </a:r>
            <a:r>
              <a:rPr lang="es-CO" sz="1300" b="1" dirty="0" err="1">
                <a:solidFill>
                  <a:srgbClr val="666633"/>
                </a:solidFill>
              </a:rPr>
              <a:t>vel</a:t>
            </a:r>
            <a:r>
              <a:rPr lang="es-CO" sz="1300" b="1" dirty="0">
                <a:solidFill>
                  <a:srgbClr val="666633"/>
                </a:solidFill>
              </a:rPr>
              <a:t> normalizada [0, 1] </a:t>
            </a:r>
            <a:r>
              <a:rPr lang="es-CO" sz="1300" dirty="0"/>
              <a:t>en todos los segmentos.</a:t>
            </a:r>
          </a:p>
          <a:p>
            <a:r>
              <a:rPr lang="es-CO" sz="1300" dirty="0"/>
              <a:t>La </a:t>
            </a:r>
            <a:r>
              <a:rPr lang="es-CO" sz="1300" b="1" dirty="0" err="1">
                <a:solidFill>
                  <a:srgbClr val="666633"/>
                </a:solidFill>
              </a:rPr>
              <a:t>vel</a:t>
            </a:r>
            <a:r>
              <a:rPr lang="es-CO" sz="1300" b="1" dirty="0">
                <a:solidFill>
                  <a:srgbClr val="666633"/>
                </a:solidFill>
              </a:rPr>
              <a:t> normalizada </a:t>
            </a:r>
            <a:r>
              <a:rPr lang="es-CO" sz="1300" dirty="0"/>
              <a:t>permite comparar entre rutas y entre horarios.</a:t>
            </a:r>
          </a:p>
          <a:p>
            <a:endParaRPr lang="es-CO" sz="1300" dirty="0"/>
          </a:p>
          <a:p>
            <a:r>
              <a:rPr lang="es-CO" sz="1300" dirty="0"/>
              <a:t>Luego calculamos la </a:t>
            </a:r>
            <a:r>
              <a:rPr lang="es-CO" sz="1300" b="1" dirty="0">
                <a:solidFill>
                  <a:srgbClr val="666633"/>
                </a:solidFill>
              </a:rPr>
              <a:t>desviación</a:t>
            </a:r>
            <a:r>
              <a:rPr lang="es-CO" sz="1300" dirty="0"/>
              <a:t> de cada recorrido vs la media cada hora de inicio.</a:t>
            </a:r>
          </a:p>
        </p:txBody>
      </p:sp>
      <p:pic>
        <p:nvPicPr>
          <p:cNvPr id="9" name="Picture 8">
            <a:extLst>
              <a:ext uri="{FF2B5EF4-FFF2-40B4-BE49-F238E27FC236}">
                <a16:creationId xmlns:a16="http://schemas.microsoft.com/office/drawing/2014/main" id="{2965EAA7-64E2-47E7-9CBB-1641729FA9A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555331" y="2060486"/>
            <a:ext cx="9083842" cy="3334977"/>
          </a:xfrm>
          <a:prstGeom prst="rect">
            <a:avLst/>
          </a:prstGeom>
        </p:spPr>
      </p:pic>
      <p:sp>
        <p:nvSpPr>
          <p:cNvPr id="13" name="TextBox 12">
            <a:extLst>
              <a:ext uri="{FF2B5EF4-FFF2-40B4-BE49-F238E27FC236}">
                <a16:creationId xmlns:a16="http://schemas.microsoft.com/office/drawing/2014/main" id="{5558117F-46C6-4CA4-AC28-E6EFAFF55E1F}"/>
              </a:ext>
            </a:extLst>
          </p:cNvPr>
          <p:cNvSpPr txBox="1"/>
          <p:nvPr/>
        </p:nvSpPr>
        <p:spPr>
          <a:xfrm>
            <a:off x="4367086" y="5444967"/>
            <a:ext cx="7460332" cy="461665"/>
          </a:xfrm>
          <a:prstGeom prst="rect">
            <a:avLst/>
          </a:prstGeom>
          <a:noFill/>
        </p:spPr>
        <p:txBody>
          <a:bodyPr wrap="square" rtlCol="0">
            <a:spAutoFit/>
          </a:bodyPr>
          <a:lstStyle/>
          <a:p>
            <a:pPr marL="285750" indent="-285750">
              <a:buFont typeface="Wingdings" panose="05000000000000000000" pitchFamily="2" charset="2"/>
              <a:buChar char="§"/>
            </a:pPr>
            <a:r>
              <a:rPr lang="es-CO" sz="1200" dirty="0"/>
              <a:t>A pesar de la congestión y los promedios, </a:t>
            </a:r>
            <a:r>
              <a:rPr lang="es-CO" sz="1200" b="1" dirty="0">
                <a:solidFill>
                  <a:srgbClr val="666633"/>
                </a:solidFill>
              </a:rPr>
              <a:t>la desviación es ligeramente mayor en hombres en cada ruta</a:t>
            </a:r>
            <a:r>
              <a:rPr lang="es-CO" sz="1200" dirty="0"/>
              <a:t>. </a:t>
            </a:r>
          </a:p>
          <a:p>
            <a:pPr marL="285750" indent="-285750">
              <a:buFont typeface="Wingdings" panose="05000000000000000000" pitchFamily="2" charset="2"/>
              <a:buChar char="§"/>
            </a:pPr>
            <a:r>
              <a:rPr lang="es-CO" sz="1200" dirty="0"/>
              <a:t>En promedio entre las 5 rutas, de la diferencia de las medias, equivale a 0,41 km/h.</a:t>
            </a:r>
          </a:p>
        </p:txBody>
      </p:sp>
      <p:sp>
        <p:nvSpPr>
          <p:cNvPr id="4" name="Slide Number Placeholder 3">
            <a:extLst>
              <a:ext uri="{FF2B5EF4-FFF2-40B4-BE49-F238E27FC236}">
                <a16:creationId xmlns:a16="http://schemas.microsoft.com/office/drawing/2014/main" id="{7098D2EC-CEA6-4F10-9643-E6452B4DAB76}"/>
              </a:ext>
            </a:extLst>
          </p:cNvPr>
          <p:cNvSpPr>
            <a:spLocks noGrp="1"/>
          </p:cNvSpPr>
          <p:nvPr>
            <p:ph type="sldNum" sz="quarter" idx="12"/>
          </p:nvPr>
        </p:nvSpPr>
        <p:spPr/>
        <p:txBody>
          <a:bodyPr/>
          <a:lstStyle/>
          <a:p>
            <a:fld id="{00670DA0-C7A9-4FF5-B8FB-4DCD6DFD0B70}" type="slidenum">
              <a:rPr lang="es-CO" smtClean="0"/>
              <a:t>16</a:t>
            </a:fld>
            <a:endParaRPr lang="es-CO"/>
          </a:p>
        </p:txBody>
      </p:sp>
    </p:spTree>
    <p:extLst>
      <p:ext uri="{BB962C8B-B14F-4D97-AF65-F5344CB8AC3E}">
        <p14:creationId xmlns:p14="http://schemas.microsoft.com/office/powerpoint/2010/main" val="1045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tx1"/>
                </a:solidFill>
              </a:rPr>
              <a:t>ACELERACIÓN</a:t>
            </a:r>
            <a:r>
              <a:rPr lang="es-CO" dirty="0">
                <a:solidFill>
                  <a:schemeClr val="accent1"/>
                </a:solidFill>
              </a:rPr>
              <a:t>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17</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3086100" y="4420568"/>
            <a:ext cx="2838450" cy="923330"/>
          </a:xfrm>
          <a:prstGeom prst="rect">
            <a:avLst/>
          </a:prstGeom>
          <a:noFill/>
        </p:spPr>
        <p:txBody>
          <a:bodyPr wrap="square" rtlCol="0">
            <a:spAutoFit/>
          </a:bodyPr>
          <a:lstStyle/>
          <a:p>
            <a:pPr marL="285750" indent="-285750">
              <a:buFontTx/>
              <a:buChar char="-"/>
            </a:pPr>
            <a:r>
              <a:rPr lang="es-CO" dirty="0"/>
              <a:t>Magnitud</a:t>
            </a:r>
          </a:p>
          <a:p>
            <a:pPr marL="285750" indent="-285750">
              <a:buFontTx/>
              <a:buChar char="-"/>
            </a:pPr>
            <a:r>
              <a:rPr lang="es-CO" dirty="0"/>
              <a:t>Duración</a:t>
            </a:r>
          </a:p>
          <a:p>
            <a:pPr marL="285750" indent="-285750">
              <a:buFontTx/>
              <a:buChar char="-"/>
            </a:pPr>
            <a:r>
              <a:rPr lang="es-CO" dirty="0"/>
              <a:t>Veces por km</a:t>
            </a:r>
          </a:p>
        </p:txBody>
      </p:sp>
    </p:spTree>
    <p:extLst>
      <p:ext uri="{BB962C8B-B14F-4D97-AF65-F5344CB8AC3E}">
        <p14:creationId xmlns:p14="http://schemas.microsoft.com/office/powerpoint/2010/main" val="102519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(DES)aceleraciones</a:t>
            </a:r>
          </a:p>
        </p:txBody>
      </p:sp>
      <p:pic>
        <p:nvPicPr>
          <p:cNvPr id="2052" name="Picture 4">
            <a:extLst>
              <a:ext uri="{FF2B5EF4-FFF2-40B4-BE49-F238E27FC236}">
                <a16:creationId xmlns:a16="http://schemas.microsoft.com/office/drawing/2014/main" id="{F7F9EDEC-1E0C-416D-BD90-A39340FE83C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200149" y="2099388"/>
            <a:ext cx="9991725" cy="365582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18</a:t>
            </a:fld>
            <a:endParaRPr lang="es-CO"/>
          </a:p>
        </p:txBody>
      </p:sp>
      <p:pic>
        <p:nvPicPr>
          <p:cNvPr id="12" name="Picture 4">
            <a:extLst>
              <a:ext uri="{FF2B5EF4-FFF2-40B4-BE49-F238E27FC236}">
                <a16:creationId xmlns:a16="http://schemas.microsoft.com/office/drawing/2014/main" id="{CC4D03C1-6AA8-431F-BDA5-272B869FA5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49" y="2099388"/>
            <a:ext cx="9991725" cy="365582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833F913-B5D3-478D-BDFF-15B37473D9CF}"/>
                  </a:ext>
                </a:extLst>
              </p:cNvPr>
              <p:cNvSpPr txBox="1"/>
              <p:nvPr/>
            </p:nvSpPr>
            <p:spPr>
              <a:xfrm rot="16200000">
                <a:off x="1562998" y="3709087"/>
                <a:ext cx="1232838" cy="253916"/>
              </a:xfrm>
              <a:prstGeom prst="rect">
                <a:avLst/>
              </a:prstGeom>
              <a:solidFill>
                <a:schemeClr val="bg1"/>
              </a:solidFill>
            </p:spPr>
            <p:txBody>
              <a:bodyPr wrap="none" rtlCol="0">
                <a:spAutoFit/>
              </a:bodyPr>
              <a:lstStyle/>
              <a:p>
                <a:r>
                  <a:rPr lang="es-CO" sz="1000" dirty="0"/>
                  <a:t>Magnitudes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CO" sz="100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a:t>
                </a:r>
              </a:p>
            </p:txBody>
          </p:sp>
        </mc:Choice>
        <mc:Fallback xmlns="">
          <p:sp>
            <p:nvSpPr>
              <p:cNvPr id="10" name="TextBox 9">
                <a:extLst>
                  <a:ext uri="{FF2B5EF4-FFF2-40B4-BE49-F238E27FC236}">
                    <a16:creationId xmlns:a16="http://schemas.microsoft.com/office/drawing/2014/main" id="{8833F913-B5D3-478D-BDFF-15B37473D9CF}"/>
                  </a:ext>
                </a:extLst>
              </p:cNvPr>
              <p:cNvSpPr txBox="1">
                <a:spLocks noRot="1" noChangeAspect="1" noMove="1" noResize="1" noEditPoints="1" noAdjustHandles="1" noChangeArrowheads="1" noChangeShapeType="1" noTextEdit="1"/>
              </p:cNvSpPr>
              <p:nvPr/>
            </p:nvSpPr>
            <p:spPr>
              <a:xfrm rot="16200000">
                <a:off x="1562998" y="3709087"/>
                <a:ext cx="1232838" cy="253916"/>
              </a:xfrm>
              <a:prstGeom prst="rect">
                <a:avLst/>
              </a:prstGeom>
              <a:blipFill>
                <a:blip r:embed="rId5"/>
                <a:stretch>
                  <a:fillRect r="-9756"/>
                </a:stretch>
              </a:blipFill>
            </p:spPr>
            <p:txBody>
              <a:bodyPr/>
              <a:lstStyle/>
              <a:p>
                <a:r>
                  <a:rPr lang="es-CO">
                    <a:noFill/>
                  </a:rPr>
                  <a:t> </a:t>
                </a:r>
              </a:p>
            </p:txBody>
          </p:sp>
        </mc:Fallback>
      </mc:AlternateContent>
      <p:sp>
        <p:nvSpPr>
          <p:cNvPr id="17" name="Rectangle 16">
            <a:extLst>
              <a:ext uri="{FF2B5EF4-FFF2-40B4-BE49-F238E27FC236}">
                <a16:creationId xmlns:a16="http://schemas.microsoft.com/office/drawing/2014/main" id="{C5B4D8C9-7B43-46E1-B06B-033AE4AAF053}"/>
              </a:ext>
            </a:extLst>
          </p:cNvPr>
          <p:cNvSpPr/>
          <p:nvPr/>
        </p:nvSpPr>
        <p:spPr>
          <a:xfrm>
            <a:off x="9477374" y="2876551"/>
            <a:ext cx="700267" cy="3834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291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199" y="2457449"/>
                <a:ext cx="3484190" cy="3719513"/>
              </a:xfrm>
            </p:spPr>
            <p:txBody>
              <a:bodyPr>
                <a:normAutofit/>
              </a:bodyPr>
              <a:lstStyle/>
              <a:p>
                <a:r>
                  <a:rPr lang="es-CO" sz="1400" dirty="0"/>
                  <a:t>Hay 6 indicadores sobre las (des)aceleraciones para cada recorrido:</a:t>
                </a:r>
              </a:p>
              <a:p>
                <a:pPr lvl="1"/>
                <a:r>
                  <a:rPr lang="es-CO" sz="1000" dirty="0"/>
                  <a:t>% Mag &gt; 1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ace fuertes)</a:t>
                </a:r>
              </a:p>
              <a:p>
                <a:pPr lvl="1"/>
                <a:r>
                  <a:rPr lang="es-CO" sz="1000" dirty="0"/>
                  <a:t>% Mag &gt; 2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ace muy fuertes)</a:t>
                </a:r>
              </a:p>
              <a:p>
                <a:pPr lvl="1"/>
                <a:r>
                  <a:rPr lang="es-CO" sz="1000" dirty="0"/>
                  <a:t>% Mag &lt; -1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fre fuertes)</a:t>
                </a:r>
              </a:p>
              <a:p>
                <a:pPr lvl="1"/>
                <a:r>
                  <a:rPr lang="es-CO" sz="1000" dirty="0"/>
                  <a:t>% Mag &lt; -2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fre muy fuertes)</a:t>
                </a:r>
              </a:p>
              <a:p>
                <a:pPr lvl="1"/>
                <a:r>
                  <a:rPr lang="es-CO" sz="1000" dirty="0"/>
                  <a:t>Duración de las aceleraciones</a:t>
                </a:r>
              </a:p>
              <a:p>
                <a:pPr lvl="1"/>
                <a:r>
                  <a:rPr lang="es-CO" sz="1000" dirty="0"/>
                  <a:t>Duración de las frenadas</a:t>
                </a:r>
              </a:p>
              <a:p>
                <a:pPr lvl="1"/>
                <a:endParaRPr lang="es-CO" sz="1000" dirty="0"/>
              </a:p>
              <a:p>
                <a:r>
                  <a:rPr lang="es-CO" sz="1400" dirty="0"/>
                  <a:t>El bus 4012 (</a:t>
                </a:r>
                <a:r>
                  <a:rPr lang="es-CO" sz="1400" dirty="0" err="1"/>
                  <a:t>cyan</a:t>
                </a:r>
                <a:r>
                  <a:rPr lang="es-CO" sz="1400" dirty="0"/>
                  <a:t>) es raro. </a:t>
                </a:r>
              </a:p>
              <a:p>
                <a:r>
                  <a:rPr lang="es-CO" sz="1400" dirty="0"/>
                  <a:t>Lo llamamos el “bus brusco”, </a:t>
                </a:r>
                <a:r>
                  <a:rPr lang="es-CO" sz="1400" b="1" dirty="0">
                    <a:solidFill>
                      <a:srgbClr val="666633"/>
                    </a:solidFill>
                  </a:rPr>
                  <a:t>frena y acelera más fuerte y en menos tiempo.</a:t>
                </a:r>
              </a:p>
              <a:p>
                <a:pPr lvl="1"/>
                <a:endParaRPr lang="es-CO" sz="1000" dirty="0"/>
              </a:p>
            </p:txBody>
          </p:sp>
        </mc:Choice>
        <mc:Fallback xmlns="">
          <p:sp>
            <p:nvSpPr>
              <p:cNvPr id="3" name="Content Placeholder 2">
                <a:extLst>
                  <a:ext uri="{FF2B5EF4-FFF2-40B4-BE49-F238E27FC236}">
                    <a16:creationId xmlns:a16="http://schemas.microsoft.com/office/drawing/2014/main" id="{6128163C-3E79-4C3C-907B-95DA07EBE134}"/>
                  </a:ext>
                </a:extLst>
              </p:cNvPr>
              <p:cNvSpPr>
                <a:spLocks noGrp="1" noRot="1" noChangeAspect="1" noMove="1" noResize="1" noEditPoints="1" noAdjustHandles="1" noChangeArrowheads="1" noChangeShapeType="1" noTextEdit="1"/>
              </p:cNvSpPr>
              <p:nvPr>
                <p:ph idx="1"/>
              </p:nvPr>
            </p:nvSpPr>
            <p:spPr>
              <a:xfrm>
                <a:off x="838199" y="2457449"/>
                <a:ext cx="3484190" cy="3719513"/>
              </a:xfrm>
              <a:blipFill>
                <a:blip r:embed="rId2"/>
                <a:stretch>
                  <a:fillRect/>
                </a:stretch>
              </a:blipFill>
            </p:spPr>
            <p:txBody>
              <a:bodyPr/>
              <a:lstStyle/>
              <a:p>
                <a:r>
                  <a:rPr lang="es-CO">
                    <a:noFill/>
                  </a:rPr>
                  <a:t> </a:t>
                </a:r>
              </a:p>
            </p:txBody>
          </p:sp>
        </mc:Fallback>
      </mc:AlternateContent>
      <p:pic>
        <p:nvPicPr>
          <p:cNvPr id="5" name="Picture 4">
            <a:extLst>
              <a:ext uri="{FF2B5EF4-FFF2-40B4-BE49-F238E27FC236}">
                <a16:creationId xmlns:a16="http://schemas.microsoft.com/office/drawing/2014/main" id="{57A2BCBA-5D7D-403A-A8A4-D416FA0400E2}"/>
              </a:ext>
            </a:extLst>
          </p:cNvPr>
          <p:cNvPicPr>
            <a:picLocks noChangeAspect="1"/>
          </p:cNvPicPr>
          <p:nvPr/>
        </p:nvPicPr>
        <p:blipFill>
          <a:blip r:embed="rId3"/>
          <a:stretch>
            <a:fillRect/>
          </a:stretch>
        </p:blipFill>
        <p:spPr>
          <a:xfrm>
            <a:off x="4322389" y="1825625"/>
            <a:ext cx="7031411" cy="4685334"/>
          </a:xfrm>
          <a:prstGeom prst="rect">
            <a:avLst/>
          </a:prstGeom>
        </p:spPr>
      </p:pic>
      <p:sp>
        <p:nvSpPr>
          <p:cNvPr id="4" name="Slide Number Placeholder 3">
            <a:extLst>
              <a:ext uri="{FF2B5EF4-FFF2-40B4-BE49-F238E27FC236}">
                <a16:creationId xmlns:a16="http://schemas.microsoft.com/office/drawing/2014/main" id="{D71225CD-C6D6-4019-8CFD-7945D6942B77}"/>
              </a:ext>
            </a:extLst>
          </p:cNvPr>
          <p:cNvSpPr>
            <a:spLocks noGrp="1"/>
          </p:cNvSpPr>
          <p:nvPr>
            <p:ph type="sldNum" sz="quarter" idx="12"/>
          </p:nvPr>
        </p:nvSpPr>
        <p:spPr/>
        <p:txBody>
          <a:bodyPr/>
          <a:lstStyle/>
          <a:p>
            <a:fld id="{00670DA0-C7A9-4FF5-B8FB-4DCD6DFD0B70}" type="slidenum">
              <a:rPr lang="es-CO" smtClean="0"/>
              <a:t>19</a:t>
            </a:fld>
            <a:endParaRPr lang="es-CO"/>
          </a:p>
        </p:txBody>
      </p:sp>
    </p:spTree>
    <p:extLst>
      <p:ext uri="{BB962C8B-B14F-4D97-AF65-F5344CB8AC3E}">
        <p14:creationId xmlns:p14="http://schemas.microsoft.com/office/powerpoint/2010/main" val="175801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Aceleraciones y frenadas h vs m</a:t>
            </a:r>
          </a:p>
        </p:txBody>
      </p:sp>
      <p:pic>
        <p:nvPicPr>
          <p:cNvPr id="2050" name="Picture 2">
            <a:extLst>
              <a:ext uri="{FF2B5EF4-FFF2-40B4-BE49-F238E27FC236}">
                <a16:creationId xmlns:a16="http://schemas.microsoft.com/office/drawing/2014/main" id="{920CBF7C-4AD9-498F-8837-35DD53F147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87" r="6988"/>
          <a:stretch/>
        </p:blipFill>
        <p:spPr bwMode="auto">
          <a:xfrm>
            <a:off x="381000" y="2217121"/>
            <a:ext cx="7983184" cy="345977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20</a:t>
            </a:fld>
            <a:endParaRPr lang="es-CO"/>
          </a:p>
        </p:txBody>
      </p:sp>
      <p:sp>
        <p:nvSpPr>
          <p:cNvPr id="11" name="TextBox 10">
            <a:extLst>
              <a:ext uri="{FF2B5EF4-FFF2-40B4-BE49-F238E27FC236}">
                <a16:creationId xmlns:a16="http://schemas.microsoft.com/office/drawing/2014/main" id="{57B16885-AC1D-48FB-8297-DAC606DAEDD8}"/>
              </a:ext>
            </a:extLst>
          </p:cNvPr>
          <p:cNvSpPr txBox="1"/>
          <p:nvPr/>
        </p:nvSpPr>
        <p:spPr>
          <a:xfrm>
            <a:off x="8562808" y="2418375"/>
            <a:ext cx="3174958" cy="3139321"/>
          </a:xfrm>
          <a:prstGeom prst="rect">
            <a:avLst/>
          </a:prstGeom>
          <a:noFill/>
        </p:spPr>
        <p:txBody>
          <a:bodyPr wrap="square">
            <a:spAutoFit/>
          </a:bodyPr>
          <a:lstStyle/>
          <a:p>
            <a:r>
              <a:rPr lang="es-CO" sz="1100" b="1" dirty="0">
                <a:solidFill>
                  <a:srgbClr val="666633"/>
                </a:solidFill>
              </a:rPr>
              <a:t>Otro bus (4025) (55M + 26H)</a:t>
            </a:r>
          </a:p>
          <a:p>
            <a:r>
              <a:rPr lang="es-CO" sz="1100" dirty="0"/>
              <a:t>Magnitudes + [M = 0.7270    H = 0.7379] m/s2</a:t>
            </a:r>
          </a:p>
          <a:p>
            <a:r>
              <a:rPr lang="es-CO" sz="1100" dirty="0"/>
              <a:t>Magnitudes -  [M = </a:t>
            </a:r>
            <a:r>
              <a:rPr lang="en-US" sz="1100" dirty="0"/>
              <a:t>-0.7500   H = -0.7766]</a:t>
            </a:r>
          </a:p>
          <a:p>
            <a:r>
              <a:rPr lang="es-CO" sz="1100" dirty="0"/>
              <a:t>Mujeres un poquito más débil</a:t>
            </a:r>
          </a:p>
          <a:p>
            <a:endParaRPr lang="es-CO" sz="1100" dirty="0"/>
          </a:p>
          <a:p>
            <a:r>
              <a:rPr lang="es-CO" sz="1100" dirty="0"/>
              <a:t>Duraciones + [M = </a:t>
            </a:r>
            <a:r>
              <a:rPr lang="en-US" sz="1100" dirty="0"/>
              <a:t>1.8031    </a:t>
            </a:r>
            <a:r>
              <a:rPr lang="es-CO" sz="1100" dirty="0"/>
              <a:t> H = </a:t>
            </a:r>
            <a:r>
              <a:rPr lang="en-US" sz="1100" dirty="0"/>
              <a:t>1.9330</a:t>
            </a:r>
            <a:r>
              <a:rPr lang="es-CO" sz="1100" dirty="0"/>
              <a:t>] ms</a:t>
            </a:r>
          </a:p>
          <a:p>
            <a:r>
              <a:rPr lang="es-CO" sz="1100" dirty="0"/>
              <a:t>Duraciones - [M =  </a:t>
            </a:r>
            <a:r>
              <a:rPr lang="en-US" sz="1100" dirty="0"/>
              <a:t>1.9658    </a:t>
            </a:r>
            <a:r>
              <a:rPr lang="es-CO" sz="1100" dirty="0"/>
              <a:t>H = </a:t>
            </a:r>
            <a:r>
              <a:rPr lang="en-US" sz="1100" dirty="0"/>
              <a:t>2.0895</a:t>
            </a:r>
            <a:r>
              <a:rPr lang="es-CO" sz="1100" dirty="0"/>
              <a:t>] </a:t>
            </a:r>
          </a:p>
          <a:p>
            <a:r>
              <a:rPr lang="es-CO" sz="1100" dirty="0"/>
              <a:t>Mujeres un poquito más corto</a:t>
            </a:r>
          </a:p>
          <a:p>
            <a:endParaRPr lang="es-CO" sz="1100" dirty="0"/>
          </a:p>
          <a:p>
            <a:endParaRPr lang="es-CO" sz="1100" dirty="0"/>
          </a:p>
          <a:p>
            <a:r>
              <a:rPr lang="es-CO" sz="1100" b="1" dirty="0">
                <a:solidFill>
                  <a:srgbClr val="666633"/>
                </a:solidFill>
              </a:rPr>
              <a:t>Bus brusco (4012) (72M + 34H)</a:t>
            </a:r>
          </a:p>
          <a:p>
            <a:r>
              <a:rPr lang="es-CO" sz="1100" dirty="0"/>
              <a:t>Magnitudes + [M = 1.0818    H = 1.0542] m/s2</a:t>
            </a:r>
          </a:p>
          <a:p>
            <a:r>
              <a:rPr lang="es-CO" sz="1100" dirty="0"/>
              <a:t>Magnitudes -  [ M = </a:t>
            </a:r>
            <a:r>
              <a:rPr lang="en-US" sz="1100" dirty="0"/>
              <a:t>-1.1854   H = -1.1586]</a:t>
            </a:r>
          </a:p>
          <a:p>
            <a:r>
              <a:rPr lang="es-CO" sz="1100" dirty="0"/>
              <a:t>Mujeres un poquito más fuerte</a:t>
            </a:r>
          </a:p>
          <a:p>
            <a:endParaRPr lang="en-US" sz="1100" dirty="0"/>
          </a:p>
          <a:p>
            <a:r>
              <a:rPr lang="es-CO" sz="1100" dirty="0"/>
              <a:t>Duraciones + [M = </a:t>
            </a:r>
            <a:r>
              <a:rPr lang="en-US" sz="1100" dirty="0"/>
              <a:t>1.2706    </a:t>
            </a:r>
            <a:r>
              <a:rPr lang="es-CO" sz="1100" dirty="0"/>
              <a:t>H = </a:t>
            </a:r>
            <a:r>
              <a:rPr lang="en-US" sz="1100" dirty="0"/>
              <a:t>1.1727</a:t>
            </a:r>
            <a:r>
              <a:rPr lang="es-CO" sz="1100" dirty="0"/>
              <a:t>] ms</a:t>
            </a:r>
          </a:p>
          <a:p>
            <a:r>
              <a:rPr lang="es-CO" sz="1100" dirty="0"/>
              <a:t>Duraciones - [M = </a:t>
            </a:r>
            <a:r>
              <a:rPr lang="en-US" sz="1100" dirty="0"/>
              <a:t>1.4299     </a:t>
            </a:r>
            <a:r>
              <a:rPr lang="es-CO" sz="1100" dirty="0"/>
              <a:t>H = </a:t>
            </a:r>
            <a:r>
              <a:rPr lang="en-US" sz="1100" dirty="0"/>
              <a:t>1.3198</a:t>
            </a:r>
            <a:r>
              <a:rPr lang="es-CO" sz="1100" dirty="0"/>
              <a:t>] </a:t>
            </a:r>
          </a:p>
          <a:p>
            <a:r>
              <a:rPr lang="es-CO" sz="1100" dirty="0"/>
              <a:t>Mujeres un poquito más largo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335936-E3A9-402D-ACD9-284756599189}"/>
                  </a:ext>
                </a:extLst>
              </p:cNvPr>
              <p:cNvSpPr txBox="1"/>
              <p:nvPr/>
            </p:nvSpPr>
            <p:spPr>
              <a:xfrm rot="16200000">
                <a:off x="-35227" y="3823211"/>
                <a:ext cx="1232838" cy="253916"/>
              </a:xfrm>
              <a:prstGeom prst="rect">
                <a:avLst/>
              </a:prstGeom>
              <a:solidFill>
                <a:schemeClr val="bg1"/>
              </a:solidFill>
            </p:spPr>
            <p:txBody>
              <a:bodyPr wrap="none" rtlCol="0">
                <a:spAutoFit/>
              </a:bodyPr>
              <a:lstStyle/>
              <a:p>
                <a:r>
                  <a:rPr lang="es-CO" sz="1000" dirty="0"/>
                  <a:t>Magnitudes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CO" sz="100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a:t>
                </a:r>
              </a:p>
            </p:txBody>
          </p:sp>
        </mc:Choice>
        <mc:Fallback xmlns="">
          <p:sp>
            <p:nvSpPr>
              <p:cNvPr id="12" name="TextBox 11">
                <a:extLst>
                  <a:ext uri="{FF2B5EF4-FFF2-40B4-BE49-F238E27FC236}">
                    <a16:creationId xmlns:a16="http://schemas.microsoft.com/office/drawing/2014/main" id="{D2335936-E3A9-402D-ACD9-284756599189}"/>
                  </a:ext>
                </a:extLst>
              </p:cNvPr>
              <p:cNvSpPr txBox="1">
                <a:spLocks noRot="1" noChangeAspect="1" noMove="1" noResize="1" noEditPoints="1" noAdjustHandles="1" noChangeArrowheads="1" noChangeShapeType="1" noTextEdit="1"/>
              </p:cNvSpPr>
              <p:nvPr/>
            </p:nvSpPr>
            <p:spPr>
              <a:xfrm rot="16200000">
                <a:off x="-35227" y="3823211"/>
                <a:ext cx="1232838" cy="253916"/>
              </a:xfrm>
              <a:prstGeom prst="rect">
                <a:avLst/>
              </a:prstGeom>
              <a:blipFill>
                <a:blip r:embed="rId4"/>
                <a:stretch>
                  <a:fillRect r="-9756"/>
                </a:stretch>
              </a:blipFill>
            </p:spPr>
            <p:txBody>
              <a:bodyPr/>
              <a:lstStyle/>
              <a:p>
                <a:r>
                  <a:rPr lang="es-CO">
                    <a:noFill/>
                  </a:rPr>
                  <a:t> </a:t>
                </a:r>
              </a:p>
            </p:txBody>
          </p:sp>
        </mc:Fallback>
      </mc:AlternateContent>
      <p:sp>
        <p:nvSpPr>
          <p:cNvPr id="14" name="TextBox 13">
            <a:extLst>
              <a:ext uri="{FF2B5EF4-FFF2-40B4-BE49-F238E27FC236}">
                <a16:creationId xmlns:a16="http://schemas.microsoft.com/office/drawing/2014/main" id="{CFCC19A7-A9A7-4171-9096-636F5F5D2B6C}"/>
              </a:ext>
            </a:extLst>
          </p:cNvPr>
          <p:cNvSpPr txBox="1"/>
          <p:nvPr/>
        </p:nvSpPr>
        <p:spPr>
          <a:xfrm>
            <a:off x="3048000" y="2019934"/>
            <a:ext cx="6096000" cy="369332"/>
          </a:xfrm>
          <a:prstGeom prst="rect">
            <a:avLst/>
          </a:prstGeom>
          <a:noFill/>
        </p:spPr>
        <p:txBody>
          <a:bodyPr wrap="square">
            <a:spAutoFit/>
          </a:bodyPr>
          <a:lstStyle/>
          <a:p>
            <a:r>
              <a:rPr lang="es-CO" sz="1800" dirty="0"/>
              <a:t>No se notan diferencias significativas entre H y M.</a:t>
            </a:r>
          </a:p>
        </p:txBody>
      </p:sp>
    </p:spTree>
    <p:extLst>
      <p:ext uri="{BB962C8B-B14F-4D97-AF65-F5344CB8AC3E}">
        <p14:creationId xmlns:p14="http://schemas.microsoft.com/office/powerpoint/2010/main" val="1110660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(DES) Aceleraciones</a:t>
            </a:r>
          </a:p>
        </p:txBody>
      </p:sp>
      <p:sp>
        <p:nvSpPr>
          <p:cNvPr id="3" name="Content Placeholder 2">
            <a:extLst>
              <a:ext uri="{FF2B5EF4-FFF2-40B4-BE49-F238E27FC236}">
                <a16:creationId xmlns:a16="http://schemas.microsoft.com/office/drawing/2014/main" id="{225FF36E-E5BA-4ABF-A31D-555DDFD55546}"/>
              </a:ext>
            </a:extLst>
          </p:cNvPr>
          <p:cNvSpPr>
            <a:spLocks noGrp="1"/>
          </p:cNvSpPr>
          <p:nvPr>
            <p:ph idx="1"/>
          </p:nvPr>
        </p:nvSpPr>
        <p:spPr>
          <a:xfrm>
            <a:off x="838200" y="1825625"/>
            <a:ext cx="3834899" cy="4351338"/>
          </a:xfrm>
        </p:spPr>
        <p:txBody>
          <a:bodyPr>
            <a:normAutofit/>
          </a:bodyPr>
          <a:lstStyle/>
          <a:p>
            <a:endParaRPr lang="es-CO" sz="2000" dirty="0"/>
          </a:p>
          <a:p>
            <a:pPr marL="0" indent="0">
              <a:buNone/>
            </a:pPr>
            <a:r>
              <a:rPr lang="es-CO" sz="2000" dirty="0"/>
              <a:t>Patrón general (H y M)</a:t>
            </a:r>
          </a:p>
          <a:p>
            <a:r>
              <a:rPr lang="es-CO" sz="2000" dirty="0"/>
              <a:t>Se frena más largo y más fuerte.</a:t>
            </a:r>
          </a:p>
          <a:p>
            <a:endParaRPr lang="es-CO" sz="2000" dirty="0"/>
          </a:p>
          <a:p>
            <a:r>
              <a:rPr lang="es-CO" sz="2000" dirty="0"/>
              <a:t>Se frena por necesidad, se acelera por decisión.</a:t>
            </a:r>
          </a:p>
        </p:txBody>
      </p:sp>
      <p:sp>
        <p:nvSpPr>
          <p:cNvPr id="8" name="TextBox 7">
            <a:extLst>
              <a:ext uri="{FF2B5EF4-FFF2-40B4-BE49-F238E27FC236}">
                <a16:creationId xmlns:a16="http://schemas.microsoft.com/office/drawing/2014/main" id="{4C2AB572-25C0-4BB3-96E8-CADB4490B9B9}"/>
              </a:ext>
            </a:extLst>
          </p:cNvPr>
          <p:cNvSpPr txBox="1"/>
          <p:nvPr/>
        </p:nvSpPr>
        <p:spPr>
          <a:xfrm>
            <a:off x="9196552" y="2526337"/>
            <a:ext cx="1573048" cy="253916"/>
          </a:xfrm>
          <a:prstGeom prst="rect">
            <a:avLst/>
          </a:prstGeom>
          <a:noFill/>
        </p:spPr>
        <p:txBody>
          <a:bodyPr wrap="square" rtlCol="0">
            <a:spAutoFit/>
          </a:bodyPr>
          <a:lstStyle/>
          <a:p>
            <a:r>
              <a:rPr lang="es-CO" sz="1050" dirty="0"/>
              <a:t>Centro de los </a:t>
            </a:r>
            <a:r>
              <a:rPr lang="es-CO" sz="1050" dirty="0" err="1"/>
              <a:t>clusters</a:t>
            </a:r>
            <a:endParaRPr lang="es-CO" sz="1050" dirty="0"/>
          </a:p>
        </p:txBody>
      </p:sp>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21</a:t>
            </a:fld>
            <a:endParaRPr lang="es-CO"/>
          </a:p>
        </p:txBody>
      </p:sp>
      <p:pic>
        <p:nvPicPr>
          <p:cNvPr id="6" name="Picture 5">
            <a:extLst>
              <a:ext uri="{FF2B5EF4-FFF2-40B4-BE49-F238E27FC236}">
                <a16:creationId xmlns:a16="http://schemas.microsoft.com/office/drawing/2014/main" id="{BE7B2CE1-A9F8-4853-AD4A-1BBE9B7B88DD}"/>
              </a:ext>
            </a:extLst>
          </p:cNvPr>
          <p:cNvPicPr>
            <a:picLocks noChangeAspect="1"/>
          </p:cNvPicPr>
          <p:nvPr/>
        </p:nvPicPr>
        <p:blipFill rotWithShape="1">
          <a:blip r:embed="rId2"/>
          <a:srcRect l="7572" r="49302"/>
          <a:stretch/>
        </p:blipFill>
        <p:spPr>
          <a:xfrm>
            <a:off x="4673098" y="2746668"/>
            <a:ext cx="3366001" cy="3116096"/>
          </a:xfrm>
          <a:prstGeom prst="rect">
            <a:avLst/>
          </a:prstGeom>
        </p:spPr>
      </p:pic>
      <p:pic>
        <p:nvPicPr>
          <p:cNvPr id="13" name="Picture 12">
            <a:extLst>
              <a:ext uri="{FF2B5EF4-FFF2-40B4-BE49-F238E27FC236}">
                <a16:creationId xmlns:a16="http://schemas.microsoft.com/office/drawing/2014/main" id="{D7C4DEC3-3414-4116-A6C1-DDCF4495CA2C}"/>
              </a:ext>
            </a:extLst>
          </p:cNvPr>
          <p:cNvPicPr>
            <a:picLocks noChangeAspect="1"/>
          </p:cNvPicPr>
          <p:nvPr/>
        </p:nvPicPr>
        <p:blipFill rotWithShape="1">
          <a:blip r:embed="rId3">
            <a:clrChange>
              <a:clrFrom>
                <a:srgbClr val="FFFFFF"/>
              </a:clrFrom>
              <a:clrTo>
                <a:srgbClr val="FFFFFF">
                  <a:alpha val="0"/>
                </a:srgbClr>
              </a:clrTo>
            </a:clrChange>
          </a:blip>
          <a:srcRect l="7497"/>
          <a:stretch/>
        </p:blipFill>
        <p:spPr>
          <a:xfrm>
            <a:off x="4660399" y="2761821"/>
            <a:ext cx="7214101" cy="3100943"/>
          </a:xfrm>
          <a:prstGeom prst="rect">
            <a:avLst/>
          </a:prstGeom>
          <a:solidFill>
            <a:schemeClr val="bg1"/>
          </a:solidFill>
        </p:spPr>
      </p:pic>
    </p:spTree>
    <p:extLst>
      <p:ext uri="{BB962C8B-B14F-4D97-AF65-F5344CB8AC3E}">
        <p14:creationId xmlns:p14="http://schemas.microsoft.com/office/powerpoint/2010/main" val="310261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3A8494-C44E-49EB-9689-7FAA43A547A0}"/>
              </a:ext>
            </a:extLst>
          </p:cNvPr>
          <p:cNvPicPr>
            <a:picLocks noChangeAspect="1"/>
          </p:cNvPicPr>
          <p:nvPr/>
        </p:nvPicPr>
        <p:blipFill>
          <a:blip r:embed="rId3"/>
          <a:stretch>
            <a:fillRect/>
          </a:stretch>
        </p:blipFill>
        <p:spPr>
          <a:xfrm>
            <a:off x="6096000" y="2007968"/>
            <a:ext cx="5671709" cy="4253782"/>
          </a:xfrm>
          <a:prstGeom prst="rect">
            <a:avLst/>
          </a:prstGeom>
        </p:spPr>
      </p:pic>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p:pic>
        <p:nvPicPr>
          <p:cNvPr id="7" name="Picture 6">
            <a:extLst>
              <a:ext uri="{FF2B5EF4-FFF2-40B4-BE49-F238E27FC236}">
                <a16:creationId xmlns:a16="http://schemas.microsoft.com/office/drawing/2014/main" id="{B74EA99E-AC4D-47E8-B6CE-7979D51824B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49935" y="2010291"/>
            <a:ext cx="5671709" cy="4253782"/>
          </a:xfrm>
          <a:prstGeom prst="rect">
            <a:avLst/>
          </a:prstGeom>
        </p:spPr>
      </p:pic>
      <p:sp>
        <p:nvSpPr>
          <p:cNvPr id="8" name="TextBox 7">
            <a:extLst>
              <a:ext uri="{FF2B5EF4-FFF2-40B4-BE49-F238E27FC236}">
                <a16:creationId xmlns:a16="http://schemas.microsoft.com/office/drawing/2014/main" id="{E96FD121-2453-422D-8E2F-DDEE578F8870}"/>
              </a:ext>
            </a:extLst>
          </p:cNvPr>
          <p:cNvSpPr txBox="1"/>
          <p:nvPr/>
        </p:nvSpPr>
        <p:spPr>
          <a:xfrm>
            <a:off x="3039398" y="1906292"/>
            <a:ext cx="1042273" cy="369332"/>
          </a:xfrm>
          <a:prstGeom prst="rect">
            <a:avLst/>
          </a:prstGeom>
          <a:noFill/>
        </p:spPr>
        <p:txBody>
          <a:bodyPr wrap="none" rtlCol="0">
            <a:spAutoFit/>
          </a:bodyPr>
          <a:lstStyle/>
          <a:p>
            <a:r>
              <a:rPr lang="es-CO" dirty="0"/>
              <a:t>Bus 4012</a:t>
            </a:r>
          </a:p>
        </p:txBody>
      </p:sp>
      <p:sp>
        <p:nvSpPr>
          <p:cNvPr id="9" name="TextBox 8">
            <a:extLst>
              <a:ext uri="{FF2B5EF4-FFF2-40B4-BE49-F238E27FC236}">
                <a16:creationId xmlns:a16="http://schemas.microsoft.com/office/drawing/2014/main" id="{DAA6E8B6-5056-4F40-89FD-F6F0A4121228}"/>
              </a:ext>
            </a:extLst>
          </p:cNvPr>
          <p:cNvSpPr txBox="1"/>
          <p:nvPr/>
        </p:nvSpPr>
        <p:spPr>
          <a:xfrm>
            <a:off x="8695469" y="1906292"/>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5206260" y="651129"/>
            <a:ext cx="4403424" cy="1107996"/>
          </a:xfrm>
          <a:prstGeom prst="rect">
            <a:avLst/>
          </a:prstGeom>
          <a:noFill/>
        </p:spPr>
        <p:txBody>
          <a:bodyPr wrap="square" rtlCol="0">
            <a:spAutoFit/>
          </a:bodyPr>
          <a:lstStyle/>
          <a:p>
            <a:r>
              <a:rPr lang="es-CO" sz="1100" b="1" dirty="0"/>
              <a:t>Se repite en los dos buses:</a:t>
            </a:r>
          </a:p>
          <a:p>
            <a:pPr marL="171450" indent="-171450">
              <a:buFont typeface="Arial" panose="020B0604020202020204" pitchFamily="34" charset="0"/>
              <a:buChar char="•"/>
            </a:pPr>
            <a:r>
              <a:rPr lang="es-CO" sz="1100" dirty="0"/>
              <a:t>Correlación positiva: Mag Aceleraciones con Mag frenadas</a:t>
            </a:r>
          </a:p>
          <a:p>
            <a:pPr marL="171450" indent="-171450">
              <a:buFont typeface="Arial" panose="020B0604020202020204" pitchFamily="34" charset="0"/>
              <a:buChar char="•"/>
            </a:pPr>
            <a:r>
              <a:rPr lang="es-CO" sz="1100" dirty="0"/>
              <a:t>Correlación Alta positiva: Dur Aceleraciones con Dur frenadas</a:t>
            </a:r>
          </a:p>
          <a:p>
            <a:pPr marL="171450" indent="-171450">
              <a:buFont typeface="Arial" panose="020B0604020202020204" pitchFamily="34" charset="0"/>
              <a:buChar char="•"/>
            </a:pPr>
            <a:r>
              <a:rPr lang="es-CO" sz="1100" dirty="0"/>
              <a:t>Correlación Alta positiva: Ace/km con fre/km</a:t>
            </a:r>
          </a:p>
          <a:p>
            <a:pPr marL="171450" indent="-171450">
              <a:buFont typeface="Arial" panose="020B0604020202020204" pitchFamily="34" charset="0"/>
              <a:buChar char="•"/>
            </a:pPr>
            <a:r>
              <a:rPr lang="es-CO" sz="1100" dirty="0"/>
              <a:t>Correlación negativa: fre/km con duraciones</a:t>
            </a:r>
          </a:p>
          <a:p>
            <a:pPr marL="171450" indent="-171450">
              <a:buFont typeface="Arial" panose="020B0604020202020204" pitchFamily="34" charset="0"/>
              <a:buChar char="•"/>
            </a:pPr>
            <a:r>
              <a:rPr lang="es-CO" sz="1100" dirty="0"/>
              <a:t>Correlación negativa: Ace/km con duraciones</a:t>
            </a:r>
          </a:p>
        </p:txBody>
      </p:sp>
      <p:sp>
        <p:nvSpPr>
          <p:cNvPr id="16" name="Rectangle 15">
            <a:extLst>
              <a:ext uri="{FF2B5EF4-FFF2-40B4-BE49-F238E27FC236}">
                <a16:creationId xmlns:a16="http://schemas.microsoft.com/office/drawing/2014/main" id="{AEE4E399-CCED-419E-9EF0-960EA2B23896}"/>
              </a:ext>
            </a:extLst>
          </p:cNvPr>
          <p:cNvSpPr/>
          <p:nvPr/>
        </p:nvSpPr>
        <p:spPr>
          <a:xfrm>
            <a:off x="9519223" y="4843648"/>
            <a:ext cx="683173" cy="580806"/>
          </a:xfrm>
          <a:prstGeom prst="rect">
            <a:avLst/>
          </a:prstGeom>
          <a:noFill/>
          <a:ln w="76200">
            <a:solidFill>
              <a:srgbClr val="66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Slide Number Placeholder 3">
            <a:extLst>
              <a:ext uri="{FF2B5EF4-FFF2-40B4-BE49-F238E27FC236}">
                <a16:creationId xmlns:a16="http://schemas.microsoft.com/office/drawing/2014/main" id="{C8BB6F5C-2B87-41FD-9851-B211AA8AEE9D}"/>
              </a:ext>
            </a:extLst>
          </p:cNvPr>
          <p:cNvSpPr>
            <a:spLocks noGrp="1"/>
          </p:cNvSpPr>
          <p:nvPr>
            <p:ph type="sldNum" sz="quarter" idx="12"/>
          </p:nvPr>
        </p:nvSpPr>
        <p:spPr/>
        <p:txBody>
          <a:bodyPr/>
          <a:lstStyle/>
          <a:p>
            <a:fld id="{00670DA0-C7A9-4FF5-B8FB-4DCD6DFD0B70}" type="slidenum">
              <a:rPr lang="es-CO" smtClean="0"/>
              <a:t>22</a:t>
            </a:fld>
            <a:endParaRPr lang="es-CO"/>
          </a:p>
        </p:txBody>
      </p:sp>
      <p:sp>
        <p:nvSpPr>
          <p:cNvPr id="13" name="Rectangle 12">
            <a:extLst>
              <a:ext uri="{FF2B5EF4-FFF2-40B4-BE49-F238E27FC236}">
                <a16:creationId xmlns:a16="http://schemas.microsoft.com/office/drawing/2014/main" id="{C7379E0D-D660-4E16-8460-2681ADF64DDF}"/>
              </a:ext>
            </a:extLst>
          </p:cNvPr>
          <p:cNvSpPr/>
          <p:nvPr/>
        </p:nvSpPr>
        <p:spPr>
          <a:xfrm>
            <a:off x="4070103" y="4837738"/>
            <a:ext cx="683173" cy="580806"/>
          </a:xfrm>
          <a:prstGeom prst="rect">
            <a:avLst/>
          </a:prstGeom>
          <a:noFill/>
          <a:ln w="76200">
            <a:solidFill>
              <a:srgbClr val="66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TextBox 13">
            <a:extLst>
              <a:ext uri="{FF2B5EF4-FFF2-40B4-BE49-F238E27FC236}">
                <a16:creationId xmlns:a16="http://schemas.microsoft.com/office/drawing/2014/main" id="{657EDE1B-9593-4B99-B04A-A7F24B4F3694}"/>
              </a:ext>
            </a:extLst>
          </p:cNvPr>
          <p:cNvSpPr txBox="1"/>
          <p:nvPr/>
        </p:nvSpPr>
        <p:spPr>
          <a:xfrm>
            <a:off x="5645629" y="6108018"/>
            <a:ext cx="1156657" cy="461665"/>
          </a:xfrm>
          <a:prstGeom prst="rect">
            <a:avLst/>
          </a:prstGeom>
          <a:noFill/>
        </p:spPr>
        <p:txBody>
          <a:bodyPr wrap="square">
            <a:spAutoFit/>
          </a:bodyPr>
          <a:lstStyle/>
          <a:p>
            <a:pPr algn="ctr"/>
            <a:r>
              <a:rPr lang="es-CO" sz="1200" dirty="0">
                <a:solidFill>
                  <a:srgbClr val="0000FF"/>
                </a:solidFill>
              </a:rPr>
              <a:t>Hombres</a:t>
            </a:r>
            <a:endParaRPr lang="es-CO" sz="1200" dirty="0"/>
          </a:p>
          <a:p>
            <a:pPr algn="ctr"/>
            <a:r>
              <a:rPr lang="es-CO" sz="1200" dirty="0">
                <a:solidFill>
                  <a:srgbClr val="FF0000"/>
                </a:solidFill>
              </a:rPr>
              <a:t>Mujeres</a:t>
            </a:r>
          </a:p>
        </p:txBody>
      </p:sp>
    </p:spTree>
    <p:extLst>
      <p:ext uri="{BB962C8B-B14F-4D97-AF65-F5344CB8AC3E}">
        <p14:creationId xmlns:p14="http://schemas.microsoft.com/office/powerpoint/2010/main" val="22090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p:sp>
        <p:nvSpPr>
          <p:cNvPr id="12" name="TextBox 11">
            <a:extLst>
              <a:ext uri="{FF2B5EF4-FFF2-40B4-BE49-F238E27FC236}">
                <a16:creationId xmlns:a16="http://schemas.microsoft.com/office/drawing/2014/main" id="{9401F842-71F5-4EBE-8380-74993E26472F}"/>
              </a:ext>
            </a:extLst>
          </p:cNvPr>
          <p:cNvSpPr txBox="1"/>
          <p:nvPr/>
        </p:nvSpPr>
        <p:spPr>
          <a:xfrm>
            <a:off x="581192" y="2260600"/>
            <a:ext cx="5735633" cy="2185214"/>
          </a:xfrm>
          <a:prstGeom prst="rect">
            <a:avLst/>
          </a:prstGeom>
          <a:noFill/>
        </p:spPr>
        <p:txBody>
          <a:bodyPr wrap="square" rtlCol="0">
            <a:spAutoFit/>
          </a:bodyPr>
          <a:lstStyle/>
          <a:p>
            <a:r>
              <a:rPr lang="es-CO" b="1" dirty="0"/>
              <a:t>Patrón general (H y M)</a:t>
            </a:r>
          </a:p>
          <a:p>
            <a:r>
              <a:rPr lang="es-CO" b="1" dirty="0"/>
              <a:t>Freno seguido </a:t>
            </a:r>
            <a:r>
              <a:rPr lang="es-CO" b="1" dirty="0">
                <a:sym typeface="Wingdings" panose="05000000000000000000" pitchFamily="2" charset="2"/>
              </a:rPr>
              <a:t>  </a:t>
            </a:r>
            <a:r>
              <a:rPr lang="es-CO" b="1" dirty="0"/>
              <a:t>Freno corto</a:t>
            </a:r>
          </a:p>
          <a:p>
            <a:r>
              <a:rPr lang="es-CO" b="1" dirty="0"/>
              <a:t>Freno menos seguido </a:t>
            </a:r>
            <a:r>
              <a:rPr lang="es-CO" b="1" dirty="0">
                <a:sym typeface="Wingdings" panose="05000000000000000000" pitchFamily="2" charset="2"/>
              </a:rPr>
              <a:t>  </a:t>
            </a:r>
            <a:r>
              <a:rPr lang="es-CO" b="1" dirty="0"/>
              <a:t>Freno largo</a:t>
            </a:r>
          </a:p>
          <a:p>
            <a:endParaRPr lang="es-CO" b="1" dirty="0"/>
          </a:p>
          <a:p>
            <a:pPr marL="285750" indent="-285750">
              <a:buFont typeface="Wingdings" panose="05000000000000000000" pitchFamily="2" charset="2"/>
              <a:buChar char="§"/>
            </a:pPr>
            <a:endParaRPr lang="es-CO" sz="1600" dirty="0"/>
          </a:p>
          <a:p>
            <a:pPr marL="285750" indent="-285750">
              <a:buFont typeface="Wingdings" panose="05000000000000000000" pitchFamily="2" charset="2"/>
              <a:buChar char="§"/>
            </a:pPr>
            <a:r>
              <a:rPr lang="es-CO" sz="1600" dirty="0"/>
              <a:t>No aparece ningún patrón claro aquí entre hombres y mujeres.</a:t>
            </a:r>
          </a:p>
          <a:p>
            <a:pPr marL="285750" indent="-285750">
              <a:buFont typeface="Wingdings" panose="05000000000000000000" pitchFamily="2" charset="2"/>
              <a:buChar char="§"/>
            </a:pPr>
            <a:endParaRPr lang="es-CO" sz="1600" dirty="0"/>
          </a:p>
          <a:p>
            <a:pPr marL="285750" indent="-285750">
              <a:buFont typeface="Wingdings" panose="05000000000000000000" pitchFamily="2" charset="2"/>
              <a:buChar char="§"/>
            </a:pPr>
            <a:r>
              <a:rPr lang="es-CO" sz="1600" dirty="0"/>
              <a:t>Entonces revisamos el ID de cada conductor.</a:t>
            </a:r>
          </a:p>
        </p:txBody>
      </p:sp>
      <p:pic>
        <p:nvPicPr>
          <p:cNvPr id="10" name="Picture 9">
            <a:extLst>
              <a:ext uri="{FF2B5EF4-FFF2-40B4-BE49-F238E27FC236}">
                <a16:creationId xmlns:a16="http://schemas.microsoft.com/office/drawing/2014/main" id="{3CCBB73A-1BE6-4D26-A2EF-B39BD9CA319A}"/>
              </a:ext>
            </a:extLst>
          </p:cNvPr>
          <p:cNvPicPr>
            <a:picLocks noChangeAspect="1"/>
          </p:cNvPicPr>
          <p:nvPr/>
        </p:nvPicPr>
        <p:blipFill>
          <a:blip r:embed="rId3"/>
          <a:stretch>
            <a:fillRect/>
          </a:stretch>
        </p:blipFill>
        <p:spPr>
          <a:xfrm>
            <a:off x="6316825" y="2075740"/>
            <a:ext cx="4719475" cy="4512566"/>
          </a:xfrm>
          <a:prstGeom prst="rect">
            <a:avLst/>
          </a:prstGeom>
        </p:spPr>
      </p:pic>
      <p:sp>
        <p:nvSpPr>
          <p:cNvPr id="3" name="Slide Number Placeholder 2">
            <a:extLst>
              <a:ext uri="{FF2B5EF4-FFF2-40B4-BE49-F238E27FC236}">
                <a16:creationId xmlns:a16="http://schemas.microsoft.com/office/drawing/2014/main" id="{ED8C77A7-BC58-4666-94EB-6BEB8FC94261}"/>
              </a:ext>
            </a:extLst>
          </p:cNvPr>
          <p:cNvSpPr>
            <a:spLocks noGrp="1"/>
          </p:cNvSpPr>
          <p:nvPr>
            <p:ph type="sldNum" sz="quarter" idx="12"/>
          </p:nvPr>
        </p:nvSpPr>
        <p:spPr/>
        <p:txBody>
          <a:bodyPr/>
          <a:lstStyle/>
          <a:p>
            <a:fld id="{00670DA0-C7A9-4FF5-B8FB-4DCD6DFD0B70}" type="slidenum">
              <a:rPr lang="es-CO" smtClean="0"/>
              <a:t>23</a:t>
            </a:fld>
            <a:endParaRPr lang="es-CO"/>
          </a:p>
        </p:txBody>
      </p:sp>
      <p:pic>
        <p:nvPicPr>
          <p:cNvPr id="11" name="Picture 10">
            <a:extLst>
              <a:ext uri="{FF2B5EF4-FFF2-40B4-BE49-F238E27FC236}">
                <a16:creationId xmlns:a16="http://schemas.microsoft.com/office/drawing/2014/main" id="{5B070A38-C4E0-44AC-AABB-CDEAAE9E030E}"/>
              </a:ext>
            </a:extLst>
          </p:cNvPr>
          <p:cNvPicPr>
            <a:picLocks noChangeAspect="1"/>
          </p:cNvPicPr>
          <p:nvPr/>
        </p:nvPicPr>
        <p:blipFill rotWithShape="1">
          <a:blip r:embed="rId4"/>
          <a:srcRect l="31719" r="29297"/>
          <a:stretch/>
        </p:blipFill>
        <p:spPr>
          <a:xfrm>
            <a:off x="6536199" y="2260600"/>
            <a:ext cx="4500101" cy="4355154"/>
          </a:xfrm>
          <a:prstGeom prst="rect">
            <a:avLst/>
          </a:prstGeom>
        </p:spPr>
      </p:pic>
    </p:spTree>
    <p:extLst>
      <p:ext uri="{BB962C8B-B14F-4D97-AF65-F5344CB8AC3E}">
        <p14:creationId xmlns:p14="http://schemas.microsoft.com/office/powerpoint/2010/main" val="46618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7" end="7"/>
                                            </p:txEl>
                                          </p:spTgt>
                                        </p:tgtEl>
                                        <p:attrNameLst>
                                          <p:attrName>style.visibility</p:attrName>
                                        </p:attrNameLst>
                                      </p:cBhvr>
                                      <p:to>
                                        <p:strVal val="visible"/>
                                      </p:to>
                                    </p:set>
                                    <p:animEffect transition="in" filter="fade">
                                      <p:cBhvr>
                                        <p:cTn id="10"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DAA5-BF80-4940-8F72-9D8583F487E3}"/>
              </a:ext>
            </a:extLst>
          </p:cNvPr>
          <p:cNvSpPr>
            <a:spLocks noGrp="1"/>
          </p:cNvSpPr>
          <p:nvPr>
            <p:ph type="title"/>
          </p:nvPr>
        </p:nvSpPr>
        <p:spPr/>
        <p:txBody>
          <a:bodyPr/>
          <a:lstStyle/>
          <a:p>
            <a:r>
              <a:rPr lang="es-CO" dirty="0"/>
              <a:t>(DES)Aceleraciones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F35975-6C51-4988-9C7A-B27777D01278}"/>
                  </a:ext>
                </a:extLst>
              </p:cNvPr>
              <p:cNvSpPr>
                <a:spLocks noGrp="1"/>
              </p:cNvSpPr>
              <p:nvPr>
                <p:ph idx="1"/>
              </p:nvPr>
            </p:nvSpPr>
            <p:spPr>
              <a:xfrm>
                <a:off x="838200" y="1825625"/>
                <a:ext cx="5915025" cy="4351338"/>
              </a:xfrm>
            </p:spPr>
            <p:txBody>
              <a:bodyPr>
                <a:normAutofit/>
              </a:bodyPr>
              <a:lstStyle/>
              <a:p>
                <a:r>
                  <a:rPr lang="es-CO" sz="1400" dirty="0"/>
                  <a:t>Calculamos  la </a:t>
                </a:r>
                <a14:m>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𝜎</m:t>
                        </m:r>
                      </m:e>
                      <m:sub>
                        <m:r>
                          <a:rPr lang="es-ES" sz="1400" b="0" i="1" smtClean="0">
                            <a:latin typeface="Cambria Math" panose="02040503050406030204" pitchFamily="18" charset="0"/>
                          </a:rPr>
                          <m:t>𝑙</m:t>
                        </m:r>
                      </m:sub>
                    </m:sSub>
                  </m:oMath>
                </a14:m>
                <a:r>
                  <a:rPr lang="es-CO" sz="1400" dirty="0"/>
                  <a:t> de un conductor y la dividimos ente la </a:t>
                </a:r>
                <a14:m>
                  <m:oMath xmlns:m="http://schemas.openxmlformats.org/officeDocument/2006/math">
                    <m:sSub>
                      <m:sSubPr>
                        <m:ctrlPr>
                          <a:rPr lang="es-ES" sz="1400" b="0" i="1" dirty="0" smtClean="0">
                            <a:latin typeface="Cambria Math" panose="02040503050406030204" pitchFamily="18" charset="0"/>
                          </a:rPr>
                        </m:ctrlPr>
                      </m:sSubPr>
                      <m:e>
                        <m:acc>
                          <m:accPr>
                            <m:chr m:val="̅"/>
                            <m:ctrlPr>
                              <a:rPr lang="es-ES" sz="1400" i="1" smtClean="0">
                                <a:latin typeface="Cambria Math" panose="02040503050406030204" pitchFamily="18" charset="0"/>
                              </a:rPr>
                            </m:ctrlPr>
                          </m:accPr>
                          <m:e>
                            <m:r>
                              <a:rPr lang="es-ES" sz="1400" b="0" i="1">
                                <a:latin typeface="Cambria Math" panose="02040503050406030204" pitchFamily="18" charset="0"/>
                              </a:rPr>
                              <m:t>𝜎</m:t>
                            </m:r>
                          </m:e>
                        </m:acc>
                      </m:e>
                      <m:sub>
                        <m:r>
                          <m:rPr>
                            <m:sty m:val="p"/>
                          </m:rPr>
                          <a:rPr lang="es-ES" sz="1400" b="0" i="0" dirty="0" smtClean="0">
                            <a:latin typeface="Cambria Math" panose="02040503050406030204" pitchFamily="18" charset="0"/>
                          </a:rPr>
                          <m:t>rnd</m:t>
                        </m:r>
                      </m:sub>
                    </m:sSub>
                  </m:oMath>
                </a14:m>
                <a:r>
                  <a:rPr lang="es-CO" sz="1400" dirty="0"/>
                  <a:t> de un conjunto de datos aleatorios.</a:t>
                </a:r>
              </a:p>
              <a:p>
                <a:endParaRPr lang="es-CO" sz="1400" dirty="0"/>
              </a:p>
              <a:p>
                <a:r>
                  <a:rPr lang="es-CO" sz="1400" dirty="0"/>
                  <a:t>El 77% de los conductores tiene menor varianza que un conjunto aleatorio.</a:t>
                </a:r>
              </a:p>
              <a:p>
                <a:endParaRPr lang="es-CO" sz="1400" dirty="0"/>
              </a:p>
              <a:p>
                <a:r>
                  <a:rPr lang="es-CO" sz="1400" dirty="0"/>
                  <a:t>Los clúster Duración de frenadas vs frenadas/km se explican por los </a:t>
                </a:r>
                <a:r>
                  <a:rPr lang="es-CO" sz="1400" dirty="0" err="1"/>
                  <a:t>IDs</a:t>
                </a:r>
                <a:r>
                  <a:rPr lang="es-CO" sz="1400" dirty="0"/>
                  <a:t> de los conductores, más que por sexo, horario, ruta o bus.</a:t>
                </a:r>
              </a:p>
              <a:p>
                <a:r>
                  <a:rPr lang="es-CO" sz="1400" b="1" dirty="0"/>
                  <a:t>Es decir, la forma de frenar (y acelerar) es una especie de huella digital de los conductores.</a:t>
                </a:r>
              </a:p>
            </p:txBody>
          </p:sp>
        </mc:Choice>
        <mc:Fallback xmlns="">
          <p:sp>
            <p:nvSpPr>
              <p:cNvPr id="3" name="Content Placeholder 2">
                <a:extLst>
                  <a:ext uri="{FF2B5EF4-FFF2-40B4-BE49-F238E27FC236}">
                    <a16:creationId xmlns:a16="http://schemas.microsoft.com/office/drawing/2014/main" id="{1CF35975-6C51-4988-9C7A-B27777D01278}"/>
                  </a:ext>
                </a:extLst>
              </p:cNvPr>
              <p:cNvSpPr>
                <a:spLocks noGrp="1" noRot="1" noChangeAspect="1" noMove="1" noResize="1" noEditPoints="1" noAdjustHandles="1" noChangeArrowheads="1" noChangeShapeType="1" noTextEdit="1"/>
              </p:cNvSpPr>
              <p:nvPr>
                <p:ph idx="1"/>
              </p:nvPr>
            </p:nvSpPr>
            <p:spPr>
              <a:xfrm>
                <a:off x="838200" y="1825625"/>
                <a:ext cx="5915025" cy="4351338"/>
              </a:xfrm>
              <a:blipFill>
                <a:blip r:embed="rId3"/>
                <a:stretch>
                  <a:fillRect r="-928"/>
                </a:stretch>
              </a:blipFill>
            </p:spPr>
            <p:txBody>
              <a:bodyPr/>
              <a:lstStyle/>
              <a:p>
                <a:r>
                  <a:rPr lang="es-CO">
                    <a:noFill/>
                  </a:rPr>
                  <a:t> </a:t>
                </a:r>
              </a:p>
            </p:txBody>
          </p:sp>
        </mc:Fallback>
      </mc:AlternateContent>
      <p:pic>
        <p:nvPicPr>
          <p:cNvPr id="5" name="Picture 4">
            <a:extLst>
              <a:ext uri="{FF2B5EF4-FFF2-40B4-BE49-F238E27FC236}">
                <a16:creationId xmlns:a16="http://schemas.microsoft.com/office/drawing/2014/main" id="{44C87C73-C371-428E-BD11-252D091E6913}"/>
              </a:ext>
            </a:extLst>
          </p:cNvPr>
          <p:cNvPicPr>
            <a:picLocks noChangeAspect="1"/>
          </p:cNvPicPr>
          <p:nvPr/>
        </p:nvPicPr>
        <p:blipFill rotWithShape="1">
          <a:blip r:embed="rId4"/>
          <a:srcRect l="31953" r="30078"/>
          <a:stretch/>
        </p:blipFill>
        <p:spPr>
          <a:xfrm>
            <a:off x="6896100" y="1940082"/>
            <a:ext cx="4379024" cy="4351338"/>
          </a:xfrm>
          <a:prstGeom prst="rect">
            <a:avLst/>
          </a:prstGeom>
        </p:spPr>
      </p:pic>
      <p:sp>
        <p:nvSpPr>
          <p:cNvPr id="4" name="Slide Number Placeholder 3">
            <a:extLst>
              <a:ext uri="{FF2B5EF4-FFF2-40B4-BE49-F238E27FC236}">
                <a16:creationId xmlns:a16="http://schemas.microsoft.com/office/drawing/2014/main" id="{3C7E1A5B-C8B1-4F69-82CF-6910698EBAF7}"/>
              </a:ext>
            </a:extLst>
          </p:cNvPr>
          <p:cNvSpPr>
            <a:spLocks noGrp="1"/>
          </p:cNvSpPr>
          <p:nvPr>
            <p:ph type="sldNum" sz="quarter" idx="12"/>
          </p:nvPr>
        </p:nvSpPr>
        <p:spPr/>
        <p:txBody>
          <a:bodyPr/>
          <a:lstStyle/>
          <a:p>
            <a:fld id="{00670DA0-C7A9-4FF5-B8FB-4DCD6DFD0B70}" type="slidenum">
              <a:rPr lang="es-CO" smtClean="0"/>
              <a:t>24</a:t>
            </a:fld>
            <a:endParaRPr lang="es-CO"/>
          </a:p>
        </p:txBody>
      </p:sp>
      <p:sp>
        <p:nvSpPr>
          <p:cNvPr id="6" name="Arc 5">
            <a:extLst>
              <a:ext uri="{FF2B5EF4-FFF2-40B4-BE49-F238E27FC236}">
                <a16:creationId xmlns:a16="http://schemas.microsoft.com/office/drawing/2014/main" id="{3EC3D317-8319-43F6-9136-42120AD998E4}"/>
              </a:ext>
            </a:extLst>
          </p:cNvPr>
          <p:cNvSpPr/>
          <p:nvPr/>
        </p:nvSpPr>
        <p:spPr>
          <a:xfrm rot="16953947">
            <a:off x="7015864" y="1606276"/>
            <a:ext cx="1758417" cy="2609599"/>
          </a:xfrm>
          <a:prstGeom prst="arc">
            <a:avLst/>
          </a:pr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s-CO"/>
          </a:p>
        </p:txBody>
      </p:sp>
      <p:sp>
        <p:nvSpPr>
          <p:cNvPr id="10" name="TextBox 9">
            <a:extLst>
              <a:ext uri="{FF2B5EF4-FFF2-40B4-BE49-F238E27FC236}">
                <a16:creationId xmlns:a16="http://schemas.microsoft.com/office/drawing/2014/main" id="{159FF721-1CAE-4904-8B84-EA98937E9B3D}"/>
              </a:ext>
            </a:extLst>
          </p:cNvPr>
          <p:cNvSpPr txBox="1"/>
          <p:nvPr/>
        </p:nvSpPr>
        <p:spPr>
          <a:xfrm>
            <a:off x="7835899" y="6160915"/>
            <a:ext cx="3048000" cy="307777"/>
          </a:xfrm>
          <a:prstGeom prst="rect">
            <a:avLst/>
          </a:prstGeom>
          <a:noFill/>
        </p:spPr>
        <p:txBody>
          <a:bodyPr wrap="square">
            <a:spAutoFit/>
          </a:bodyPr>
          <a:lstStyle/>
          <a:p>
            <a:pPr algn="ctr"/>
            <a:r>
              <a:rPr lang="es-CO" sz="1400" dirty="0"/>
              <a:t>Cada punto es un Conductor</a:t>
            </a:r>
          </a:p>
        </p:txBody>
      </p:sp>
    </p:spTree>
    <p:extLst>
      <p:ext uri="{BB962C8B-B14F-4D97-AF65-F5344CB8AC3E}">
        <p14:creationId xmlns:p14="http://schemas.microsoft.com/office/powerpoint/2010/main" val="308312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accent1"/>
                </a:solidFill>
              </a:rPr>
              <a:t>ACELERACIÓN		</a:t>
            </a:r>
            <a:r>
              <a:rPr lang="es-CO" dirty="0"/>
              <a:t>RIESGO EN CURVA</a:t>
            </a:r>
            <a:r>
              <a:rPr lang="es-CO" dirty="0">
                <a:solidFill>
                  <a:schemeClr val="accent1"/>
                </a:solidFill>
              </a:rPr>
              <a:t>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25</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5588000" y="4355800"/>
            <a:ext cx="2838450" cy="369332"/>
          </a:xfrm>
          <a:prstGeom prst="rect">
            <a:avLst/>
          </a:prstGeom>
          <a:noFill/>
        </p:spPr>
        <p:txBody>
          <a:bodyPr wrap="square" rtlCol="0">
            <a:spAutoFit/>
          </a:bodyPr>
          <a:lstStyle/>
          <a:p>
            <a:pPr marL="285750" indent="-285750">
              <a:buFontTx/>
              <a:buChar char="-"/>
            </a:pPr>
            <a:r>
              <a:rPr lang="es-CO" dirty="0"/>
              <a:t>Aceleración centrípeta</a:t>
            </a:r>
          </a:p>
        </p:txBody>
      </p:sp>
    </p:spTree>
    <p:extLst>
      <p:ext uri="{BB962C8B-B14F-4D97-AF65-F5344CB8AC3E}">
        <p14:creationId xmlns:p14="http://schemas.microsoft.com/office/powerpoint/2010/main" val="126988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riesgo en curva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6"/>
                <a:ext cx="4802465" cy="3678303"/>
              </a:xfrm>
            </p:spPr>
            <p:txBody>
              <a:bodyPr/>
              <a:lstStyle/>
              <a:p>
                <a:r>
                  <a:rPr lang="es-CO" dirty="0"/>
                  <a:t>Filtro Kalman y detección de curvas</a:t>
                </a:r>
              </a:p>
              <a:p>
                <a:r>
                  <a:rPr lang="es-CO" dirty="0"/>
                  <a:t>Cada curva tiene </a:t>
                </a:r>
              </a:p>
              <a:p>
                <a:pPr lvl="1"/>
                <a:r>
                  <a:rPr lang="es-CO" dirty="0"/>
                  <a:t>Velocidad promedio (</a:t>
                </a:r>
                <a14:m>
                  <m:oMath xmlns:m="http://schemas.openxmlformats.org/officeDocument/2006/math">
                    <m:r>
                      <a:rPr lang="es-ES" b="0" i="1" smtClean="0">
                        <a:latin typeface="Cambria Math" panose="02040503050406030204" pitchFamily="18" charset="0"/>
                      </a:rPr>
                      <m:t>𝑣</m:t>
                    </m:r>
                  </m:oMath>
                </a14:m>
                <a:r>
                  <a:rPr lang="es-CO" dirty="0"/>
                  <a:t>).</a:t>
                </a:r>
              </a:p>
              <a:p>
                <a:pPr lvl="1"/>
                <a:r>
                  <a:rPr lang="es-CO" dirty="0"/>
                  <a:t>Radio de curvatura (</a:t>
                </a:r>
                <a14:m>
                  <m:oMath xmlns:m="http://schemas.openxmlformats.org/officeDocument/2006/math">
                    <m:r>
                      <a:rPr lang="es-ES" b="0" i="1" smtClean="0">
                        <a:latin typeface="Cambria Math" panose="02040503050406030204" pitchFamily="18" charset="0"/>
                      </a:rPr>
                      <m:t>𝑟</m:t>
                    </m:r>
                  </m:oMath>
                </a14:m>
                <a:r>
                  <a:rPr lang="es-CO" dirty="0"/>
                  <a:t>).</a:t>
                </a:r>
              </a:p>
              <a:p>
                <a:r>
                  <a:rPr lang="es-CO" dirty="0"/>
                  <a:t>El riesgo aumenta con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𝑣</m:t>
                        </m:r>
                      </m:e>
                      <m:sup>
                        <m:r>
                          <a:rPr lang="es-ES" b="0" i="1" smtClean="0">
                            <a:latin typeface="Cambria Math" panose="02040503050406030204" pitchFamily="18" charset="0"/>
                          </a:rPr>
                          <m:t>2</m:t>
                        </m:r>
                      </m:sup>
                    </m:sSup>
                  </m:oMath>
                </a14:m>
                <a:r>
                  <a:rPr lang="es-CO" dirty="0"/>
                  <a:t> y disminuye con </a:t>
                </a:r>
                <a14:m>
                  <m:oMath xmlns:m="http://schemas.openxmlformats.org/officeDocument/2006/math">
                    <m:r>
                      <a:rPr lang="es-ES" b="0" i="1" smtClean="0">
                        <a:latin typeface="Cambria Math" panose="02040503050406030204" pitchFamily="18" charset="0"/>
                      </a:rPr>
                      <m:t>𝑟</m:t>
                    </m:r>
                  </m:oMath>
                </a14:m>
                <a:r>
                  <a:rPr lang="es-CO" dirty="0"/>
                  <a:t>.</a:t>
                </a:r>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𝑐</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𝑣</m:t>
                            </m:r>
                          </m:e>
                          <m:sup>
                            <m:r>
                              <a:rPr lang="es-ES" b="0" i="1" smtClean="0">
                                <a:latin typeface="Cambria Math" panose="02040503050406030204" pitchFamily="18" charset="0"/>
                              </a:rPr>
                              <m:t>2</m:t>
                            </m:r>
                          </m:sup>
                        </m:sSup>
                      </m:num>
                      <m:den>
                        <m:r>
                          <a:rPr lang="es-ES" b="0" i="1" smtClean="0">
                            <a:latin typeface="Cambria Math" panose="02040503050406030204" pitchFamily="18" charset="0"/>
                          </a:rPr>
                          <m:t>𝑟</m:t>
                        </m:r>
                      </m:den>
                    </m:f>
                    <m:r>
                      <a:rPr lang="es-ES" b="0" i="1" smtClean="0">
                        <a:latin typeface="Cambria Math" panose="02040503050406030204" pitchFamily="18" charset="0"/>
                      </a:rPr>
                      <m:t>→</m:t>
                    </m:r>
                  </m:oMath>
                </a14:m>
                <a:r>
                  <a:rPr lang="es-CO" dirty="0"/>
                  <a:t> Ac. centrípeta.</a:t>
                </a:r>
              </a:p>
            </p:txBody>
          </p:sp>
        </mc:Choice>
        <mc:Fallback xmlns="">
          <p:sp>
            <p:nvSpPr>
              <p:cNvPr id="3" name="Content Placeholder 2">
                <a:extLst>
                  <a:ext uri="{FF2B5EF4-FFF2-40B4-BE49-F238E27FC236}">
                    <a16:creationId xmlns:a16="http://schemas.microsoft.com/office/drawing/2014/main" id="{A1EDCD10-ECC8-499D-991E-E182801CE986}"/>
                  </a:ext>
                </a:extLst>
              </p:cNvPr>
              <p:cNvSpPr>
                <a:spLocks noGrp="1" noRot="1" noChangeAspect="1" noMove="1" noResize="1" noEditPoints="1" noAdjustHandles="1" noChangeArrowheads="1" noChangeShapeType="1" noTextEdit="1"/>
              </p:cNvSpPr>
              <p:nvPr>
                <p:ph idx="1"/>
              </p:nvPr>
            </p:nvSpPr>
            <p:spPr>
              <a:xfrm>
                <a:off x="581192" y="2180496"/>
                <a:ext cx="4802465" cy="3678303"/>
              </a:xfrm>
              <a:blipFill>
                <a:blip r:embed="rId2"/>
                <a:stretch>
                  <a:fillRect l="-508"/>
                </a:stretch>
              </a:blipFill>
            </p:spPr>
            <p:txBody>
              <a:bodyPr/>
              <a:lstStyle/>
              <a:p>
                <a:r>
                  <a:rPr lang="es-CO">
                    <a:noFill/>
                  </a:rPr>
                  <a:t> </a:t>
                </a:r>
              </a:p>
            </p:txBody>
          </p:sp>
        </mc:Fallback>
      </mc:AlternateContent>
      <p:sp>
        <p:nvSpPr>
          <p:cNvPr id="4" name="Slide Number Placeholder 3">
            <a:extLst>
              <a:ext uri="{FF2B5EF4-FFF2-40B4-BE49-F238E27FC236}">
                <a16:creationId xmlns:a16="http://schemas.microsoft.com/office/drawing/2014/main" id="{F894541C-5DBE-4C17-91D3-EE5A97532C2E}"/>
              </a:ext>
            </a:extLst>
          </p:cNvPr>
          <p:cNvSpPr>
            <a:spLocks noGrp="1"/>
          </p:cNvSpPr>
          <p:nvPr>
            <p:ph type="sldNum" sz="quarter" idx="12"/>
          </p:nvPr>
        </p:nvSpPr>
        <p:spPr/>
        <p:txBody>
          <a:bodyPr/>
          <a:lstStyle/>
          <a:p>
            <a:fld id="{00670DA0-C7A9-4FF5-B8FB-4DCD6DFD0B70}" type="slidenum">
              <a:rPr lang="es-CO" smtClean="0"/>
              <a:t>26</a:t>
            </a:fld>
            <a:endParaRPr lang="es-CO"/>
          </a:p>
        </p:txBody>
      </p:sp>
      <p:pic>
        <p:nvPicPr>
          <p:cNvPr id="5" name="Picture 4">
            <a:extLst>
              <a:ext uri="{FF2B5EF4-FFF2-40B4-BE49-F238E27FC236}">
                <a16:creationId xmlns:a16="http://schemas.microsoft.com/office/drawing/2014/main" id="{D427BA5E-72DA-4CD0-8042-15D16C232DE5}"/>
              </a:ext>
            </a:extLst>
          </p:cNvPr>
          <p:cNvPicPr>
            <a:picLocks noChangeAspect="1"/>
          </p:cNvPicPr>
          <p:nvPr/>
        </p:nvPicPr>
        <p:blipFill>
          <a:blip r:embed="rId3"/>
          <a:stretch>
            <a:fillRect/>
          </a:stretch>
        </p:blipFill>
        <p:spPr>
          <a:xfrm>
            <a:off x="5665303" y="2318164"/>
            <a:ext cx="5755926" cy="3402965"/>
          </a:xfrm>
          <a:prstGeom prst="rect">
            <a:avLst/>
          </a:prstGeom>
        </p:spPr>
      </p:pic>
    </p:spTree>
    <p:extLst>
      <p:ext uri="{BB962C8B-B14F-4D97-AF65-F5344CB8AC3E}">
        <p14:creationId xmlns:p14="http://schemas.microsoft.com/office/powerpoint/2010/main" val="1296605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5512-7946-4047-A1D7-53A8399D4DFB}"/>
              </a:ext>
            </a:extLst>
          </p:cNvPr>
          <p:cNvSpPr>
            <a:spLocks noGrp="1"/>
          </p:cNvSpPr>
          <p:nvPr>
            <p:ph type="title"/>
          </p:nvPr>
        </p:nvSpPr>
        <p:spPr/>
        <p:txBody>
          <a:bodyPr/>
          <a:lstStyle/>
          <a:p>
            <a:r>
              <a:rPr lang="es-CO" dirty="0"/>
              <a:t>Riesgo en curva</a:t>
            </a:r>
          </a:p>
        </p:txBody>
      </p:sp>
      <p:sp>
        <p:nvSpPr>
          <p:cNvPr id="3" name="Content Placeholder 2">
            <a:extLst>
              <a:ext uri="{FF2B5EF4-FFF2-40B4-BE49-F238E27FC236}">
                <a16:creationId xmlns:a16="http://schemas.microsoft.com/office/drawing/2014/main" id="{2621EB15-0F81-4D7D-863A-9987161CDC7F}"/>
              </a:ext>
            </a:extLst>
          </p:cNvPr>
          <p:cNvSpPr>
            <a:spLocks noGrp="1"/>
          </p:cNvSpPr>
          <p:nvPr>
            <p:ph idx="1"/>
          </p:nvPr>
        </p:nvSpPr>
        <p:spPr>
          <a:xfrm>
            <a:off x="838200" y="1825625"/>
            <a:ext cx="3365500" cy="4351338"/>
          </a:xfrm>
        </p:spPr>
        <p:txBody>
          <a:bodyPr/>
          <a:lstStyle/>
          <a:p>
            <a:r>
              <a:rPr lang="es-CO" dirty="0"/>
              <a:t>Correlación (obvia) con indicadores de velocidad</a:t>
            </a:r>
          </a:p>
          <a:p>
            <a:r>
              <a:rPr lang="es-CO" dirty="0"/>
              <a:t>No se ven diferencias significativas entre sexos</a:t>
            </a:r>
          </a:p>
        </p:txBody>
      </p:sp>
      <p:pic>
        <p:nvPicPr>
          <p:cNvPr id="5" name="Picture 4">
            <a:extLst>
              <a:ext uri="{FF2B5EF4-FFF2-40B4-BE49-F238E27FC236}">
                <a16:creationId xmlns:a16="http://schemas.microsoft.com/office/drawing/2014/main" id="{4BC4A89A-0215-4040-9B88-BF8727CBA120}"/>
              </a:ext>
            </a:extLst>
          </p:cNvPr>
          <p:cNvPicPr>
            <a:picLocks noChangeAspect="1"/>
          </p:cNvPicPr>
          <p:nvPr/>
        </p:nvPicPr>
        <p:blipFill rotWithShape="1">
          <a:blip r:embed="rId2"/>
          <a:srcRect l="8267" r="7601"/>
          <a:stretch/>
        </p:blipFill>
        <p:spPr>
          <a:xfrm>
            <a:off x="4089115" y="2102197"/>
            <a:ext cx="7377855" cy="4219066"/>
          </a:xfrm>
          <a:prstGeom prst="rect">
            <a:avLst/>
          </a:prstGeom>
        </p:spPr>
      </p:pic>
      <p:sp>
        <p:nvSpPr>
          <p:cNvPr id="4" name="Slide Number Placeholder 3">
            <a:extLst>
              <a:ext uri="{FF2B5EF4-FFF2-40B4-BE49-F238E27FC236}">
                <a16:creationId xmlns:a16="http://schemas.microsoft.com/office/drawing/2014/main" id="{F91CFA69-B89D-423A-A9B6-FBA4E5E48D1B}"/>
              </a:ext>
            </a:extLst>
          </p:cNvPr>
          <p:cNvSpPr>
            <a:spLocks noGrp="1"/>
          </p:cNvSpPr>
          <p:nvPr>
            <p:ph type="sldNum" sz="quarter" idx="12"/>
          </p:nvPr>
        </p:nvSpPr>
        <p:spPr/>
        <p:txBody>
          <a:bodyPr/>
          <a:lstStyle/>
          <a:p>
            <a:fld id="{00670DA0-C7A9-4FF5-B8FB-4DCD6DFD0B70}" type="slidenum">
              <a:rPr lang="es-CO" smtClean="0"/>
              <a:t>27</a:t>
            </a:fld>
            <a:endParaRPr lang="es-CO"/>
          </a:p>
        </p:txBody>
      </p:sp>
    </p:spTree>
    <p:extLst>
      <p:ext uri="{BB962C8B-B14F-4D97-AF65-F5344CB8AC3E}">
        <p14:creationId xmlns:p14="http://schemas.microsoft.com/office/powerpoint/2010/main" val="1538201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01B10-51BF-48BF-A3BD-CAE8964BC802}"/>
              </a:ext>
            </a:extLst>
          </p:cNvPr>
          <p:cNvSpPr>
            <a:spLocks noGrp="1"/>
          </p:cNvSpPr>
          <p:nvPr>
            <p:ph type="title"/>
          </p:nvPr>
        </p:nvSpPr>
        <p:spPr/>
        <p:txBody>
          <a:bodyPr/>
          <a:lstStyle/>
          <a:p>
            <a:r>
              <a:rPr lang="es-CO" dirty="0"/>
              <a:t>Riesgo en curva</a:t>
            </a:r>
          </a:p>
        </p:txBody>
      </p:sp>
      <p:sp>
        <p:nvSpPr>
          <p:cNvPr id="3" name="Content Placeholder 2">
            <a:extLst>
              <a:ext uri="{FF2B5EF4-FFF2-40B4-BE49-F238E27FC236}">
                <a16:creationId xmlns:a16="http://schemas.microsoft.com/office/drawing/2014/main" id="{178E408E-8AA6-4CE7-A3F2-16C9825DF1DE}"/>
              </a:ext>
            </a:extLst>
          </p:cNvPr>
          <p:cNvSpPr>
            <a:spLocks noGrp="1"/>
          </p:cNvSpPr>
          <p:nvPr>
            <p:ph idx="1"/>
          </p:nvPr>
        </p:nvSpPr>
        <p:spPr>
          <a:xfrm>
            <a:off x="581192" y="2180497"/>
            <a:ext cx="3076407" cy="3775640"/>
          </a:xfrm>
        </p:spPr>
        <p:txBody>
          <a:bodyPr/>
          <a:lstStyle/>
          <a:p>
            <a:pPr marL="0" indent="0">
              <a:buNone/>
            </a:pPr>
            <a:r>
              <a:rPr lang="es-CO" dirty="0"/>
              <a:t>Patrón general (H y M)</a:t>
            </a:r>
          </a:p>
          <a:p>
            <a:r>
              <a:rPr lang="es-CO" dirty="0"/>
              <a:t>Si acelero seguido, tengo menos riesgo en curva</a:t>
            </a:r>
          </a:p>
          <a:p>
            <a:r>
              <a:rPr lang="es-CO" dirty="0"/>
              <a:t>Si freno seguido tengo menos riesgo en curva</a:t>
            </a:r>
          </a:p>
        </p:txBody>
      </p:sp>
      <p:pic>
        <p:nvPicPr>
          <p:cNvPr id="7" name="Picture 6">
            <a:extLst>
              <a:ext uri="{FF2B5EF4-FFF2-40B4-BE49-F238E27FC236}">
                <a16:creationId xmlns:a16="http://schemas.microsoft.com/office/drawing/2014/main" id="{8FC389B6-C2E7-416E-9D80-C1F6A9A64FAF}"/>
              </a:ext>
            </a:extLst>
          </p:cNvPr>
          <p:cNvPicPr>
            <a:picLocks noChangeAspect="1"/>
          </p:cNvPicPr>
          <p:nvPr/>
        </p:nvPicPr>
        <p:blipFill>
          <a:blip r:embed="rId2"/>
          <a:stretch>
            <a:fillRect/>
          </a:stretch>
        </p:blipFill>
        <p:spPr>
          <a:xfrm>
            <a:off x="3302000" y="2058641"/>
            <a:ext cx="8890000" cy="3897495"/>
          </a:xfrm>
          <a:prstGeom prst="rect">
            <a:avLst/>
          </a:prstGeom>
        </p:spPr>
      </p:pic>
      <p:sp>
        <p:nvSpPr>
          <p:cNvPr id="4" name="Slide Number Placeholder 3">
            <a:extLst>
              <a:ext uri="{FF2B5EF4-FFF2-40B4-BE49-F238E27FC236}">
                <a16:creationId xmlns:a16="http://schemas.microsoft.com/office/drawing/2014/main" id="{1DBED596-ECFD-415D-A239-7CCEE017F1C4}"/>
              </a:ext>
            </a:extLst>
          </p:cNvPr>
          <p:cNvSpPr>
            <a:spLocks noGrp="1"/>
          </p:cNvSpPr>
          <p:nvPr>
            <p:ph type="sldNum" sz="quarter" idx="12"/>
          </p:nvPr>
        </p:nvSpPr>
        <p:spPr/>
        <p:txBody>
          <a:bodyPr/>
          <a:lstStyle/>
          <a:p>
            <a:fld id="{00670DA0-C7A9-4FF5-B8FB-4DCD6DFD0B70}" type="slidenum">
              <a:rPr lang="es-CO" smtClean="0"/>
              <a:t>28</a:t>
            </a:fld>
            <a:endParaRPr lang="es-CO"/>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EA32A3-1D40-4648-9365-30A96B72BA79}"/>
                  </a:ext>
                </a:extLst>
              </p:cNvPr>
              <p:cNvSpPr txBox="1"/>
              <p:nvPr/>
            </p:nvSpPr>
            <p:spPr>
              <a:xfrm>
                <a:off x="6438899" y="6138699"/>
                <a:ext cx="3048000" cy="307777"/>
              </a:xfrm>
              <a:prstGeom prst="rect">
                <a:avLst/>
              </a:prstGeom>
              <a:noFill/>
            </p:spPr>
            <p:txBody>
              <a:bodyPr wrap="square">
                <a:spAutoFit/>
              </a:bodyPr>
              <a:lstStyle/>
              <a:p>
                <a:pPr algn="ctr"/>
                <a14:m>
                  <m:oMath xmlns:m="http://schemas.openxmlformats.org/officeDocument/2006/math">
                    <m:r>
                      <a:rPr lang="es-ES" sz="1400" b="0" i="1" smtClean="0">
                        <a:latin typeface="Cambria Math" panose="02040503050406030204" pitchFamily="18" charset="0"/>
                      </a:rPr>
                      <m:t>𝜌</m:t>
                    </m:r>
                    <m:r>
                      <a:rPr lang="es-ES" sz="1400" b="0" i="1" smtClean="0">
                        <a:latin typeface="Cambria Math" panose="02040503050406030204" pitchFamily="18" charset="0"/>
                      </a:rPr>
                      <m:t>→</m:t>
                    </m:r>
                  </m:oMath>
                </a14:m>
                <a:r>
                  <a:rPr lang="es-CO" sz="1400" dirty="0"/>
                  <a:t> </a:t>
                </a:r>
                <a:r>
                  <a:rPr lang="es-CO" sz="1400" dirty="0" err="1"/>
                  <a:t>Coef</a:t>
                </a:r>
                <a:r>
                  <a:rPr lang="es-CO" sz="1400" dirty="0"/>
                  <a:t>. de correlación de Pearson</a:t>
                </a:r>
              </a:p>
            </p:txBody>
          </p:sp>
        </mc:Choice>
        <mc:Fallback xmlns="">
          <p:sp>
            <p:nvSpPr>
              <p:cNvPr id="6" name="TextBox 5">
                <a:extLst>
                  <a:ext uri="{FF2B5EF4-FFF2-40B4-BE49-F238E27FC236}">
                    <a16:creationId xmlns:a16="http://schemas.microsoft.com/office/drawing/2014/main" id="{CBEA32A3-1D40-4648-9365-30A96B72BA79}"/>
                  </a:ext>
                </a:extLst>
              </p:cNvPr>
              <p:cNvSpPr txBox="1">
                <a:spLocks noRot="1" noChangeAspect="1" noMove="1" noResize="1" noEditPoints="1" noAdjustHandles="1" noChangeArrowheads="1" noChangeShapeType="1" noTextEdit="1"/>
              </p:cNvSpPr>
              <p:nvPr/>
            </p:nvSpPr>
            <p:spPr>
              <a:xfrm>
                <a:off x="6438899" y="6138699"/>
                <a:ext cx="3048000" cy="307777"/>
              </a:xfrm>
              <a:prstGeom prst="rect">
                <a:avLst/>
              </a:prstGeom>
              <a:blipFill>
                <a:blip r:embed="rId3"/>
                <a:stretch>
                  <a:fillRect t="-4000" b="-22000"/>
                </a:stretch>
              </a:blipFill>
            </p:spPr>
            <p:txBody>
              <a:bodyPr/>
              <a:lstStyle/>
              <a:p>
                <a:r>
                  <a:rPr lang="es-CO">
                    <a:noFill/>
                  </a:rPr>
                  <a:t> </a:t>
                </a:r>
              </a:p>
            </p:txBody>
          </p:sp>
        </mc:Fallback>
      </mc:AlternateContent>
    </p:spTree>
    <p:extLst>
      <p:ext uri="{BB962C8B-B14F-4D97-AF65-F5344CB8AC3E}">
        <p14:creationId xmlns:p14="http://schemas.microsoft.com/office/powerpoint/2010/main" val="537718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accent1"/>
                </a:solidFill>
              </a:rPr>
              <a:t>ACELERACIÓN		RIESGO EN CURVA		</a:t>
            </a:r>
            <a:r>
              <a:rPr lang="es-CO" dirty="0"/>
              <a:t>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29</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382000" y="4352925"/>
            <a:ext cx="2838450" cy="646331"/>
          </a:xfrm>
          <a:prstGeom prst="rect">
            <a:avLst/>
          </a:prstGeom>
          <a:noFill/>
        </p:spPr>
        <p:txBody>
          <a:bodyPr wrap="square" rtlCol="0">
            <a:spAutoFit/>
          </a:bodyPr>
          <a:lstStyle/>
          <a:p>
            <a:pPr marL="285750" indent="-285750">
              <a:buFontTx/>
              <a:buChar char="-"/>
            </a:pPr>
            <a:r>
              <a:rPr lang="es-CO" dirty="0"/>
              <a:t>Consumo de la red</a:t>
            </a:r>
          </a:p>
          <a:p>
            <a:pPr marL="285750" indent="-285750">
              <a:buFontTx/>
              <a:buChar char="-"/>
            </a:pPr>
            <a:r>
              <a:rPr lang="es-CO" dirty="0"/>
              <a:t>Regeneración</a:t>
            </a:r>
          </a:p>
        </p:txBody>
      </p:sp>
    </p:spTree>
    <p:extLst>
      <p:ext uri="{BB962C8B-B14F-4D97-AF65-F5344CB8AC3E}">
        <p14:creationId xmlns:p14="http://schemas.microsoft.com/office/powerpoint/2010/main" val="2232652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B7DC-E44F-47FB-BF0A-9FF0A70AE8C1}"/>
              </a:ext>
            </a:extLst>
          </p:cNvPr>
          <p:cNvSpPr>
            <a:spLocks noGrp="1"/>
          </p:cNvSpPr>
          <p:nvPr>
            <p:ph type="title"/>
          </p:nvPr>
        </p:nvSpPr>
        <p:spPr/>
        <p:txBody>
          <a:bodyPr/>
          <a:lstStyle/>
          <a:p>
            <a:r>
              <a:rPr lang="es-CO" dirty="0"/>
              <a:t>Consumo de la red</a:t>
            </a:r>
          </a:p>
        </p:txBody>
      </p:sp>
      <p:sp>
        <p:nvSpPr>
          <p:cNvPr id="3" name="Content Placeholder 2">
            <a:extLst>
              <a:ext uri="{FF2B5EF4-FFF2-40B4-BE49-F238E27FC236}">
                <a16:creationId xmlns:a16="http://schemas.microsoft.com/office/drawing/2014/main" id="{128748F5-7F93-4327-956D-0D034A771280}"/>
              </a:ext>
            </a:extLst>
          </p:cNvPr>
          <p:cNvSpPr>
            <a:spLocks noGrp="1"/>
          </p:cNvSpPr>
          <p:nvPr>
            <p:ph idx="1"/>
          </p:nvPr>
        </p:nvSpPr>
        <p:spPr>
          <a:xfrm>
            <a:off x="581193" y="2180496"/>
            <a:ext cx="2733508" cy="3678303"/>
          </a:xfrm>
        </p:spPr>
        <p:txBody>
          <a:bodyPr/>
          <a:lstStyle/>
          <a:p>
            <a:r>
              <a:rPr lang="es-CO" dirty="0"/>
              <a:t>Hay pequeños picos cerca a las horas pico.</a:t>
            </a:r>
          </a:p>
        </p:txBody>
      </p:sp>
      <p:pic>
        <p:nvPicPr>
          <p:cNvPr id="5" name="Picture 4">
            <a:extLst>
              <a:ext uri="{FF2B5EF4-FFF2-40B4-BE49-F238E27FC236}">
                <a16:creationId xmlns:a16="http://schemas.microsoft.com/office/drawing/2014/main" id="{3D5AA0B6-9DC7-4C49-ABC2-8D047CF34AB6}"/>
              </a:ext>
            </a:extLst>
          </p:cNvPr>
          <p:cNvPicPr>
            <a:picLocks noChangeAspect="1"/>
          </p:cNvPicPr>
          <p:nvPr/>
        </p:nvPicPr>
        <p:blipFill rotWithShape="1">
          <a:blip r:embed="rId2"/>
          <a:srcRect l="6692" r="8108"/>
          <a:stretch/>
        </p:blipFill>
        <p:spPr>
          <a:xfrm>
            <a:off x="3314700" y="2180496"/>
            <a:ext cx="8407400" cy="4000500"/>
          </a:xfrm>
          <a:prstGeom prst="rect">
            <a:avLst/>
          </a:prstGeom>
        </p:spPr>
      </p:pic>
      <p:sp>
        <p:nvSpPr>
          <p:cNvPr id="4" name="Slide Number Placeholder 3">
            <a:extLst>
              <a:ext uri="{FF2B5EF4-FFF2-40B4-BE49-F238E27FC236}">
                <a16:creationId xmlns:a16="http://schemas.microsoft.com/office/drawing/2014/main" id="{ABA0214C-AE67-4C48-A2D9-421801A09624}"/>
              </a:ext>
            </a:extLst>
          </p:cNvPr>
          <p:cNvSpPr>
            <a:spLocks noGrp="1"/>
          </p:cNvSpPr>
          <p:nvPr>
            <p:ph type="sldNum" sz="quarter" idx="12"/>
          </p:nvPr>
        </p:nvSpPr>
        <p:spPr/>
        <p:txBody>
          <a:bodyPr/>
          <a:lstStyle/>
          <a:p>
            <a:fld id="{00670DA0-C7A9-4FF5-B8FB-4DCD6DFD0B70}" type="slidenum">
              <a:rPr lang="es-CO" smtClean="0"/>
              <a:t>30</a:t>
            </a:fld>
            <a:endParaRPr lang="es-CO"/>
          </a:p>
        </p:txBody>
      </p:sp>
    </p:spTree>
    <p:extLst>
      <p:ext uri="{BB962C8B-B14F-4D97-AF65-F5344CB8AC3E}">
        <p14:creationId xmlns:p14="http://schemas.microsoft.com/office/powerpoint/2010/main" val="2426596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69B1-3B38-4D6D-A140-C5E1C6E137E3}"/>
              </a:ext>
            </a:extLst>
          </p:cNvPr>
          <p:cNvSpPr>
            <a:spLocks noGrp="1"/>
          </p:cNvSpPr>
          <p:nvPr>
            <p:ph type="title"/>
          </p:nvPr>
        </p:nvSpPr>
        <p:spPr/>
        <p:txBody>
          <a:bodyPr/>
          <a:lstStyle/>
          <a:p>
            <a:r>
              <a:rPr lang="es-CO" dirty="0"/>
              <a:t>Energía total = consumo + regeneración</a:t>
            </a:r>
          </a:p>
        </p:txBody>
      </p:sp>
      <p:sp>
        <p:nvSpPr>
          <p:cNvPr id="6" name="Content Placeholder 5">
            <a:extLst>
              <a:ext uri="{FF2B5EF4-FFF2-40B4-BE49-F238E27FC236}">
                <a16:creationId xmlns:a16="http://schemas.microsoft.com/office/drawing/2014/main" id="{2E46A76F-7CB7-40BF-8114-F16C57732687}"/>
              </a:ext>
            </a:extLst>
          </p:cNvPr>
          <p:cNvSpPr>
            <a:spLocks noGrp="1"/>
          </p:cNvSpPr>
          <p:nvPr>
            <p:ph idx="1"/>
          </p:nvPr>
        </p:nvSpPr>
        <p:spPr/>
        <p:txBody>
          <a:bodyPr/>
          <a:lstStyle/>
          <a:p>
            <a:endParaRPr lang="es-CO"/>
          </a:p>
        </p:txBody>
      </p:sp>
      <p:pic>
        <p:nvPicPr>
          <p:cNvPr id="8" name="Picture 7">
            <a:extLst>
              <a:ext uri="{FF2B5EF4-FFF2-40B4-BE49-F238E27FC236}">
                <a16:creationId xmlns:a16="http://schemas.microsoft.com/office/drawing/2014/main" id="{A83BE3C1-7CD8-4DAA-AD17-AAE32182C22F}"/>
              </a:ext>
            </a:extLst>
          </p:cNvPr>
          <p:cNvPicPr>
            <a:picLocks noChangeAspect="1"/>
          </p:cNvPicPr>
          <p:nvPr/>
        </p:nvPicPr>
        <p:blipFill rotWithShape="1">
          <a:blip r:embed="rId2"/>
          <a:srcRect t="6929" r="51250"/>
          <a:stretch/>
        </p:blipFill>
        <p:spPr>
          <a:xfrm>
            <a:off x="0" y="2161540"/>
            <a:ext cx="5943600" cy="4467740"/>
          </a:xfrm>
          <a:prstGeom prst="rect">
            <a:avLst/>
          </a:prstGeom>
        </p:spPr>
      </p:pic>
      <p:sp>
        <p:nvSpPr>
          <p:cNvPr id="3" name="Slide Number Placeholder 2">
            <a:extLst>
              <a:ext uri="{FF2B5EF4-FFF2-40B4-BE49-F238E27FC236}">
                <a16:creationId xmlns:a16="http://schemas.microsoft.com/office/drawing/2014/main" id="{81272D6C-58F2-4641-B5D0-353E3C646932}"/>
              </a:ext>
            </a:extLst>
          </p:cNvPr>
          <p:cNvSpPr>
            <a:spLocks noGrp="1"/>
          </p:cNvSpPr>
          <p:nvPr>
            <p:ph type="sldNum" sz="quarter" idx="12"/>
          </p:nvPr>
        </p:nvSpPr>
        <p:spPr/>
        <p:txBody>
          <a:bodyPr/>
          <a:lstStyle/>
          <a:p>
            <a:fld id="{00670DA0-C7A9-4FF5-B8FB-4DCD6DFD0B70}" type="slidenum">
              <a:rPr lang="es-CO" smtClean="0"/>
              <a:t>31</a:t>
            </a:fld>
            <a:endParaRPr lang="es-CO"/>
          </a:p>
        </p:txBody>
      </p:sp>
      <p:pic>
        <p:nvPicPr>
          <p:cNvPr id="7" name="Picture 6">
            <a:extLst>
              <a:ext uri="{FF2B5EF4-FFF2-40B4-BE49-F238E27FC236}">
                <a16:creationId xmlns:a16="http://schemas.microsoft.com/office/drawing/2014/main" id="{08CB3C7B-000E-4F03-A653-9327F1333D5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828919"/>
            <a:ext cx="12192000" cy="4800361"/>
          </a:xfrm>
          <a:prstGeom prst="rect">
            <a:avLst/>
          </a:prstGeom>
          <a:solidFill>
            <a:schemeClr val="bg1"/>
          </a:solidFill>
        </p:spPr>
      </p:pic>
    </p:spTree>
    <p:extLst>
      <p:ext uri="{BB962C8B-B14F-4D97-AF65-F5344CB8AC3E}">
        <p14:creationId xmlns:p14="http://schemas.microsoft.com/office/powerpoint/2010/main" val="226710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5C49-6F13-4AC0-8622-76C77BCF0BFE}"/>
              </a:ext>
            </a:extLst>
          </p:cNvPr>
          <p:cNvSpPr>
            <a:spLocks noGrp="1"/>
          </p:cNvSpPr>
          <p:nvPr>
            <p:ph type="title"/>
          </p:nvPr>
        </p:nvSpPr>
        <p:spPr/>
        <p:txBody>
          <a:bodyPr/>
          <a:lstStyle/>
          <a:p>
            <a:r>
              <a:rPr lang="es-CO" dirty="0"/>
              <a:t>Energía total = consumo + regeneración</a:t>
            </a:r>
          </a:p>
        </p:txBody>
      </p:sp>
      <p:pic>
        <p:nvPicPr>
          <p:cNvPr id="12" name="Picture 11">
            <a:extLst>
              <a:ext uri="{FF2B5EF4-FFF2-40B4-BE49-F238E27FC236}">
                <a16:creationId xmlns:a16="http://schemas.microsoft.com/office/drawing/2014/main" id="{6F40BBFE-2DF2-4C7E-A536-0232CE8CF2F1}"/>
              </a:ext>
            </a:extLst>
          </p:cNvPr>
          <p:cNvPicPr>
            <a:picLocks noChangeAspect="1"/>
          </p:cNvPicPr>
          <p:nvPr/>
        </p:nvPicPr>
        <p:blipFill>
          <a:blip r:embed="rId2"/>
          <a:stretch>
            <a:fillRect/>
          </a:stretch>
        </p:blipFill>
        <p:spPr>
          <a:xfrm>
            <a:off x="0" y="1828800"/>
            <a:ext cx="12192000" cy="4800361"/>
          </a:xfrm>
          <a:prstGeom prst="rect">
            <a:avLst/>
          </a:prstGeom>
        </p:spPr>
      </p:pic>
      <p:pic>
        <p:nvPicPr>
          <p:cNvPr id="13" name="Picture 12">
            <a:extLst>
              <a:ext uri="{FF2B5EF4-FFF2-40B4-BE49-F238E27FC236}">
                <a16:creationId xmlns:a16="http://schemas.microsoft.com/office/drawing/2014/main" id="{82246F7B-6E59-458B-AB1E-0F109544C093}"/>
              </a:ext>
            </a:extLst>
          </p:cNvPr>
          <p:cNvPicPr>
            <a:picLocks noChangeAspect="1"/>
          </p:cNvPicPr>
          <p:nvPr/>
        </p:nvPicPr>
        <p:blipFill>
          <a:blip r:embed="rId3"/>
          <a:stretch>
            <a:fillRect/>
          </a:stretch>
        </p:blipFill>
        <p:spPr>
          <a:xfrm>
            <a:off x="0" y="1828800"/>
            <a:ext cx="12192000" cy="4800361"/>
          </a:xfrm>
          <a:prstGeom prst="rect">
            <a:avLst/>
          </a:prstGeom>
        </p:spPr>
      </p:pic>
      <p:pic>
        <p:nvPicPr>
          <p:cNvPr id="14" name="Picture 13">
            <a:extLst>
              <a:ext uri="{FF2B5EF4-FFF2-40B4-BE49-F238E27FC236}">
                <a16:creationId xmlns:a16="http://schemas.microsoft.com/office/drawing/2014/main" id="{906E6D83-DEC7-4BEF-83CD-59435BA3DDC0}"/>
              </a:ext>
            </a:extLst>
          </p:cNvPr>
          <p:cNvPicPr>
            <a:picLocks noChangeAspect="1"/>
          </p:cNvPicPr>
          <p:nvPr/>
        </p:nvPicPr>
        <p:blipFill>
          <a:blip r:embed="rId4"/>
          <a:stretch>
            <a:fillRect/>
          </a:stretch>
        </p:blipFill>
        <p:spPr>
          <a:xfrm>
            <a:off x="0" y="1828800"/>
            <a:ext cx="12192000" cy="4800361"/>
          </a:xfrm>
          <a:prstGeom prst="rect">
            <a:avLst/>
          </a:prstGeom>
        </p:spPr>
      </p:pic>
      <p:pic>
        <p:nvPicPr>
          <p:cNvPr id="15" name="Picture 14">
            <a:extLst>
              <a:ext uri="{FF2B5EF4-FFF2-40B4-BE49-F238E27FC236}">
                <a16:creationId xmlns:a16="http://schemas.microsoft.com/office/drawing/2014/main" id="{47CA6E76-C1BC-460B-AAAF-4864CA804648}"/>
              </a:ext>
            </a:extLst>
          </p:cNvPr>
          <p:cNvPicPr>
            <a:picLocks noChangeAspect="1"/>
          </p:cNvPicPr>
          <p:nvPr/>
        </p:nvPicPr>
        <p:blipFill rotWithShape="1">
          <a:blip r:embed="rId5"/>
          <a:srcRect t="92859"/>
          <a:stretch/>
        </p:blipFill>
        <p:spPr>
          <a:xfrm>
            <a:off x="0" y="6307416"/>
            <a:ext cx="12192000" cy="342780"/>
          </a:xfrm>
          <a:prstGeom prst="rect">
            <a:avLst/>
          </a:prstGeom>
        </p:spPr>
      </p:pic>
      <p:pic>
        <p:nvPicPr>
          <p:cNvPr id="16" name="Picture 15">
            <a:extLst>
              <a:ext uri="{FF2B5EF4-FFF2-40B4-BE49-F238E27FC236}">
                <a16:creationId xmlns:a16="http://schemas.microsoft.com/office/drawing/2014/main" id="{626249F4-9E79-4C36-9592-787DFFF16DF1}"/>
              </a:ext>
            </a:extLst>
          </p:cNvPr>
          <p:cNvPicPr>
            <a:picLocks noChangeAspect="1"/>
          </p:cNvPicPr>
          <p:nvPr/>
        </p:nvPicPr>
        <p:blipFill rotWithShape="1">
          <a:blip r:embed="rId5"/>
          <a:srcRect t="92859"/>
          <a:stretch/>
        </p:blipFill>
        <p:spPr>
          <a:xfrm>
            <a:off x="0" y="6307417"/>
            <a:ext cx="12192000" cy="342780"/>
          </a:xfrm>
          <a:prstGeom prst="rect">
            <a:avLst/>
          </a:prstGeom>
        </p:spPr>
      </p:pic>
      <p:sp>
        <p:nvSpPr>
          <p:cNvPr id="3" name="Slide Number Placeholder 2">
            <a:extLst>
              <a:ext uri="{FF2B5EF4-FFF2-40B4-BE49-F238E27FC236}">
                <a16:creationId xmlns:a16="http://schemas.microsoft.com/office/drawing/2014/main" id="{3C181C67-B7C5-4F3D-A3A9-71F39158FD1C}"/>
              </a:ext>
            </a:extLst>
          </p:cNvPr>
          <p:cNvSpPr>
            <a:spLocks noGrp="1"/>
          </p:cNvSpPr>
          <p:nvPr>
            <p:ph type="sldNum" sz="quarter" idx="12"/>
          </p:nvPr>
        </p:nvSpPr>
        <p:spPr/>
        <p:txBody>
          <a:bodyPr/>
          <a:lstStyle/>
          <a:p>
            <a:fld id="{00670DA0-C7A9-4FF5-B8FB-4DCD6DFD0B70}" type="slidenum">
              <a:rPr lang="es-CO" smtClean="0"/>
              <a:t>32</a:t>
            </a:fld>
            <a:endParaRPr lang="es-CO"/>
          </a:p>
        </p:txBody>
      </p:sp>
      <p:pic>
        <p:nvPicPr>
          <p:cNvPr id="10" name="Picture 9">
            <a:extLst>
              <a:ext uri="{FF2B5EF4-FFF2-40B4-BE49-F238E27FC236}">
                <a16:creationId xmlns:a16="http://schemas.microsoft.com/office/drawing/2014/main" id="{667A62BD-43EF-4FE4-B41C-6EF22A971F49}"/>
              </a:ext>
            </a:extLst>
          </p:cNvPr>
          <p:cNvPicPr>
            <a:picLocks noChangeAspect="1"/>
          </p:cNvPicPr>
          <p:nvPr/>
        </p:nvPicPr>
        <p:blipFill rotWithShape="1">
          <a:blip r:embed="rId5"/>
          <a:srcRect t="92859"/>
          <a:stretch/>
        </p:blipFill>
        <p:spPr>
          <a:xfrm>
            <a:off x="0" y="6321262"/>
            <a:ext cx="12192000" cy="342780"/>
          </a:xfrm>
          <a:prstGeom prst="rect">
            <a:avLst/>
          </a:prstGeom>
        </p:spPr>
      </p:pic>
    </p:spTree>
    <p:extLst>
      <p:ext uri="{BB962C8B-B14F-4D97-AF65-F5344CB8AC3E}">
        <p14:creationId xmlns:p14="http://schemas.microsoft.com/office/powerpoint/2010/main" val="386759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A43C0E4-F4E2-4188-A47A-0515E3C0965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828800"/>
            <a:ext cx="12192000" cy="4800361"/>
          </a:xfrm>
          <a:prstGeom prst="rect">
            <a:avLst/>
          </a:prstGeom>
        </p:spPr>
      </p:pic>
      <p:sp>
        <p:nvSpPr>
          <p:cNvPr id="2" name="Title 1">
            <a:extLst>
              <a:ext uri="{FF2B5EF4-FFF2-40B4-BE49-F238E27FC236}">
                <a16:creationId xmlns:a16="http://schemas.microsoft.com/office/drawing/2014/main" id="{6A628162-798A-4538-8A6C-FC1238C3186D}"/>
              </a:ext>
            </a:extLst>
          </p:cNvPr>
          <p:cNvSpPr>
            <a:spLocks noGrp="1"/>
          </p:cNvSpPr>
          <p:nvPr>
            <p:ph type="title"/>
          </p:nvPr>
        </p:nvSpPr>
        <p:spPr/>
        <p:txBody>
          <a:bodyPr/>
          <a:lstStyle/>
          <a:p>
            <a:r>
              <a:rPr lang="es-CO" dirty="0"/>
              <a:t>energía total</a:t>
            </a:r>
          </a:p>
        </p:txBody>
      </p:sp>
      <p:pic>
        <p:nvPicPr>
          <p:cNvPr id="4" name="Picture 3">
            <a:extLst>
              <a:ext uri="{FF2B5EF4-FFF2-40B4-BE49-F238E27FC236}">
                <a16:creationId xmlns:a16="http://schemas.microsoft.com/office/drawing/2014/main" id="{B0F6E321-5004-4873-9D00-C2380181A4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971"/>
          <a:stretch/>
        </p:blipFill>
        <p:spPr bwMode="auto">
          <a:xfrm>
            <a:off x="9000823" y="2585195"/>
            <a:ext cx="2692578" cy="13072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AA80F84-D3D9-4E53-B503-B89A505521BE}"/>
              </a:ext>
            </a:extLst>
          </p:cNvPr>
          <p:cNvPicPr>
            <a:picLocks noChangeAspect="1"/>
          </p:cNvPicPr>
          <p:nvPr/>
        </p:nvPicPr>
        <p:blipFill rotWithShape="1">
          <a:blip r:embed="rId4"/>
          <a:srcRect t="92859"/>
          <a:stretch/>
        </p:blipFill>
        <p:spPr>
          <a:xfrm>
            <a:off x="0" y="6348514"/>
            <a:ext cx="12192000" cy="342780"/>
          </a:xfrm>
          <a:prstGeom prst="rect">
            <a:avLst/>
          </a:prstGeom>
        </p:spPr>
      </p:pic>
      <p:sp>
        <p:nvSpPr>
          <p:cNvPr id="3" name="Slide Number Placeholder 2">
            <a:extLst>
              <a:ext uri="{FF2B5EF4-FFF2-40B4-BE49-F238E27FC236}">
                <a16:creationId xmlns:a16="http://schemas.microsoft.com/office/drawing/2014/main" id="{212F875A-8553-48ED-87BB-9DE8D1E4B080}"/>
              </a:ext>
            </a:extLst>
          </p:cNvPr>
          <p:cNvSpPr>
            <a:spLocks noGrp="1"/>
          </p:cNvSpPr>
          <p:nvPr>
            <p:ph type="sldNum" sz="quarter" idx="12"/>
          </p:nvPr>
        </p:nvSpPr>
        <p:spPr/>
        <p:txBody>
          <a:bodyPr/>
          <a:lstStyle/>
          <a:p>
            <a:fld id="{00670DA0-C7A9-4FF5-B8FB-4DCD6DFD0B70}" type="slidenum">
              <a:rPr lang="es-CO" smtClean="0"/>
              <a:t>33</a:t>
            </a:fld>
            <a:endParaRPr lang="es-CO"/>
          </a:p>
        </p:txBody>
      </p:sp>
    </p:spTree>
    <p:extLst>
      <p:ext uri="{BB962C8B-B14F-4D97-AF65-F5344CB8AC3E}">
        <p14:creationId xmlns:p14="http://schemas.microsoft.com/office/powerpoint/2010/main" val="142235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A647-6EEC-4E23-BF28-D46C24EDBDD7}"/>
              </a:ext>
            </a:extLst>
          </p:cNvPr>
          <p:cNvSpPr>
            <a:spLocks noGrp="1"/>
          </p:cNvSpPr>
          <p:nvPr>
            <p:ph type="title"/>
          </p:nvPr>
        </p:nvSpPr>
        <p:spPr/>
        <p:txBody>
          <a:bodyPr/>
          <a:lstStyle/>
          <a:p>
            <a:r>
              <a:rPr lang="es-CO" dirty="0"/>
              <a:t>energía total</a:t>
            </a:r>
          </a:p>
        </p:txBody>
      </p:sp>
      <p:sp>
        <p:nvSpPr>
          <p:cNvPr id="3" name="Content Placeholder 2">
            <a:extLst>
              <a:ext uri="{FF2B5EF4-FFF2-40B4-BE49-F238E27FC236}">
                <a16:creationId xmlns:a16="http://schemas.microsoft.com/office/drawing/2014/main" id="{BFED9968-088F-47D4-B7F9-F9586F781954}"/>
              </a:ext>
            </a:extLst>
          </p:cNvPr>
          <p:cNvSpPr>
            <a:spLocks noGrp="1"/>
          </p:cNvSpPr>
          <p:nvPr>
            <p:ph idx="1"/>
          </p:nvPr>
        </p:nvSpPr>
        <p:spPr/>
        <p:txBody>
          <a:bodyPr/>
          <a:lstStyle/>
          <a:p>
            <a:endParaRPr lang="es-CO" dirty="0"/>
          </a:p>
        </p:txBody>
      </p:sp>
      <p:pic>
        <p:nvPicPr>
          <p:cNvPr id="5" name="Picture 4">
            <a:extLst>
              <a:ext uri="{FF2B5EF4-FFF2-40B4-BE49-F238E27FC236}">
                <a16:creationId xmlns:a16="http://schemas.microsoft.com/office/drawing/2014/main" id="{CC245EF0-B33D-4841-A95B-6976DDC11B93}"/>
              </a:ext>
            </a:extLst>
          </p:cNvPr>
          <p:cNvPicPr>
            <a:picLocks noChangeAspect="1"/>
          </p:cNvPicPr>
          <p:nvPr/>
        </p:nvPicPr>
        <p:blipFill rotWithShape="1">
          <a:blip r:embed="rId2"/>
          <a:srcRect l="961" t="15028" r="84358" b="73775"/>
          <a:stretch/>
        </p:blipFill>
        <p:spPr>
          <a:xfrm>
            <a:off x="10903933" y="2824480"/>
            <a:ext cx="899733" cy="444024"/>
          </a:xfrm>
          <a:prstGeom prst="rect">
            <a:avLst/>
          </a:prstGeom>
        </p:spPr>
      </p:pic>
      <p:pic>
        <p:nvPicPr>
          <p:cNvPr id="7" name="Picture 6">
            <a:extLst>
              <a:ext uri="{FF2B5EF4-FFF2-40B4-BE49-F238E27FC236}">
                <a16:creationId xmlns:a16="http://schemas.microsoft.com/office/drawing/2014/main" id="{119DF2D2-F20A-4267-A781-5058716CFBAF}"/>
              </a:ext>
            </a:extLst>
          </p:cNvPr>
          <p:cNvPicPr>
            <a:picLocks noChangeAspect="1"/>
          </p:cNvPicPr>
          <p:nvPr/>
        </p:nvPicPr>
        <p:blipFill>
          <a:blip r:embed="rId3"/>
          <a:stretch>
            <a:fillRect/>
          </a:stretch>
        </p:blipFill>
        <p:spPr>
          <a:xfrm>
            <a:off x="0" y="1828800"/>
            <a:ext cx="12192000" cy="4800361"/>
          </a:xfrm>
          <a:prstGeom prst="rect">
            <a:avLst/>
          </a:prstGeom>
        </p:spPr>
      </p:pic>
      <p:pic>
        <p:nvPicPr>
          <p:cNvPr id="8" name="Picture 7">
            <a:extLst>
              <a:ext uri="{FF2B5EF4-FFF2-40B4-BE49-F238E27FC236}">
                <a16:creationId xmlns:a16="http://schemas.microsoft.com/office/drawing/2014/main" id="{7B7A0535-B889-4B74-95FA-E1E45C7FB378}"/>
              </a:ext>
            </a:extLst>
          </p:cNvPr>
          <p:cNvPicPr>
            <a:picLocks noChangeAspect="1"/>
          </p:cNvPicPr>
          <p:nvPr/>
        </p:nvPicPr>
        <p:blipFill rotWithShape="1">
          <a:blip r:embed="rId4"/>
          <a:srcRect t="92859"/>
          <a:stretch/>
        </p:blipFill>
        <p:spPr>
          <a:xfrm>
            <a:off x="0" y="6338241"/>
            <a:ext cx="12192000" cy="342780"/>
          </a:xfrm>
          <a:prstGeom prst="rect">
            <a:avLst/>
          </a:prstGeom>
        </p:spPr>
      </p:pic>
      <p:sp>
        <p:nvSpPr>
          <p:cNvPr id="6" name="Slide Number Placeholder 5">
            <a:extLst>
              <a:ext uri="{FF2B5EF4-FFF2-40B4-BE49-F238E27FC236}">
                <a16:creationId xmlns:a16="http://schemas.microsoft.com/office/drawing/2014/main" id="{F7B8FD1E-17B8-414A-9709-BED0E00DDF43}"/>
              </a:ext>
            </a:extLst>
          </p:cNvPr>
          <p:cNvSpPr>
            <a:spLocks noGrp="1"/>
          </p:cNvSpPr>
          <p:nvPr>
            <p:ph type="sldNum" sz="quarter" idx="12"/>
          </p:nvPr>
        </p:nvSpPr>
        <p:spPr/>
        <p:txBody>
          <a:bodyPr/>
          <a:lstStyle/>
          <a:p>
            <a:fld id="{00670DA0-C7A9-4FF5-B8FB-4DCD6DFD0B70}" type="slidenum">
              <a:rPr lang="es-CO" smtClean="0"/>
              <a:t>34</a:t>
            </a:fld>
            <a:endParaRPr lang="es-CO"/>
          </a:p>
        </p:txBody>
      </p:sp>
      <p:pic>
        <p:nvPicPr>
          <p:cNvPr id="4" name="Picture 3">
            <a:extLst>
              <a:ext uri="{FF2B5EF4-FFF2-40B4-BE49-F238E27FC236}">
                <a16:creationId xmlns:a16="http://schemas.microsoft.com/office/drawing/2014/main" id="{0E3E5416-F5F4-4D53-99ED-DC67F6E3A689}"/>
              </a:ext>
            </a:extLst>
          </p:cNvPr>
          <p:cNvPicPr>
            <a:picLocks noChangeAspect="1"/>
          </p:cNvPicPr>
          <p:nvPr/>
        </p:nvPicPr>
        <p:blipFill rotWithShape="1">
          <a:blip r:embed="rId2"/>
          <a:srcRect l="34287" r="10971"/>
          <a:stretch/>
        </p:blipFill>
        <p:spPr>
          <a:xfrm>
            <a:off x="9565240" y="2654980"/>
            <a:ext cx="2045567" cy="2417893"/>
          </a:xfrm>
          <a:prstGeom prst="rect">
            <a:avLst/>
          </a:prstGeom>
        </p:spPr>
      </p:pic>
    </p:spTree>
    <p:extLst>
      <p:ext uri="{BB962C8B-B14F-4D97-AF65-F5344CB8AC3E}">
        <p14:creationId xmlns:p14="http://schemas.microsoft.com/office/powerpoint/2010/main" val="309220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A3E9-0286-4100-A0B1-ECAB6F0BEDC1}"/>
              </a:ext>
            </a:extLst>
          </p:cNvPr>
          <p:cNvSpPr>
            <a:spLocks noGrp="1"/>
          </p:cNvSpPr>
          <p:nvPr>
            <p:ph type="title"/>
          </p:nvPr>
        </p:nvSpPr>
        <p:spPr/>
        <p:txBody>
          <a:bodyPr/>
          <a:lstStyle/>
          <a:p>
            <a:r>
              <a:rPr lang="es-CO" dirty="0"/>
              <a:t>energía total</a:t>
            </a:r>
          </a:p>
        </p:txBody>
      </p:sp>
      <p:sp>
        <p:nvSpPr>
          <p:cNvPr id="3" name="Content Placeholder 2">
            <a:extLst>
              <a:ext uri="{FF2B5EF4-FFF2-40B4-BE49-F238E27FC236}">
                <a16:creationId xmlns:a16="http://schemas.microsoft.com/office/drawing/2014/main" id="{D589FDBF-04D5-473F-85C0-1FA80CDD0C90}"/>
              </a:ext>
            </a:extLst>
          </p:cNvPr>
          <p:cNvSpPr>
            <a:spLocks noGrp="1"/>
          </p:cNvSpPr>
          <p:nvPr>
            <p:ph idx="1"/>
          </p:nvPr>
        </p:nvSpPr>
        <p:spPr/>
        <p:txBody>
          <a:bodyPr/>
          <a:lstStyle/>
          <a:p>
            <a:endParaRPr lang="es-CO"/>
          </a:p>
        </p:txBody>
      </p:sp>
      <p:pic>
        <p:nvPicPr>
          <p:cNvPr id="5" name="Picture 4">
            <a:extLst>
              <a:ext uri="{FF2B5EF4-FFF2-40B4-BE49-F238E27FC236}">
                <a16:creationId xmlns:a16="http://schemas.microsoft.com/office/drawing/2014/main" id="{19C691A6-06ED-4560-AB11-645581CE0BFA}"/>
              </a:ext>
            </a:extLst>
          </p:cNvPr>
          <p:cNvPicPr>
            <a:picLocks noChangeAspect="1"/>
          </p:cNvPicPr>
          <p:nvPr/>
        </p:nvPicPr>
        <p:blipFill>
          <a:blip r:embed="rId2"/>
          <a:stretch>
            <a:fillRect/>
          </a:stretch>
        </p:blipFill>
        <p:spPr>
          <a:xfrm>
            <a:off x="0" y="1836000"/>
            <a:ext cx="12192000" cy="4800361"/>
          </a:xfrm>
          <a:prstGeom prst="rect">
            <a:avLst/>
          </a:prstGeom>
        </p:spPr>
      </p:pic>
      <p:pic>
        <p:nvPicPr>
          <p:cNvPr id="6" name="Picture 5">
            <a:extLst>
              <a:ext uri="{FF2B5EF4-FFF2-40B4-BE49-F238E27FC236}">
                <a16:creationId xmlns:a16="http://schemas.microsoft.com/office/drawing/2014/main" id="{A6821B05-F5F3-4D8E-832A-EB5822E0784B}"/>
              </a:ext>
            </a:extLst>
          </p:cNvPr>
          <p:cNvPicPr>
            <a:picLocks noChangeAspect="1"/>
          </p:cNvPicPr>
          <p:nvPr/>
        </p:nvPicPr>
        <p:blipFill rotWithShape="1">
          <a:blip r:embed="rId3"/>
          <a:srcRect t="92859"/>
          <a:stretch/>
        </p:blipFill>
        <p:spPr>
          <a:xfrm>
            <a:off x="0" y="6327963"/>
            <a:ext cx="12192000" cy="342780"/>
          </a:xfrm>
          <a:prstGeom prst="rect">
            <a:avLst/>
          </a:prstGeom>
        </p:spPr>
      </p:pic>
      <p:sp>
        <p:nvSpPr>
          <p:cNvPr id="4" name="Slide Number Placeholder 3">
            <a:extLst>
              <a:ext uri="{FF2B5EF4-FFF2-40B4-BE49-F238E27FC236}">
                <a16:creationId xmlns:a16="http://schemas.microsoft.com/office/drawing/2014/main" id="{F7A5FB01-8F94-4D21-8DEC-C4306D10727E}"/>
              </a:ext>
            </a:extLst>
          </p:cNvPr>
          <p:cNvSpPr>
            <a:spLocks noGrp="1"/>
          </p:cNvSpPr>
          <p:nvPr>
            <p:ph type="sldNum" sz="quarter" idx="12"/>
          </p:nvPr>
        </p:nvSpPr>
        <p:spPr/>
        <p:txBody>
          <a:bodyPr/>
          <a:lstStyle/>
          <a:p>
            <a:fld id="{00670DA0-C7A9-4FF5-B8FB-4DCD6DFD0B70}" type="slidenum">
              <a:rPr lang="es-CO" smtClean="0"/>
              <a:t>35</a:t>
            </a:fld>
            <a:endParaRPr lang="es-CO"/>
          </a:p>
        </p:txBody>
      </p:sp>
    </p:spTree>
    <p:extLst>
      <p:ext uri="{BB962C8B-B14F-4D97-AF65-F5344CB8AC3E}">
        <p14:creationId xmlns:p14="http://schemas.microsoft.com/office/powerpoint/2010/main" val="302880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731BAA-EFED-4BA5-AF5A-CB335C59A59F}"/>
              </a:ext>
            </a:extLst>
          </p:cNvPr>
          <p:cNvSpPr>
            <a:spLocks noGrp="1"/>
          </p:cNvSpPr>
          <p:nvPr>
            <p:ph type="title"/>
          </p:nvPr>
        </p:nvSpPr>
        <p:spPr/>
        <p:txBody>
          <a:bodyPr/>
          <a:lstStyle/>
          <a:p>
            <a:r>
              <a:rPr lang="es-CO" dirty="0"/>
              <a:t>consumo de la red</a:t>
            </a:r>
          </a:p>
        </p:txBody>
      </p:sp>
      <p:pic>
        <p:nvPicPr>
          <p:cNvPr id="20" name="Picture 19">
            <a:extLst>
              <a:ext uri="{FF2B5EF4-FFF2-40B4-BE49-F238E27FC236}">
                <a16:creationId xmlns:a16="http://schemas.microsoft.com/office/drawing/2014/main" id="{73A0413E-3073-4040-A89D-2DF3AFA30BC0}"/>
              </a:ext>
            </a:extLst>
          </p:cNvPr>
          <p:cNvPicPr>
            <a:picLocks noChangeAspect="1"/>
          </p:cNvPicPr>
          <p:nvPr/>
        </p:nvPicPr>
        <p:blipFill>
          <a:blip r:embed="rId2"/>
          <a:stretch>
            <a:fillRect/>
          </a:stretch>
        </p:blipFill>
        <p:spPr>
          <a:xfrm>
            <a:off x="0" y="1830202"/>
            <a:ext cx="12192000" cy="4800361"/>
          </a:xfrm>
          <a:prstGeom prst="rect">
            <a:avLst/>
          </a:prstGeom>
        </p:spPr>
      </p:pic>
      <p:sp>
        <p:nvSpPr>
          <p:cNvPr id="21" name="Slide Number Placeholder 3">
            <a:extLst>
              <a:ext uri="{FF2B5EF4-FFF2-40B4-BE49-F238E27FC236}">
                <a16:creationId xmlns:a16="http://schemas.microsoft.com/office/drawing/2014/main" id="{E5C01454-C72B-4331-A1DD-02C9799B250E}"/>
              </a:ext>
            </a:extLst>
          </p:cNvPr>
          <p:cNvSpPr>
            <a:spLocks noGrp="1"/>
          </p:cNvSpPr>
          <p:nvPr>
            <p:ph type="sldNum" sz="quarter" idx="12"/>
          </p:nvPr>
        </p:nvSpPr>
        <p:spPr>
          <a:xfrm>
            <a:off x="10558300" y="5956137"/>
            <a:ext cx="1052508" cy="365125"/>
          </a:xfrm>
        </p:spPr>
        <p:txBody>
          <a:bodyPr/>
          <a:lstStyle/>
          <a:p>
            <a:fld id="{00670DA0-C7A9-4FF5-B8FB-4DCD6DFD0B70}" type="slidenum">
              <a:rPr lang="es-CO" smtClean="0"/>
              <a:t>36</a:t>
            </a:fld>
            <a:endParaRPr lang="es-CO"/>
          </a:p>
        </p:txBody>
      </p:sp>
      <p:pic>
        <p:nvPicPr>
          <p:cNvPr id="24" name="Picture 23">
            <a:extLst>
              <a:ext uri="{FF2B5EF4-FFF2-40B4-BE49-F238E27FC236}">
                <a16:creationId xmlns:a16="http://schemas.microsoft.com/office/drawing/2014/main" id="{50787D4C-4D34-4DDD-91A5-C5908D606654}"/>
              </a:ext>
            </a:extLst>
          </p:cNvPr>
          <p:cNvPicPr>
            <a:picLocks noChangeAspect="1"/>
          </p:cNvPicPr>
          <p:nvPr/>
        </p:nvPicPr>
        <p:blipFill rotWithShape="1">
          <a:blip r:embed="rId2"/>
          <a:srcRect l="29417" r="49999" b="66615"/>
          <a:stretch/>
        </p:blipFill>
        <p:spPr>
          <a:xfrm>
            <a:off x="3586480" y="1830198"/>
            <a:ext cx="2509520" cy="1602621"/>
          </a:xfrm>
          <a:prstGeom prst="rect">
            <a:avLst/>
          </a:prstGeom>
        </p:spPr>
      </p:pic>
      <p:pic>
        <p:nvPicPr>
          <p:cNvPr id="25" name="Picture 24">
            <a:extLst>
              <a:ext uri="{FF2B5EF4-FFF2-40B4-BE49-F238E27FC236}">
                <a16:creationId xmlns:a16="http://schemas.microsoft.com/office/drawing/2014/main" id="{5A8315A4-CEA6-4FEA-9EF5-7FD0A62585C5}"/>
              </a:ext>
            </a:extLst>
          </p:cNvPr>
          <p:cNvPicPr>
            <a:picLocks noChangeAspect="1"/>
          </p:cNvPicPr>
          <p:nvPr/>
        </p:nvPicPr>
        <p:blipFill rotWithShape="1">
          <a:blip r:embed="rId2"/>
          <a:srcRect l="73209" b="66615"/>
          <a:stretch/>
        </p:blipFill>
        <p:spPr>
          <a:xfrm>
            <a:off x="8925560" y="1828136"/>
            <a:ext cx="3266440" cy="1602621"/>
          </a:xfrm>
          <a:prstGeom prst="rect">
            <a:avLst/>
          </a:prstGeom>
        </p:spPr>
      </p:pic>
      <p:pic>
        <p:nvPicPr>
          <p:cNvPr id="28" name="Picture 27">
            <a:extLst>
              <a:ext uri="{FF2B5EF4-FFF2-40B4-BE49-F238E27FC236}">
                <a16:creationId xmlns:a16="http://schemas.microsoft.com/office/drawing/2014/main" id="{3F8F2842-7C9A-433E-BA35-4370E124973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830198"/>
            <a:ext cx="12192000" cy="4800361"/>
          </a:xfrm>
          <a:prstGeom prst="rect">
            <a:avLst/>
          </a:prstGeom>
        </p:spPr>
      </p:pic>
    </p:spTree>
    <p:extLst>
      <p:ext uri="{BB962C8B-B14F-4D97-AF65-F5344CB8AC3E}">
        <p14:creationId xmlns:p14="http://schemas.microsoft.com/office/powerpoint/2010/main" val="269723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20"/>
                                        </p:tgtEl>
                                      </p:cBhvr>
                                    </p:animEffect>
                                    <p:set>
                                      <p:cBhvr>
                                        <p:cTn id="1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36BE0-DA57-48E0-A9C0-68BC2E646845}"/>
              </a:ext>
            </a:extLst>
          </p:cNvPr>
          <p:cNvSpPr>
            <a:spLocks noGrp="1"/>
          </p:cNvSpPr>
          <p:nvPr>
            <p:ph type="title"/>
          </p:nvPr>
        </p:nvSpPr>
        <p:spPr/>
        <p:txBody>
          <a:bodyPr/>
          <a:lstStyle/>
          <a:p>
            <a:r>
              <a:rPr lang="es-CO" dirty="0"/>
              <a:t>consumo de la red</a:t>
            </a:r>
          </a:p>
        </p:txBody>
      </p:sp>
      <p:sp>
        <p:nvSpPr>
          <p:cNvPr id="4" name="Slide Number Placeholder 3">
            <a:extLst>
              <a:ext uri="{FF2B5EF4-FFF2-40B4-BE49-F238E27FC236}">
                <a16:creationId xmlns:a16="http://schemas.microsoft.com/office/drawing/2014/main" id="{FB7812C8-8136-463D-BDCB-0EBE7649966E}"/>
              </a:ext>
            </a:extLst>
          </p:cNvPr>
          <p:cNvSpPr>
            <a:spLocks noGrp="1"/>
          </p:cNvSpPr>
          <p:nvPr>
            <p:ph type="sldNum" sz="quarter" idx="12"/>
          </p:nvPr>
        </p:nvSpPr>
        <p:spPr/>
        <p:txBody>
          <a:bodyPr/>
          <a:lstStyle/>
          <a:p>
            <a:fld id="{00670DA0-C7A9-4FF5-B8FB-4DCD6DFD0B70}" type="slidenum">
              <a:rPr lang="es-CO" smtClean="0"/>
              <a:t>37</a:t>
            </a:fld>
            <a:endParaRPr lang="es-CO"/>
          </a:p>
        </p:txBody>
      </p:sp>
      <p:sp>
        <p:nvSpPr>
          <p:cNvPr id="5" name="Content Placeholder 2">
            <a:extLst>
              <a:ext uri="{FF2B5EF4-FFF2-40B4-BE49-F238E27FC236}">
                <a16:creationId xmlns:a16="http://schemas.microsoft.com/office/drawing/2014/main" id="{68FE78DF-5497-4764-A727-555863B6F410}"/>
              </a:ext>
            </a:extLst>
          </p:cNvPr>
          <p:cNvSpPr>
            <a:spLocks noGrp="1"/>
          </p:cNvSpPr>
          <p:nvPr>
            <p:ph idx="1"/>
          </p:nvPr>
        </p:nvSpPr>
        <p:spPr>
          <a:xfrm>
            <a:off x="2480099" y="2197112"/>
            <a:ext cx="7506381" cy="1117713"/>
          </a:xfrm>
          <a:solidFill>
            <a:schemeClr val="bg1"/>
          </a:solidFill>
          <a:ln w="28575">
            <a:solidFill>
              <a:srgbClr val="666633"/>
            </a:solidFill>
          </a:ln>
        </p:spPr>
        <p:txBody>
          <a:bodyPr>
            <a:normAutofit/>
          </a:bodyPr>
          <a:lstStyle/>
          <a:p>
            <a:r>
              <a:rPr lang="es-CO" dirty="0"/>
              <a:t>Una ruta con desnivel puede consumir casi el doble que su ruta de retorno.</a:t>
            </a:r>
          </a:p>
          <a:p>
            <a:r>
              <a:rPr lang="es-CO" dirty="0"/>
              <a:t>Una ruta con 5 km/h menos, equivale a 0.5 kWh/km más (+ 50% </a:t>
            </a:r>
            <a:r>
              <a:rPr lang="es-CO" dirty="0" err="1"/>
              <a:t>aprox</a:t>
            </a:r>
            <a:r>
              <a:rPr lang="es-CO" dirty="0"/>
              <a:t>)</a:t>
            </a:r>
          </a:p>
        </p:txBody>
      </p:sp>
    </p:spTree>
    <p:extLst>
      <p:ext uri="{BB962C8B-B14F-4D97-AF65-F5344CB8AC3E}">
        <p14:creationId xmlns:p14="http://schemas.microsoft.com/office/powerpoint/2010/main" val="98523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5023-1666-4485-9FFF-38D52182F417}"/>
              </a:ext>
            </a:extLst>
          </p:cNvPr>
          <p:cNvSpPr>
            <a:spLocks noGrp="1"/>
          </p:cNvSpPr>
          <p:nvPr>
            <p:ph type="title"/>
          </p:nvPr>
        </p:nvSpPr>
        <p:spPr/>
        <p:txBody>
          <a:bodyPr/>
          <a:lstStyle/>
          <a:p>
            <a:r>
              <a:rPr lang="es-CO" dirty="0"/>
              <a:t>Consumo de la red</a:t>
            </a:r>
          </a:p>
        </p:txBody>
      </p:sp>
      <p:pic>
        <p:nvPicPr>
          <p:cNvPr id="5" name="Picture 4">
            <a:extLst>
              <a:ext uri="{FF2B5EF4-FFF2-40B4-BE49-F238E27FC236}">
                <a16:creationId xmlns:a16="http://schemas.microsoft.com/office/drawing/2014/main" id="{09563035-2915-401D-B78E-BBDD231A08BB}"/>
              </a:ext>
            </a:extLst>
          </p:cNvPr>
          <p:cNvPicPr>
            <a:picLocks noChangeAspect="1"/>
          </p:cNvPicPr>
          <p:nvPr/>
        </p:nvPicPr>
        <p:blipFill rotWithShape="1">
          <a:blip r:embed="rId2"/>
          <a:srcRect l="7468" r="5751"/>
          <a:stretch/>
        </p:blipFill>
        <p:spPr>
          <a:xfrm>
            <a:off x="848360" y="1836000"/>
            <a:ext cx="10660149" cy="4800361"/>
          </a:xfrm>
          <a:prstGeom prst="rect">
            <a:avLst/>
          </a:prstGeom>
        </p:spPr>
      </p:pic>
      <p:sp>
        <p:nvSpPr>
          <p:cNvPr id="4" name="Slide Number Placeholder 3">
            <a:extLst>
              <a:ext uri="{FF2B5EF4-FFF2-40B4-BE49-F238E27FC236}">
                <a16:creationId xmlns:a16="http://schemas.microsoft.com/office/drawing/2014/main" id="{E282A266-D526-448E-BF70-2889798339C5}"/>
              </a:ext>
            </a:extLst>
          </p:cNvPr>
          <p:cNvSpPr>
            <a:spLocks noGrp="1"/>
          </p:cNvSpPr>
          <p:nvPr>
            <p:ph type="sldNum" sz="quarter" idx="12"/>
          </p:nvPr>
        </p:nvSpPr>
        <p:spPr/>
        <p:txBody>
          <a:bodyPr/>
          <a:lstStyle/>
          <a:p>
            <a:fld id="{00670DA0-C7A9-4FF5-B8FB-4DCD6DFD0B70}" type="slidenum">
              <a:rPr lang="es-CO" smtClean="0"/>
              <a:t>38</a:t>
            </a:fld>
            <a:endParaRPr lang="es-CO"/>
          </a:p>
        </p:txBody>
      </p:sp>
      <p:pic>
        <p:nvPicPr>
          <p:cNvPr id="6" name="Picture 5">
            <a:extLst>
              <a:ext uri="{FF2B5EF4-FFF2-40B4-BE49-F238E27FC236}">
                <a16:creationId xmlns:a16="http://schemas.microsoft.com/office/drawing/2014/main" id="{405AF0CC-B821-44C0-BD23-8B2090900704}"/>
              </a:ext>
            </a:extLst>
          </p:cNvPr>
          <p:cNvPicPr>
            <a:picLocks noChangeAspect="1"/>
          </p:cNvPicPr>
          <p:nvPr/>
        </p:nvPicPr>
        <p:blipFill rotWithShape="1">
          <a:blip r:embed="rId3">
            <a:clrChange>
              <a:clrFrom>
                <a:srgbClr val="FFFFFF"/>
              </a:clrFrom>
              <a:clrTo>
                <a:srgbClr val="FFFFFF">
                  <a:alpha val="0"/>
                </a:srgbClr>
              </a:clrTo>
            </a:clrChange>
          </a:blip>
          <a:srcRect t="93985"/>
          <a:stretch/>
        </p:blipFill>
        <p:spPr>
          <a:xfrm>
            <a:off x="0" y="6321262"/>
            <a:ext cx="12192000" cy="288749"/>
          </a:xfrm>
          <a:prstGeom prst="rect">
            <a:avLst/>
          </a:prstGeom>
          <a:solidFill>
            <a:schemeClr val="bg1"/>
          </a:solidFill>
        </p:spPr>
      </p:pic>
    </p:spTree>
    <p:extLst>
      <p:ext uri="{BB962C8B-B14F-4D97-AF65-F5344CB8AC3E}">
        <p14:creationId xmlns:p14="http://schemas.microsoft.com/office/powerpoint/2010/main" val="3686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5023-1666-4485-9FFF-38D52182F417}"/>
              </a:ext>
            </a:extLst>
          </p:cNvPr>
          <p:cNvSpPr>
            <a:spLocks noGrp="1"/>
          </p:cNvSpPr>
          <p:nvPr>
            <p:ph type="title"/>
          </p:nvPr>
        </p:nvSpPr>
        <p:spPr/>
        <p:txBody>
          <a:bodyPr/>
          <a:lstStyle/>
          <a:p>
            <a:r>
              <a:rPr lang="es-CO" dirty="0"/>
              <a:t>Consumo de la red</a:t>
            </a:r>
          </a:p>
        </p:txBody>
      </p:sp>
      <p:sp>
        <p:nvSpPr>
          <p:cNvPr id="4" name="Slide Number Placeholder 3">
            <a:extLst>
              <a:ext uri="{FF2B5EF4-FFF2-40B4-BE49-F238E27FC236}">
                <a16:creationId xmlns:a16="http://schemas.microsoft.com/office/drawing/2014/main" id="{E282A266-D526-448E-BF70-2889798339C5}"/>
              </a:ext>
            </a:extLst>
          </p:cNvPr>
          <p:cNvSpPr>
            <a:spLocks noGrp="1"/>
          </p:cNvSpPr>
          <p:nvPr>
            <p:ph type="sldNum" sz="quarter" idx="12"/>
          </p:nvPr>
        </p:nvSpPr>
        <p:spPr/>
        <p:txBody>
          <a:bodyPr/>
          <a:lstStyle/>
          <a:p>
            <a:fld id="{00670DA0-C7A9-4FF5-B8FB-4DCD6DFD0B70}" type="slidenum">
              <a:rPr lang="es-CO" smtClean="0"/>
              <a:t>39</a:t>
            </a:fld>
            <a:endParaRPr lang="es-CO"/>
          </a:p>
        </p:txBody>
      </p:sp>
      <p:sp>
        <p:nvSpPr>
          <p:cNvPr id="9" name="Content Placeholder 2">
            <a:extLst>
              <a:ext uri="{FF2B5EF4-FFF2-40B4-BE49-F238E27FC236}">
                <a16:creationId xmlns:a16="http://schemas.microsoft.com/office/drawing/2014/main" id="{44E4E931-147C-4639-8D06-4382AB029152}"/>
              </a:ext>
            </a:extLst>
          </p:cNvPr>
          <p:cNvSpPr>
            <a:spLocks noGrp="1"/>
          </p:cNvSpPr>
          <p:nvPr>
            <p:ph idx="1"/>
          </p:nvPr>
        </p:nvSpPr>
        <p:spPr>
          <a:xfrm>
            <a:off x="2480100" y="2197112"/>
            <a:ext cx="7231800" cy="1117713"/>
          </a:xfrm>
          <a:solidFill>
            <a:schemeClr val="bg1"/>
          </a:solidFill>
          <a:ln w="28575">
            <a:solidFill>
              <a:srgbClr val="666633"/>
            </a:solidFill>
          </a:ln>
        </p:spPr>
        <p:txBody>
          <a:bodyPr>
            <a:normAutofit/>
          </a:bodyPr>
          <a:lstStyle/>
          <a:p>
            <a:r>
              <a:rPr lang="es-CO" dirty="0"/>
              <a:t>Patrón general (H y M): Más congestión equivale a más consumo</a:t>
            </a:r>
          </a:p>
          <a:p>
            <a:r>
              <a:rPr lang="es-CO" dirty="0"/>
              <a:t>5 frenadas/km más, aprox. equivale a 0.2 kWh/km más.</a:t>
            </a:r>
          </a:p>
        </p:txBody>
      </p:sp>
    </p:spTree>
    <p:extLst>
      <p:ext uri="{BB962C8B-B14F-4D97-AF65-F5344CB8AC3E}">
        <p14:creationId xmlns:p14="http://schemas.microsoft.com/office/powerpoint/2010/main" val="9965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37C-A9FF-4A15-95F8-6A99E43DA900}"/>
              </a:ext>
            </a:extLst>
          </p:cNvPr>
          <p:cNvSpPr>
            <a:spLocks noGrp="1"/>
          </p:cNvSpPr>
          <p:nvPr>
            <p:ph type="title"/>
          </p:nvPr>
        </p:nvSpPr>
        <p:spPr/>
        <p:txBody>
          <a:bodyPr/>
          <a:lstStyle/>
          <a:p>
            <a:r>
              <a:rPr lang="es-CO" dirty="0"/>
              <a:t>regeneración</a:t>
            </a:r>
          </a:p>
        </p:txBody>
      </p:sp>
      <p:pic>
        <p:nvPicPr>
          <p:cNvPr id="5" name="Picture 4">
            <a:extLst>
              <a:ext uri="{FF2B5EF4-FFF2-40B4-BE49-F238E27FC236}">
                <a16:creationId xmlns:a16="http://schemas.microsoft.com/office/drawing/2014/main" id="{EDC7C0F4-C76B-4313-BF3C-0AEB27FAB3D5}"/>
              </a:ext>
            </a:extLst>
          </p:cNvPr>
          <p:cNvPicPr>
            <a:picLocks noChangeAspect="1"/>
          </p:cNvPicPr>
          <p:nvPr/>
        </p:nvPicPr>
        <p:blipFill>
          <a:blip r:embed="rId2"/>
          <a:stretch>
            <a:fillRect/>
          </a:stretch>
        </p:blipFill>
        <p:spPr>
          <a:xfrm>
            <a:off x="0" y="1836000"/>
            <a:ext cx="12192000" cy="4800361"/>
          </a:xfrm>
          <a:prstGeom prst="rect">
            <a:avLst/>
          </a:prstGeom>
        </p:spPr>
      </p:pic>
      <p:sp>
        <p:nvSpPr>
          <p:cNvPr id="6" name="TextBox 5">
            <a:extLst>
              <a:ext uri="{FF2B5EF4-FFF2-40B4-BE49-F238E27FC236}">
                <a16:creationId xmlns:a16="http://schemas.microsoft.com/office/drawing/2014/main" id="{E47A2409-9948-43E6-B188-467301D6D2F8}"/>
              </a:ext>
            </a:extLst>
          </p:cNvPr>
          <p:cNvSpPr txBox="1"/>
          <p:nvPr/>
        </p:nvSpPr>
        <p:spPr>
          <a:xfrm>
            <a:off x="3129280" y="2180049"/>
            <a:ext cx="636713" cy="369332"/>
          </a:xfrm>
          <a:prstGeom prst="rect">
            <a:avLst/>
          </a:prstGeom>
          <a:noFill/>
        </p:spPr>
        <p:txBody>
          <a:bodyPr wrap="none" rtlCol="0">
            <a:spAutoFit/>
          </a:bodyPr>
          <a:lstStyle/>
          <a:p>
            <a:r>
              <a:rPr lang="es-CO" dirty="0">
                <a:solidFill>
                  <a:srgbClr val="C00000"/>
                </a:solidFill>
              </a:rPr>
              <a:t>36 %</a:t>
            </a:r>
          </a:p>
        </p:txBody>
      </p:sp>
      <p:sp>
        <p:nvSpPr>
          <p:cNvPr id="7" name="TextBox 6">
            <a:extLst>
              <a:ext uri="{FF2B5EF4-FFF2-40B4-BE49-F238E27FC236}">
                <a16:creationId xmlns:a16="http://schemas.microsoft.com/office/drawing/2014/main" id="{0736899F-A10F-48EE-B2F4-5FA66D92BAE7}"/>
              </a:ext>
            </a:extLst>
          </p:cNvPr>
          <p:cNvSpPr txBox="1"/>
          <p:nvPr/>
        </p:nvSpPr>
        <p:spPr>
          <a:xfrm>
            <a:off x="4561840" y="2180049"/>
            <a:ext cx="636713" cy="369332"/>
          </a:xfrm>
          <a:prstGeom prst="rect">
            <a:avLst/>
          </a:prstGeom>
          <a:noFill/>
        </p:spPr>
        <p:txBody>
          <a:bodyPr wrap="none" rtlCol="0">
            <a:spAutoFit/>
          </a:bodyPr>
          <a:lstStyle/>
          <a:p>
            <a:r>
              <a:rPr lang="es-CO" dirty="0">
                <a:solidFill>
                  <a:srgbClr val="C00000"/>
                </a:solidFill>
              </a:rPr>
              <a:t>33 %</a:t>
            </a:r>
          </a:p>
        </p:txBody>
      </p:sp>
      <p:sp>
        <p:nvSpPr>
          <p:cNvPr id="8" name="TextBox 7">
            <a:extLst>
              <a:ext uri="{FF2B5EF4-FFF2-40B4-BE49-F238E27FC236}">
                <a16:creationId xmlns:a16="http://schemas.microsoft.com/office/drawing/2014/main" id="{C60CDFDD-0F66-4F37-8D89-CECBE60F1287}"/>
              </a:ext>
            </a:extLst>
          </p:cNvPr>
          <p:cNvSpPr txBox="1"/>
          <p:nvPr/>
        </p:nvSpPr>
        <p:spPr>
          <a:xfrm>
            <a:off x="5950393" y="2180049"/>
            <a:ext cx="636713" cy="369332"/>
          </a:xfrm>
          <a:prstGeom prst="rect">
            <a:avLst/>
          </a:prstGeom>
          <a:noFill/>
        </p:spPr>
        <p:txBody>
          <a:bodyPr wrap="none" rtlCol="0">
            <a:spAutoFit/>
          </a:bodyPr>
          <a:lstStyle/>
          <a:p>
            <a:r>
              <a:rPr lang="es-CO" dirty="0">
                <a:solidFill>
                  <a:srgbClr val="C00000"/>
                </a:solidFill>
              </a:rPr>
              <a:t>50 %</a:t>
            </a:r>
          </a:p>
        </p:txBody>
      </p:sp>
      <p:sp>
        <p:nvSpPr>
          <p:cNvPr id="9" name="TextBox 8">
            <a:extLst>
              <a:ext uri="{FF2B5EF4-FFF2-40B4-BE49-F238E27FC236}">
                <a16:creationId xmlns:a16="http://schemas.microsoft.com/office/drawing/2014/main" id="{B3B8000B-018A-421B-B5B4-0DD37E1488DD}"/>
              </a:ext>
            </a:extLst>
          </p:cNvPr>
          <p:cNvSpPr txBox="1"/>
          <p:nvPr/>
        </p:nvSpPr>
        <p:spPr>
          <a:xfrm>
            <a:off x="7464233" y="2180049"/>
            <a:ext cx="636713" cy="369332"/>
          </a:xfrm>
          <a:prstGeom prst="rect">
            <a:avLst/>
          </a:prstGeom>
          <a:noFill/>
        </p:spPr>
        <p:txBody>
          <a:bodyPr wrap="none" rtlCol="0">
            <a:spAutoFit/>
          </a:bodyPr>
          <a:lstStyle/>
          <a:p>
            <a:r>
              <a:rPr lang="es-CO" dirty="0">
                <a:solidFill>
                  <a:srgbClr val="C00000"/>
                </a:solidFill>
              </a:rPr>
              <a:t>25 %</a:t>
            </a:r>
          </a:p>
        </p:txBody>
      </p:sp>
      <p:sp>
        <p:nvSpPr>
          <p:cNvPr id="10" name="TextBox 9">
            <a:extLst>
              <a:ext uri="{FF2B5EF4-FFF2-40B4-BE49-F238E27FC236}">
                <a16:creationId xmlns:a16="http://schemas.microsoft.com/office/drawing/2014/main" id="{97629FB2-F4F2-4152-A513-DA217B18A3D4}"/>
              </a:ext>
            </a:extLst>
          </p:cNvPr>
          <p:cNvSpPr txBox="1"/>
          <p:nvPr/>
        </p:nvSpPr>
        <p:spPr>
          <a:xfrm>
            <a:off x="9049193" y="2180049"/>
            <a:ext cx="636713" cy="369332"/>
          </a:xfrm>
          <a:prstGeom prst="rect">
            <a:avLst/>
          </a:prstGeom>
          <a:noFill/>
        </p:spPr>
        <p:txBody>
          <a:bodyPr wrap="none" rtlCol="0">
            <a:spAutoFit/>
          </a:bodyPr>
          <a:lstStyle/>
          <a:p>
            <a:r>
              <a:rPr lang="es-CO" dirty="0">
                <a:solidFill>
                  <a:srgbClr val="C00000"/>
                </a:solidFill>
              </a:rPr>
              <a:t>33 %</a:t>
            </a:r>
          </a:p>
        </p:txBody>
      </p:sp>
      <p:sp>
        <p:nvSpPr>
          <p:cNvPr id="16" name="TextBox 15">
            <a:extLst>
              <a:ext uri="{FF2B5EF4-FFF2-40B4-BE49-F238E27FC236}">
                <a16:creationId xmlns:a16="http://schemas.microsoft.com/office/drawing/2014/main" id="{49F2F1F1-9750-422D-B3A8-06BA5CA811F6}"/>
              </a:ext>
            </a:extLst>
          </p:cNvPr>
          <p:cNvSpPr txBox="1"/>
          <p:nvPr/>
        </p:nvSpPr>
        <p:spPr>
          <a:xfrm>
            <a:off x="3129280" y="4425409"/>
            <a:ext cx="636713" cy="369332"/>
          </a:xfrm>
          <a:prstGeom prst="rect">
            <a:avLst/>
          </a:prstGeom>
          <a:noFill/>
        </p:spPr>
        <p:txBody>
          <a:bodyPr wrap="none" rtlCol="0">
            <a:spAutoFit/>
          </a:bodyPr>
          <a:lstStyle/>
          <a:p>
            <a:r>
              <a:rPr lang="es-CO" dirty="0">
                <a:solidFill>
                  <a:srgbClr val="C00000"/>
                </a:solidFill>
              </a:rPr>
              <a:t>34 %</a:t>
            </a:r>
          </a:p>
        </p:txBody>
      </p:sp>
      <p:sp>
        <p:nvSpPr>
          <p:cNvPr id="17" name="TextBox 16">
            <a:extLst>
              <a:ext uri="{FF2B5EF4-FFF2-40B4-BE49-F238E27FC236}">
                <a16:creationId xmlns:a16="http://schemas.microsoft.com/office/drawing/2014/main" id="{08876110-7277-4D1C-83E7-83956538411A}"/>
              </a:ext>
            </a:extLst>
          </p:cNvPr>
          <p:cNvSpPr txBox="1"/>
          <p:nvPr/>
        </p:nvSpPr>
        <p:spPr>
          <a:xfrm>
            <a:off x="4561840" y="4425409"/>
            <a:ext cx="636713" cy="369332"/>
          </a:xfrm>
          <a:prstGeom prst="rect">
            <a:avLst/>
          </a:prstGeom>
          <a:noFill/>
        </p:spPr>
        <p:txBody>
          <a:bodyPr wrap="none" rtlCol="0">
            <a:spAutoFit/>
          </a:bodyPr>
          <a:lstStyle/>
          <a:p>
            <a:r>
              <a:rPr lang="es-CO" dirty="0">
                <a:solidFill>
                  <a:srgbClr val="C00000"/>
                </a:solidFill>
              </a:rPr>
              <a:t>40 %</a:t>
            </a:r>
          </a:p>
        </p:txBody>
      </p:sp>
      <p:sp>
        <p:nvSpPr>
          <p:cNvPr id="18" name="TextBox 17">
            <a:extLst>
              <a:ext uri="{FF2B5EF4-FFF2-40B4-BE49-F238E27FC236}">
                <a16:creationId xmlns:a16="http://schemas.microsoft.com/office/drawing/2014/main" id="{B674591E-3D28-43B3-83F8-B17242203F45}"/>
              </a:ext>
            </a:extLst>
          </p:cNvPr>
          <p:cNvSpPr txBox="1"/>
          <p:nvPr/>
        </p:nvSpPr>
        <p:spPr>
          <a:xfrm>
            <a:off x="5950393" y="4425409"/>
            <a:ext cx="636713" cy="369332"/>
          </a:xfrm>
          <a:prstGeom prst="rect">
            <a:avLst/>
          </a:prstGeom>
          <a:noFill/>
        </p:spPr>
        <p:txBody>
          <a:bodyPr wrap="none" rtlCol="0">
            <a:spAutoFit/>
          </a:bodyPr>
          <a:lstStyle/>
          <a:p>
            <a:r>
              <a:rPr lang="es-CO" dirty="0">
                <a:solidFill>
                  <a:srgbClr val="C00000"/>
                </a:solidFill>
              </a:rPr>
              <a:t>24 %</a:t>
            </a:r>
          </a:p>
        </p:txBody>
      </p:sp>
      <p:sp>
        <p:nvSpPr>
          <p:cNvPr id="19" name="TextBox 18">
            <a:extLst>
              <a:ext uri="{FF2B5EF4-FFF2-40B4-BE49-F238E27FC236}">
                <a16:creationId xmlns:a16="http://schemas.microsoft.com/office/drawing/2014/main" id="{12BE5F95-CBA9-482D-8ED5-CB0D5466BC20}"/>
              </a:ext>
            </a:extLst>
          </p:cNvPr>
          <p:cNvSpPr txBox="1"/>
          <p:nvPr/>
        </p:nvSpPr>
        <p:spPr>
          <a:xfrm>
            <a:off x="7464233" y="4425409"/>
            <a:ext cx="636713" cy="369332"/>
          </a:xfrm>
          <a:prstGeom prst="rect">
            <a:avLst/>
          </a:prstGeom>
          <a:noFill/>
        </p:spPr>
        <p:txBody>
          <a:bodyPr wrap="none" rtlCol="0">
            <a:spAutoFit/>
          </a:bodyPr>
          <a:lstStyle/>
          <a:p>
            <a:r>
              <a:rPr lang="es-CO" dirty="0">
                <a:solidFill>
                  <a:srgbClr val="C00000"/>
                </a:solidFill>
              </a:rPr>
              <a:t>51 %</a:t>
            </a:r>
          </a:p>
        </p:txBody>
      </p:sp>
      <p:sp>
        <p:nvSpPr>
          <p:cNvPr id="20" name="TextBox 19">
            <a:extLst>
              <a:ext uri="{FF2B5EF4-FFF2-40B4-BE49-F238E27FC236}">
                <a16:creationId xmlns:a16="http://schemas.microsoft.com/office/drawing/2014/main" id="{AC1F4DEC-C4D9-4395-9577-0EBF302EFD66}"/>
              </a:ext>
            </a:extLst>
          </p:cNvPr>
          <p:cNvSpPr txBox="1"/>
          <p:nvPr/>
        </p:nvSpPr>
        <p:spPr>
          <a:xfrm>
            <a:off x="9049193" y="4425409"/>
            <a:ext cx="636713" cy="369332"/>
          </a:xfrm>
          <a:prstGeom prst="rect">
            <a:avLst/>
          </a:prstGeom>
          <a:noFill/>
        </p:spPr>
        <p:txBody>
          <a:bodyPr wrap="none" rtlCol="0">
            <a:spAutoFit/>
          </a:bodyPr>
          <a:lstStyle/>
          <a:p>
            <a:r>
              <a:rPr lang="es-CO" dirty="0">
                <a:solidFill>
                  <a:srgbClr val="C00000"/>
                </a:solidFill>
              </a:rPr>
              <a:t>48 %</a:t>
            </a:r>
          </a:p>
        </p:txBody>
      </p:sp>
      <p:sp>
        <p:nvSpPr>
          <p:cNvPr id="4" name="Slide Number Placeholder 3">
            <a:extLst>
              <a:ext uri="{FF2B5EF4-FFF2-40B4-BE49-F238E27FC236}">
                <a16:creationId xmlns:a16="http://schemas.microsoft.com/office/drawing/2014/main" id="{F1335D4F-198A-48D7-A50F-2396B92ED3C6}"/>
              </a:ext>
            </a:extLst>
          </p:cNvPr>
          <p:cNvSpPr>
            <a:spLocks noGrp="1"/>
          </p:cNvSpPr>
          <p:nvPr>
            <p:ph type="sldNum" sz="quarter" idx="12"/>
          </p:nvPr>
        </p:nvSpPr>
        <p:spPr/>
        <p:txBody>
          <a:bodyPr/>
          <a:lstStyle/>
          <a:p>
            <a:fld id="{00670DA0-C7A9-4FF5-B8FB-4DCD6DFD0B70}" type="slidenum">
              <a:rPr lang="es-CO" smtClean="0"/>
              <a:t>40</a:t>
            </a:fld>
            <a:endParaRPr lang="es-CO"/>
          </a:p>
        </p:txBody>
      </p:sp>
    </p:spTree>
    <p:extLst>
      <p:ext uri="{BB962C8B-B14F-4D97-AF65-F5344CB8AC3E}">
        <p14:creationId xmlns:p14="http://schemas.microsoft.com/office/powerpoint/2010/main" val="84903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38EE-3BB3-486B-8027-C43433CDC185}"/>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40A161F4-4AB6-441C-B84F-77873884F7B4}"/>
              </a:ext>
            </a:extLst>
          </p:cNvPr>
          <p:cNvSpPr>
            <a:spLocks noGrp="1"/>
          </p:cNvSpPr>
          <p:nvPr>
            <p:ph idx="1"/>
          </p:nvPr>
        </p:nvSpPr>
        <p:spPr>
          <a:xfrm>
            <a:off x="838200" y="1825625"/>
            <a:ext cx="2886508" cy="4351338"/>
          </a:xfrm>
        </p:spPr>
        <p:txBody>
          <a:bodyPr>
            <a:normAutofit/>
          </a:bodyPr>
          <a:lstStyle/>
          <a:p>
            <a:r>
              <a:rPr lang="es-CO" sz="1800" dirty="0"/>
              <a:t>No hay diferencias significativas en el consumo por sexo</a:t>
            </a:r>
          </a:p>
        </p:txBody>
      </p:sp>
      <p:pic>
        <p:nvPicPr>
          <p:cNvPr id="5" name="Picture 4">
            <a:extLst>
              <a:ext uri="{FF2B5EF4-FFF2-40B4-BE49-F238E27FC236}">
                <a16:creationId xmlns:a16="http://schemas.microsoft.com/office/drawing/2014/main" id="{A112B960-ACFE-4E2E-8275-FC0FA22A1B20}"/>
              </a:ext>
            </a:extLst>
          </p:cNvPr>
          <p:cNvPicPr>
            <a:picLocks noChangeAspect="1"/>
          </p:cNvPicPr>
          <p:nvPr/>
        </p:nvPicPr>
        <p:blipFill rotWithShape="1">
          <a:blip r:embed="rId2"/>
          <a:srcRect l="9167" t="4849" r="8333"/>
          <a:stretch/>
        </p:blipFill>
        <p:spPr>
          <a:xfrm>
            <a:off x="3724708" y="1972638"/>
            <a:ext cx="8153255" cy="4524199"/>
          </a:xfrm>
          <a:prstGeom prst="rect">
            <a:avLst/>
          </a:prstGeom>
        </p:spPr>
      </p:pic>
      <p:sp>
        <p:nvSpPr>
          <p:cNvPr id="4" name="Slide Number Placeholder 3">
            <a:extLst>
              <a:ext uri="{FF2B5EF4-FFF2-40B4-BE49-F238E27FC236}">
                <a16:creationId xmlns:a16="http://schemas.microsoft.com/office/drawing/2014/main" id="{7B70EB97-2F88-4F5F-870E-AB8CF7F1F1DD}"/>
              </a:ext>
            </a:extLst>
          </p:cNvPr>
          <p:cNvSpPr>
            <a:spLocks noGrp="1"/>
          </p:cNvSpPr>
          <p:nvPr>
            <p:ph type="sldNum" sz="quarter" idx="12"/>
          </p:nvPr>
        </p:nvSpPr>
        <p:spPr/>
        <p:txBody>
          <a:bodyPr/>
          <a:lstStyle/>
          <a:p>
            <a:fld id="{00670DA0-C7A9-4FF5-B8FB-4DCD6DFD0B70}" type="slidenum">
              <a:rPr lang="es-CO" smtClean="0"/>
              <a:t>41</a:t>
            </a:fld>
            <a:endParaRPr lang="es-CO"/>
          </a:p>
        </p:txBody>
      </p:sp>
    </p:spTree>
    <p:extLst>
      <p:ext uri="{BB962C8B-B14F-4D97-AF65-F5344CB8AC3E}">
        <p14:creationId xmlns:p14="http://schemas.microsoft.com/office/powerpoint/2010/main" val="422390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4CFA-E0C5-4665-877C-9E0A5A2A6C92}"/>
              </a:ext>
            </a:extLst>
          </p:cNvPr>
          <p:cNvSpPr>
            <a:spLocks noGrp="1"/>
          </p:cNvSpPr>
          <p:nvPr>
            <p:ph type="title"/>
          </p:nvPr>
        </p:nvSpPr>
        <p:spPr/>
        <p:txBody>
          <a:bodyPr/>
          <a:lstStyle/>
          <a:p>
            <a:r>
              <a:rPr lang="es-CO" dirty="0"/>
              <a:t>Regeneración</a:t>
            </a:r>
          </a:p>
        </p:txBody>
      </p:sp>
      <p:sp>
        <p:nvSpPr>
          <p:cNvPr id="3" name="Content Placeholder 2">
            <a:extLst>
              <a:ext uri="{FF2B5EF4-FFF2-40B4-BE49-F238E27FC236}">
                <a16:creationId xmlns:a16="http://schemas.microsoft.com/office/drawing/2014/main" id="{AFC7E9D3-0264-44C2-94C1-30CDAFD03CC2}"/>
              </a:ext>
            </a:extLst>
          </p:cNvPr>
          <p:cNvSpPr>
            <a:spLocks noGrp="1"/>
          </p:cNvSpPr>
          <p:nvPr>
            <p:ph idx="1"/>
          </p:nvPr>
        </p:nvSpPr>
        <p:spPr>
          <a:xfrm>
            <a:off x="838200" y="1825625"/>
            <a:ext cx="2634465" cy="4351338"/>
          </a:xfrm>
        </p:spPr>
        <p:txBody>
          <a:bodyPr>
            <a:normAutofit/>
          </a:bodyPr>
          <a:lstStyle/>
          <a:p>
            <a:r>
              <a:rPr lang="es-CO" sz="1800" dirty="0"/>
              <a:t>Los hombres regeneran un poquito más, en 5 de 6 rutas.</a:t>
            </a:r>
          </a:p>
          <a:p>
            <a:r>
              <a:rPr lang="es-CO" sz="1800" dirty="0"/>
              <a:t>En la ruta de bajada, los hombres regeneran 9% más!</a:t>
            </a:r>
          </a:p>
        </p:txBody>
      </p:sp>
      <p:pic>
        <p:nvPicPr>
          <p:cNvPr id="5" name="Picture 4">
            <a:extLst>
              <a:ext uri="{FF2B5EF4-FFF2-40B4-BE49-F238E27FC236}">
                <a16:creationId xmlns:a16="http://schemas.microsoft.com/office/drawing/2014/main" id="{6ACB86B9-4E3C-4CE4-A2A0-D5AFCF99DC86}"/>
              </a:ext>
            </a:extLst>
          </p:cNvPr>
          <p:cNvPicPr>
            <a:picLocks noChangeAspect="1"/>
          </p:cNvPicPr>
          <p:nvPr/>
        </p:nvPicPr>
        <p:blipFill rotWithShape="1">
          <a:blip r:embed="rId2"/>
          <a:srcRect l="8262" r="8628"/>
          <a:stretch/>
        </p:blipFill>
        <p:spPr>
          <a:xfrm>
            <a:off x="3702962" y="2181542"/>
            <a:ext cx="7567790" cy="4139720"/>
          </a:xfrm>
          <a:prstGeom prst="rect">
            <a:avLst/>
          </a:prstGeom>
        </p:spPr>
      </p:pic>
      <p:sp>
        <p:nvSpPr>
          <p:cNvPr id="4" name="Slide Number Placeholder 3">
            <a:extLst>
              <a:ext uri="{FF2B5EF4-FFF2-40B4-BE49-F238E27FC236}">
                <a16:creationId xmlns:a16="http://schemas.microsoft.com/office/drawing/2014/main" id="{FCDCA3DA-F60C-424D-9963-19DD81BC3F5B}"/>
              </a:ext>
            </a:extLst>
          </p:cNvPr>
          <p:cNvSpPr>
            <a:spLocks noGrp="1"/>
          </p:cNvSpPr>
          <p:nvPr>
            <p:ph type="sldNum" sz="quarter" idx="12"/>
          </p:nvPr>
        </p:nvSpPr>
        <p:spPr/>
        <p:txBody>
          <a:bodyPr/>
          <a:lstStyle/>
          <a:p>
            <a:fld id="{00670DA0-C7A9-4FF5-B8FB-4DCD6DFD0B70}" type="slidenum">
              <a:rPr lang="es-CO" smtClean="0"/>
              <a:t>42</a:t>
            </a:fld>
            <a:endParaRPr lang="es-CO"/>
          </a:p>
        </p:txBody>
      </p:sp>
    </p:spTree>
    <p:extLst>
      <p:ext uri="{BB962C8B-B14F-4D97-AF65-F5344CB8AC3E}">
        <p14:creationId xmlns:p14="http://schemas.microsoft.com/office/powerpoint/2010/main" val="1964312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resumen</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endParaRPr lang="es-CO" dirty="0"/>
          </a:p>
          <a:p>
            <a:pPr marL="0" indent="0">
              <a:buNone/>
            </a:pPr>
            <a:endParaRPr lang="es-CO" dirty="0"/>
          </a:p>
          <a:p>
            <a:pPr marL="0" indent="0">
              <a:buNone/>
            </a:pPr>
            <a:endParaRPr lang="es-CO" dirty="0"/>
          </a:p>
          <a:p>
            <a:pPr marL="0" indent="0">
              <a:buNone/>
            </a:pPr>
            <a:endParaRPr lang="es-CO" dirty="0"/>
          </a:p>
          <a:p>
            <a:pPr marL="0" indent="0">
              <a:buNone/>
            </a:pPr>
            <a:r>
              <a:rPr lang="es-CO" dirty="0"/>
              <a:t>	VELOCIDAD 			ACELERACIÓN		RIESGO EN CURVA</a:t>
            </a:r>
            <a:r>
              <a:rPr lang="es-CO" dirty="0">
                <a:solidFill>
                  <a:schemeClr val="accent1"/>
                </a:solidFill>
              </a:rPr>
              <a:t>		</a:t>
            </a:r>
            <a:r>
              <a:rPr lang="es-CO" dirty="0"/>
              <a:t>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43</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382000" y="4352925"/>
            <a:ext cx="2838450" cy="646331"/>
          </a:xfrm>
          <a:prstGeom prst="rect">
            <a:avLst/>
          </a:prstGeom>
          <a:noFill/>
        </p:spPr>
        <p:txBody>
          <a:bodyPr wrap="square" rtlCol="0">
            <a:spAutoFit/>
          </a:bodyPr>
          <a:lstStyle/>
          <a:p>
            <a:pPr marL="285750" indent="-285750">
              <a:buFontTx/>
              <a:buChar char="-"/>
            </a:pPr>
            <a:r>
              <a:rPr lang="es-CO" dirty="0"/>
              <a:t>Consumo de la red</a:t>
            </a:r>
          </a:p>
          <a:p>
            <a:pPr marL="285750" indent="-285750">
              <a:buFontTx/>
              <a:buChar char="-"/>
            </a:pPr>
            <a:r>
              <a:rPr lang="es-CO" dirty="0"/>
              <a:t>Regeneración</a:t>
            </a:r>
          </a:p>
        </p:txBody>
      </p:sp>
      <p:sp>
        <p:nvSpPr>
          <p:cNvPr id="6" name="TextBox 5">
            <a:extLst>
              <a:ext uri="{FF2B5EF4-FFF2-40B4-BE49-F238E27FC236}">
                <a16:creationId xmlns:a16="http://schemas.microsoft.com/office/drawing/2014/main" id="{B05BB1F3-F560-42F5-8949-121162687CAC}"/>
              </a:ext>
            </a:extLst>
          </p:cNvPr>
          <p:cNvSpPr txBox="1"/>
          <p:nvPr/>
        </p:nvSpPr>
        <p:spPr>
          <a:xfrm>
            <a:off x="5588000" y="4355800"/>
            <a:ext cx="2838450" cy="369332"/>
          </a:xfrm>
          <a:prstGeom prst="rect">
            <a:avLst/>
          </a:prstGeom>
          <a:noFill/>
        </p:spPr>
        <p:txBody>
          <a:bodyPr wrap="square" rtlCol="0">
            <a:spAutoFit/>
          </a:bodyPr>
          <a:lstStyle/>
          <a:p>
            <a:pPr marL="285750" indent="-285750">
              <a:buFontTx/>
              <a:buChar char="-"/>
            </a:pPr>
            <a:r>
              <a:rPr lang="es-CO" dirty="0"/>
              <a:t>Aceleración centrípeta</a:t>
            </a:r>
          </a:p>
        </p:txBody>
      </p:sp>
      <p:sp>
        <p:nvSpPr>
          <p:cNvPr id="7" name="TextBox 6">
            <a:extLst>
              <a:ext uri="{FF2B5EF4-FFF2-40B4-BE49-F238E27FC236}">
                <a16:creationId xmlns:a16="http://schemas.microsoft.com/office/drawing/2014/main" id="{F5335E55-41F6-4171-8DFB-BFDD95F944BC}"/>
              </a:ext>
            </a:extLst>
          </p:cNvPr>
          <p:cNvSpPr txBox="1"/>
          <p:nvPr/>
        </p:nvSpPr>
        <p:spPr>
          <a:xfrm>
            <a:off x="3353224" y="4420568"/>
            <a:ext cx="2838450" cy="923330"/>
          </a:xfrm>
          <a:prstGeom prst="rect">
            <a:avLst/>
          </a:prstGeom>
          <a:noFill/>
        </p:spPr>
        <p:txBody>
          <a:bodyPr wrap="square" rtlCol="0">
            <a:spAutoFit/>
          </a:bodyPr>
          <a:lstStyle/>
          <a:p>
            <a:pPr marL="285750" indent="-285750">
              <a:buFontTx/>
              <a:buChar char="-"/>
            </a:pPr>
            <a:r>
              <a:rPr lang="es-CO" dirty="0"/>
              <a:t>Magnitud</a:t>
            </a:r>
          </a:p>
          <a:p>
            <a:pPr marL="285750" indent="-285750">
              <a:buFontTx/>
              <a:buChar char="-"/>
            </a:pPr>
            <a:r>
              <a:rPr lang="es-CO" dirty="0"/>
              <a:t>Duración</a:t>
            </a:r>
          </a:p>
          <a:p>
            <a:pPr marL="285750" indent="-285750">
              <a:buFontTx/>
              <a:buChar char="-"/>
            </a:pPr>
            <a:r>
              <a:rPr lang="es-CO" dirty="0"/>
              <a:t>Veces por km</a:t>
            </a:r>
          </a:p>
        </p:txBody>
      </p:sp>
      <p:sp>
        <p:nvSpPr>
          <p:cNvPr id="8" name="TextBox 7">
            <a:extLst>
              <a:ext uri="{FF2B5EF4-FFF2-40B4-BE49-F238E27FC236}">
                <a16:creationId xmlns:a16="http://schemas.microsoft.com/office/drawing/2014/main" id="{EA6B59D3-95CC-4D76-B6D9-B6C55093DD1F}"/>
              </a:ext>
            </a:extLst>
          </p:cNvPr>
          <p:cNvSpPr txBox="1"/>
          <p:nvPr/>
        </p:nvSpPr>
        <p:spPr>
          <a:xfrm>
            <a:off x="819150" y="4352925"/>
            <a:ext cx="2324742" cy="1754326"/>
          </a:xfrm>
          <a:prstGeom prst="rect">
            <a:avLst/>
          </a:prstGeom>
          <a:noFill/>
        </p:spPr>
        <p:txBody>
          <a:bodyPr wrap="square" rtlCol="0">
            <a:spAutoFit/>
          </a:bodyPr>
          <a:lstStyle/>
          <a:p>
            <a:pPr marL="285750" indent="-285750">
              <a:buFontTx/>
              <a:buChar char="-"/>
            </a:pPr>
            <a:r>
              <a:rPr lang="es-CO" dirty="0" err="1"/>
              <a:t>Vel</a:t>
            </a:r>
            <a:r>
              <a:rPr lang="es-CO" dirty="0"/>
              <a:t>. en movimiento</a:t>
            </a:r>
          </a:p>
          <a:p>
            <a:pPr marL="285750" indent="-285750">
              <a:buFontTx/>
              <a:buChar char="-"/>
            </a:pPr>
            <a:r>
              <a:rPr lang="es-CO" dirty="0" err="1"/>
              <a:t>Vel</a:t>
            </a:r>
            <a:r>
              <a:rPr lang="es-CO" dirty="0"/>
              <a:t>. normalizada</a:t>
            </a:r>
          </a:p>
          <a:p>
            <a:pPr marL="285750" indent="-285750">
              <a:buFontTx/>
              <a:buChar char="-"/>
            </a:pPr>
            <a:r>
              <a:rPr lang="es-CO" dirty="0"/>
              <a:t>Desviación de la media por sector</a:t>
            </a:r>
          </a:p>
          <a:p>
            <a:pPr marL="285750" indent="-285750">
              <a:buFontTx/>
              <a:buChar char="-"/>
            </a:pPr>
            <a:endParaRPr lang="es-CO" dirty="0"/>
          </a:p>
          <a:p>
            <a:pPr marL="285750" indent="-285750">
              <a:buFontTx/>
              <a:buChar char="-"/>
            </a:pPr>
            <a:r>
              <a:rPr lang="es-CO" dirty="0"/>
              <a:t>Velocidad comercial</a:t>
            </a:r>
          </a:p>
        </p:txBody>
      </p:sp>
      <p:graphicFrame>
        <p:nvGraphicFramePr>
          <p:cNvPr id="9" name="Diagram 8">
            <a:extLst>
              <a:ext uri="{FF2B5EF4-FFF2-40B4-BE49-F238E27FC236}">
                <a16:creationId xmlns:a16="http://schemas.microsoft.com/office/drawing/2014/main" id="{F999F581-A487-4747-B1A6-38392E17F53E}"/>
              </a:ext>
            </a:extLst>
          </p:cNvPr>
          <p:cNvGraphicFramePr/>
          <p:nvPr>
            <p:extLst>
              <p:ext uri="{D42A27DB-BD31-4B8C-83A1-F6EECF244321}">
                <p14:modId xmlns:p14="http://schemas.microsoft.com/office/powerpoint/2010/main" val="3893246317"/>
              </p:ext>
            </p:extLst>
          </p:nvPr>
        </p:nvGraphicFramePr>
        <p:xfrm>
          <a:off x="1557865" y="750749"/>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a:extLst>
              <a:ext uri="{FF2B5EF4-FFF2-40B4-BE49-F238E27FC236}">
                <a16:creationId xmlns:a16="http://schemas.microsoft.com/office/drawing/2014/main" id="{6DC37858-F31D-4B2E-9F2E-C5BA342B3D91}"/>
              </a:ext>
            </a:extLst>
          </p:cNvPr>
          <p:cNvGrpSpPr/>
          <p:nvPr/>
        </p:nvGrpSpPr>
        <p:grpSpPr>
          <a:xfrm>
            <a:off x="5975681" y="2363204"/>
            <a:ext cx="2450769" cy="980307"/>
            <a:chOff x="4210" y="1601113"/>
            <a:chExt cx="2450769" cy="980307"/>
          </a:xfrm>
          <a:solidFill>
            <a:schemeClr val="bg2"/>
          </a:solidFill>
        </p:grpSpPr>
        <p:sp>
          <p:nvSpPr>
            <p:cNvPr id="11" name="Arrow: Chevron 10">
              <a:extLst>
                <a:ext uri="{FF2B5EF4-FFF2-40B4-BE49-F238E27FC236}">
                  <a16:creationId xmlns:a16="http://schemas.microsoft.com/office/drawing/2014/main" id="{85D91A97-BF4E-4D88-B40F-02445193A38A}"/>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Arrow: Chevron 4">
              <a:extLst>
                <a:ext uri="{FF2B5EF4-FFF2-40B4-BE49-F238E27FC236}">
                  <a16:creationId xmlns:a16="http://schemas.microsoft.com/office/drawing/2014/main" id="{002828BF-8C92-4FEC-A9C2-C99CDEC1AA78}"/>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Procesamiento</a:t>
              </a:r>
            </a:p>
          </p:txBody>
        </p:sp>
      </p:grpSp>
      <p:grpSp>
        <p:nvGrpSpPr>
          <p:cNvPr id="13" name="Group 12">
            <a:extLst>
              <a:ext uri="{FF2B5EF4-FFF2-40B4-BE49-F238E27FC236}">
                <a16:creationId xmlns:a16="http://schemas.microsoft.com/office/drawing/2014/main" id="{FD4EF321-0648-46BF-B7A2-9E01763F95B1}"/>
              </a:ext>
            </a:extLst>
          </p:cNvPr>
          <p:cNvGrpSpPr/>
          <p:nvPr/>
        </p:nvGrpSpPr>
        <p:grpSpPr>
          <a:xfrm>
            <a:off x="8211830" y="2358441"/>
            <a:ext cx="2450769" cy="980307"/>
            <a:chOff x="4210" y="1601113"/>
            <a:chExt cx="2450769" cy="980307"/>
          </a:xfrm>
          <a:solidFill>
            <a:schemeClr val="bg2"/>
          </a:solidFill>
        </p:grpSpPr>
        <p:sp>
          <p:nvSpPr>
            <p:cNvPr id="14" name="Arrow: Chevron 13">
              <a:extLst>
                <a:ext uri="{FF2B5EF4-FFF2-40B4-BE49-F238E27FC236}">
                  <a16:creationId xmlns:a16="http://schemas.microsoft.com/office/drawing/2014/main" id="{E726A52C-55F7-4159-8CC1-ECB3B8EE70D4}"/>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Arrow: Chevron 4">
              <a:extLst>
                <a:ext uri="{FF2B5EF4-FFF2-40B4-BE49-F238E27FC236}">
                  <a16:creationId xmlns:a16="http://schemas.microsoft.com/office/drawing/2014/main" id="{01725BB1-FE4F-461D-98C4-B04696FF5A0C}"/>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Análisis</a:t>
              </a:r>
            </a:p>
          </p:txBody>
        </p:sp>
      </p:grpSp>
      <p:grpSp>
        <p:nvGrpSpPr>
          <p:cNvPr id="16" name="Group 15">
            <a:extLst>
              <a:ext uri="{FF2B5EF4-FFF2-40B4-BE49-F238E27FC236}">
                <a16:creationId xmlns:a16="http://schemas.microsoft.com/office/drawing/2014/main" id="{F7295434-8EE4-4E0C-9ACD-219138C115C4}"/>
              </a:ext>
            </a:extLst>
          </p:cNvPr>
          <p:cNvGrpSpPr/>
          <p:nvPr/>
        </p:nvGrpSpPr>
        <p:grpSpPr>
          <a:xfrm>
            <a:off x="1557865" y="2365586"/>
            <a:ext cx="2450769" cy="980307"/>
            <a:chOff x="4210" y="1601113"/>
            <a:chExt cx="2450769" cy="980307"/>
          </a:xfrm>
          <a:solidFill>
            <a:schemeClr val="bg2"/>
          </a:solidFill>
        </p:grpSpPr>
        <p:sp>
          <p:nvSpPr>
            <p:cNvPr id="17" name="Arrow: Chevron 16">
              <a:extLst>
                <a:ext uri="{FF2B5EF4-FFF2-40B4-BE49-F238E27FC236}">
                  <a16:creationId xmlns:a16="http://schemas.microsoft.com/office/drawing/2014/main" id="{A6535528-0E8C-4314-923A-7845B7937E3E}"/>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Arrow: Chevron 4">
              <a:extLst>
                <a:ext uri="{FF2B5EF4-FFF2-40B4-BE49-F238E27FC236}">
                  <a16:creationId xmlns:a16="http://schemas.microsoft.com/office/drawing/2014/main" id="{0E1EA4C6-B50A-4CE8-A299-E32594435530}"/>
                </a:ext>
              </a:extLst>
            </p:cNvPr>
            <p:cNvSpPr txBox="1"/>
            <p:nvPr/>
          </p:nvSpPr>
          <p:spPr>
            <a:xfrm>
              <a:off x="494364" y="1672167"/>
              <a:ext cx="1470462" cy="82867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Recolección de datos</a:t>
              </a:r>
            </a:p>
          </p:txBody>
        </p:sp>
      </p:grpSp>
      <p:grpSp>
        <p:nvGrpSpPr>
          <p:cNvPr id="19" name="Group 18">
            <a:extLst>
              <a:ext uri="{FF2B5EF4-FFF2-40B4-BE49-F238E27FC236}">
                <a16:creationId xmlns:a16="http://schemas.microsoft.com/office/drawing/2014/main" id="{E1236F29-5D38-4D77-B041-EB39C5763E96}"/>
              </a:ext>
            </a:extLst>
          </p:cNvPr>
          <p:cNvGrpSpPr/>
          <p:nvPr/>
        </p:nvGrpSpPr>
        <p:grpSpPr>
          <a:xfrm>
            <a:off x="3769989" y="2362136"/>
            <a:ext cx="2450769" cy="980307"/>
            <a:chOff x="4210" y="1601113"/>
            <a:chExt cx="2450769" cy="980307"/>
          </a:xfrm>
          <a:solidFill>
            <a:schemeClr val="bg2"/>
          </a:solidFill>
        </p:grpSpPr>
        <p:sp>
          <p:nvSpPr>
            <p:cNvPr id="20" name="Arrow: Chevron 19">
              <a:extLst>
                <a:ext uri="{FF2B5EF4-FFF2-40B4-BE49-F238E27FC236}">
                  <a16:creationId xmlns:a16="http://schemas.microsoft.com/office/drawing/2014/main" id="{835E8E59-3EC3-4811-9586-167BD5E431C1}"/>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Arrow: Chevron 4">
              <a:extLst>
                <a:ext uri="{FF2B5EF4-FFF2-40B4-BE49-F238E27FC236}">
                  <a16:creationId xmlns:a16="http://schemas.microsoft.com/office/drawing/2014/main" id="{6A58D9AB-9C76-4F8E-BAA7-947157FC83D9}"/>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Preprocesamiento</a:t>
              </a:r>
            </a:p>
          </p:txBody>
        </p:sp>
      </p:grpSp>
    </p:spTree>
    <p:extLst>
      <p:ext uri="{BB962C8B-B14F-4D97-AF65-F5344CB8AC3E}">
        <p14:creationId xmlns:p14="http://schemas.microsoft.com/office/powerpoint/2010/main" val="4282354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7D06-62BF-4535-8728-DB581B1ED3CE}"/>
              </a:ext>
            </a:extLst>
          </p:cNvPr>
          <p:cNvSpPr>
            <a:spLocks noGrp="1"/>
          </p:cNvSpPr>
          <p:nvPr>
            <p:ph type="title"/>
          </p:nvPr>
        </p:nvSpPr>
        <p:spPr/>
        <p:txBody>
          <a:bodyPr/>
          <a:lstStyle/>
          <a:p>
            <a:r>
              <a:rPr lang="es-CO" dirty="0"/>
              <a:t>¡Muchas gracias!</a:t>
            </a:r>
          </a:p>
        </p:txBody>
      </p:sp>
      <p:sp>
        <p:nvSpPr>
          <p:cNvPr id="4" name="Text Placeholder 3">
            <a:extLst>
              <a:ext uri="{FF2B5EF4-FFF2-40B4-BE49-F238E27FC236}">
                <a16:creationId xmlns:a16="http://schemas.microsoft.com/office/drawing/2014/main" id="{B780233E-8494-4A11-BB33-55E476527B94}"/>
              </a:ext>
            </a:extLst>
          </p:cNvPr>
          <p:cNvSpPr>
            <a:spLocks noGrp="1"/>
          </p:cNvSpPr>
          <p:nvPr>
            <p:ph type="body" sz="half" idx="2"/>
          </p:nvPr>
        </p:nvSpPr>
        <p:spPr/>
        <p:txBody>
          <a:bodyPr/>
          <a:lstStyle/>
          <a:p>
            <a:r>
              <a:rPr lang="es-CO" dirty="0"/>
              <a:t>Profesor Daniel Jaramillo R.</a:t>
            </a:r>
          </a:p>
          <a:p>
            <a:r>
              <a:rPr lang="es-CO" dirty="0"/>
              <a:t>d-jaramillo@javeriana.edu.co</a:t>
            </a:r>
          </a:p>
        </p:txBody>
      </p:sp>
      <p:pic>
        <p:nvPicPr>
          <p:cNvPr id="6" name="Picture 2" descr="Historia de La Rolita, Operadora Distrital de Transporte de Bogotá |  Bogota.gov.co">
            <a:extLst>
              <a:ext uri="{FF2B5EF4-FFF2-40B4-BE49-F238E27FC236}">
                <a16:creationId xmlns:a16="http://schemas.microsoft.com/office/drawing/2014/main" id="{6A47EF1E-D937-4511-94BD-97B83A82331E}"/>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19990" b="19990"/>
          <a:stretch/>
        </p:blipFill>
        <p:spPr bwMode="auto">
          <a:xfrm>
            <a:off x="447675" y="600075"/>
            <a:ext cx="11290300" cy="355758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83FC0BA-AEEE-4F5F-85CA-2E65A012E59D}"/>
              </a:ext>
            </a:extLst>
          </p:cNvPr>
          <p:cNvSpPr>
            <a:spLocks noGrp="1"/>
          </p:cNvSpPr>
          <p:nvPr>
            <p:ph type="sldNum" sz="quarter" idx="12"/>
          </p:nvPr>
        </p:nvSpPr>
        <p:spPr/>
        <p:txBody>
          <a:bodyPr/>
          <a:lstStyle/>
          <a:p>
            <a:fld id="{00670DA0-C7A9-4FF5-B8FB-4DCD6DFD0B70}" type="slidenum">
              <a:rPr lang="es-CO" smtClean="0"/>
              <a:t>44</a:t>
            </a:fld>
            <a:endParaRPr lang="es-CO"/>
          </a:p>
        </p:txBody>
      </p:sp>
      <p:sp>
        <p:nvSpPr>
          <p:cNvPr id="8" name="TextBox 7">
            <a:extLst>
              <a:ext uri="{FF2B5EF4-FFF2-40B4-BE49-F238E27FC236}">
                <a16:creationId xmlns:a16="http://schemas.microsoft.com/office/drawing/2014/main" id="{C187602E-117F-4468-96E5-DAEE37607402}"/>
              </a:ext>
            </a:extLst>
          </p:cNvPr>
          <p:cNvSpPr txBox="1"/>
          <p:nvPr/>
        </p:nvSpPr>
        <p:spPr>
          <a:xfrm>
            <a:off x="699211" y="768369"/>
            <a:ext cx="10911597" cy="3139321"/>
          </a:xfrm>
          <a:prstGeom prst="rect">
            <a:avLst/>
          </a:prstGeom>
          <a:solidFill>
            <a:schemeClr val="bg2">
              <a:alpha val="82000"/>
            </a:schemeClr>
          </a:solidFill>
        </p:spPr>
        <p:txBody>
          <a:bodyPr wrap="square" rtlCol="0">
            <a:spAutoFit/>
          </a:bodyPr>
          <a:lstStyle/>
          <a:p>
            <a:pPr marL="285750" indent="-285750">
              <a:buFont typeface="Wingdings" panose="05000000000000000000" pitchFamily="2" charset="2"/>
              <a:buChar char="§"/>
            </a:pPr>
            <a:r>
              <a:rPr lang="es-CO" dirty="0"/>
              <a:t>A pesar de la congestión </a:t>
            </a:r>
            <a:r>
              <a:rPr lang="es-CO" b="1" dirty="0">
                <a:solidFill>
                  <a:srgbClr val="666633"/>
                </a:solidFill>
              </a:rPr>
              <a:t>los hombres manejan ligeramente más rápido que las mujeres.</a:t>
            </a:r>
          </a:p>
          <a:p>
            <a:r>
              <a:rPr lang="es-CO" b="1" dirty="0">
                <a:solidFill>
                  <a:srgbClr val="666633"/>
                </a:solidFill>
              </a:rPr>
              <a:t>    Aprox. 0.4 km/h en segmentos y horarios comparables</a:t>
            </a:r>
            <a:r>
              <a:rPr lang="es-CO" dirty="0"/>
              <a:t>. </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r>
              <a:rPr lang="es-CO" dirty="0"/>
              <a:t>Los comportamientos de (des)aceleraciones, son propios de un conductor y no del sexo. </a:t>
            </a:r>
          </a:p>
          <a:p>
            <a:r>
              <a:rPr lang="es-CO" b="1" dirty="0">
                <a:solidFill>
                  <a:srgbClr val="666633"/>
                </a:solidFill>
              </a:rPr>
              <a:t>    Mayor # frenadas/km </a:t>
            </a:r>
            <a:r>
              <a:rPr lang="es-CO" b="1" dirty="0">
                <a:solidFill>
                  <a:srgbClr val="666633"/>
                </a:solidFill>
                <a:sym typeface="Wingdings" panose="05000000000000000000" pitchFamily="2" charset="2"/>
              </a:rPr>
              <a:t> frenadas más largas.</a:t>
            </a:r>
          </a:p>
          <a:p>
            <a:pPr marL="285750" indent="-285750">
              <a:buFont typeface="Wingdings" panose="05000000000000000000" pitchFamily="2" charset="2"/>
              <a:buChar char="§"/>
            </a:pPr>
            <a:endParaRPr lang="es-CO" b="1" dirty="0">
              <a:solidFill>
                <a:srgbClr val="666633"/>
              </a:solidFill>
              <a:sym typeface="Wingdings" panose="05000000000000000000" pitchFamily="2" charset="2"/>
            </a:endParaRPr>
          </a:p>
          <a:p>
            <a:pPr marL="285750" indent="-285750">
              <a:buFont typeface="Wingdings" panose="05000000000000000000" pitchFamily="2" charset="2"/>
              <a:buChar char="§"/>
            </a:pPr>
            <a:r>
              <a:rPr lang="es-CO" dirty="0">
                <a:sym typeface="Wingdings" panose="05000000000000000000" pitchFamily="2" charset="2"/>
              </a:rPr>
              <a:t>La congestión tiene un alto costo en el consumo de energía. </a:t>
            </a:r>
          </a:p>
          <a:p>
            <a:r>
              <a:rPr lang="es-CO" b="1" dirty="0">
                <a:solidFill>
                  <a:srgbClr val="666633"/>
                </a:solidFill>
                <a:sym typeface="Wingdings" panose="05000000000000000000" pitchFamily="2" charset="2"/>
              </a:rPr>
              <a:t>    </a:t>
            </a:r>
            <a:r>
              <a:rPr lang="es-CO" b="1" dirty="0">
                <a:solidFill>
                  <a:srgbClr val="666633"/>
                </a:solidFill>
              </a:rPr>
              <a:t>Una ruta con 5 km/h menos, equivale a 0.5 kWh/km más (+ 50% aprox.).</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r>
              <a:rPr lang="es-CO" dirty="0"/>
              <a:t>Los hombres regeneran aproximadamente </a:t>
            </a:r>
            <a:r>
              <a:rPr lang="es-CO" b="1" dirty="0">
                <a:solidFill>
                  <a:srgbClr val="666633"/>
                </a:solidFill>
              </a:rPr>
              <a:t>2% más energía que las mujeres.</a:t>
            </a:r>
          </a:p>
          <a:p>
            <a:pPr marL="285750" indent="-285750">
              <a:buFont typeface="Wingdings" panose="05000000000000000000" pitchFamily="2" charset="2"/>
              <a:buChar char="§"/>
            </a:pPr>
            <a:endParaRPr lang="es-CO" b="1" dirty="0">
              <a:solidFill>
                <a:srgbClr val="666633"/>
              </a:solidFill>
            </a:endParaRPr>
          </a:p>
        </p:txBody>
      </p:sp>
      <p:pic>
        <p:nvPicPr>
          <p:cNvPr id="9" name="Imagen 4">
            <a:extLst>
              <a:ext uri="{FF2B5EF4-FFF2-40B4-BE49-F238E27FC236}">
                <a16:creationId xmlns:a16="http://schemas.microsoft.com/office/drawing/2014/main" id="{064F1FF7-5910-42B1-AF8D-16DDDD679ED6}"/>
              </a:ext>
            </a:extLst>
          </p:cNvPr>
          <p:cNvPicPr>
            <a:picLocks noChangeAspect="1"/>
          </p:cNvPicPr>
          <p:nvPr/>
        </p:nvPicPr>
        <p:blipFill>
          <a:blip r:embed="rId3"/>
          <a:stretch>
            <a:fillRect/>
          </a:stretch>
        </p:blipFill>
        <p:spPr>
          <a:xfrm>
            <a:off x="8130038" y="4666781"/>
            <a:ext cx="3032643" cy="1422850"/>
          </a:xfrm>
          <a:prstGeom prst="rect">
            <a:avLst/>
          </a:prstGeom>
        </p:spPr>
      </p:pic>
    </p:spTree>
    <p:extLst>
      <p:ext uri="{BB962C8B-B14F-4D97-AF65-F5344CB8AC3E}">
        <p14:creationId xmlns:p14="http://schemas.microsoft.com/office/powerpoint/2010/main" val="300696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FB02-DAD5-43B2-A550-22FA80D02D94}"/>
              </a:ext>
            </a:extLst>
          </p:cNvPr>
          <p:cNvSpPr>
            <a:spLocks noGrp="1"/>
          </p:cNvSpPr>
          <p:nvPr>
            <p:ph type="title"/>
          </p:nvPr>
        </p:nvSpPr>
        <p:spPr/>
        <p:txBody>
          <a:bodyPr/>
          <a:lstStyle/>
          <a:p>
            <a:r>
              <a:rPr lang="es-CO" dirty="0"/>
              <a:t>Otros resultados</a:t>
            </a:r>
          </a:p>
        </p:txBody>
      </p:sp>
      <p:sp>
        <p:nvSpPr>
          <p:cNvPr id="3" name="Text Placeholder 2">
            <a:extLst>
              <a:ext uri="{FF2B5EF4-FFF2-40B4-BE49-F238E27FC236}">
                <a16:creationId xmlns:a16="http://schemas.microsoft.com/office/drawing/2014/main" id="{2A43B551-0A39-4F50-8B97-9BA04BD4A6FE}"/>
              </a:ext>
            </a:extLst>
          </p:cNvPr>
          <p:cNvSpPr>
            <a:spLocks noGrp="1"/>
          </p:cNvSpPr>
          <p:nvPr>
            <p:ph type="body" idx="1"/>
          </p:nvPr>
        </p:nvSpPr>
        <p:spPr/>
        <p:txBody>
          <a:bodyPr/>
          <a:lstStyle/>
          <a:p>
            <a:endParaRPr lang="es-CO"/>
          </a:p>
        </p:txBody>
      </p:sp>
      <p:sp>
        <p:nvSpPr>
          <p:cNvPr id="4" name="Slide Number Placeholder 3">
            <a:extLst>
              <a:ext uri="{FF2B5EF4-FFF2-40B4-BE49-F238E27FC236}">
                <a16:creationId xmlns:a16="http://schemas.microsoft.com/office/drawing/2014/main" id="{C9D6FBC6-DE3E-456C-A506-BEAC1A7DD412}"/>
              </a:ext>
            </a:extLst>
          </p:cNvPr>
          <p:cNvSpPr>
            <a:spLocks noGrp="1"/>
          </p:cNvSpPr>
          <p:nvPr>
            <p:ph type="sldNum" sz="quarter" idx="12"/>
          </p:nvPr>
        </p:nvSpPr>
        <p:spPr/>
        <p:txBody>
          <a:bodyPr/>
          <a:lstStyle/>
          <a:p>
            <a:fld id="{00670DA0-C7A9-4FF5-B8FB-4DCD6DFD0B70}" type="slidenum">
              <a:rPr lang="es-CO" smtClean="0"/>
              <a:t>45</a:t>
            </a:fld>
            <a:endParaRPr lang="es-CO"/>
          </a:p>
        </p:txBody>
      </p:sp>
    </p:spTree>
    <p:extLst>
      <p:ext uri="{BB962C8B-B14F-4D97-AF65-F5344CB8AC3E}">
        <p14:creationId xmlns:p14="http://schemas.microsoft.com/office/powerpoint/2010/main" val="1579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62A1-92C7-4A96-B153-802BDC79CF30}"/>
              </a:ext>
            </a:extLst>
          </p:cNvPr>
          <p:cNvSpPr>
            <a:spLocks noGrp="1"/>
          </p:cNvSpPr>
          <p:nvPr>
            <p:ph type="title"/>
          </p:nvPr>
        </p:nvSpPr>
        <p:spPr/>
        <p:txBody>
          <a:bodyPr/>
          <a:lstStyle/>
          <a:p>
            <a:r>
              <a:rPr lang="es-CO" dirty="0"/>
              <a:t>preprocesamiento</a:t>
            </a:r>
          </a:p>
        </p:txBody>
      </p:sp>
      <p:pic>
        <p:nvPicPr>
          <p:cNvPr id="5" name="Picture 4">
            <a:extLst>
              <a:ext uri="{FF2B5EF4-FFF2-40B4-BE49-F238E27FC236}">
                <a16:creationId xmlns:a16="http://schemas.microsoft.com/office/drawing/2014/main" id="{6F7E54D5-CF05-4AEF-9A6C-B311E468937F}"/>
              </a:ext>
            </a:extLst>
          </p:cNvPr>
          <p:cNvPicPr>
            <a:picLocks noChangeAspect="1"/>
          </p:cNvPicPr>
          <p:nvPr/>
        </p:nvPicPr>
        <p:blipFill>
          <a:blip r:embed="rId2"/>
          <a:stretch>
            <a:fillRect/>
          </a:stretch>
        </p:blipFill>
        <p:spPr>
          <a:xfrm>
            <a:off x="1662111" y="1897663"/>
            <a:ext cx="8867775" cy="4243968"/>
          </a:xfrm>
          <a:prstGeom prst="rect">
            <a:avLst/>
          </a:prstGeom>
        </p:spPr>
      </p:pic>
      <p:sp>
        <p:nvSpPr>
          <p:cNvPr id="6" name="Slide Number Placeholder 5">
            <a:extLst>
              <a:ext uri="{FF2B5EF4-FFF2-40B4-BE49-F238E27FC236}">
                <a16:creationId xmlns:a16="http://schemas.microsoft.com/office/drawing/2014/main" id="{9039D071-5D5B-4465-B1BE-003F90E44BB8}"/>
              </a:ext>
            </a:extLst>
          </p:cNvPr>
          <p:cNvSpPr>
            <a:spLocks noGrp="1"/>
          </p:cNvSpPr>
          <p:nvPr>
            <p:ph type="sldNum" sz="quarter" idx="12"/>
          </p:nvPr>
        </p:nvSpPr>
        <p:spPr/>
        <p:txBody>
          <a:bodyPr/>
          <a:lstStyle/>
          <a:p>
            <a:fld id="{00670DA0-C7A9-4FF5-B8FB-4DCD6DFD0B70}" type="slidenum">
              <a:rPr lang="es-CO" smtClean="0"/>
              <a:t>46</a:t>
            </a:fld>
            <a:endParaRPr lang="es-CO"/>
          </a:p>
        </p:txBody>
      </p:sp>
    </p:spTree>
    <p:extLst>
      <p:ext uri="{BB962C8B-B14F-4D97-AF65-F5344CB8AC3E}">
        <p14:creationId xmlns:p14="http://schemas.microsoft.com/office/powerpoint/2010/main" val="72351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9C78-C666-4E37-967E-B3E385AFC989}"/>
              </a:ext>
            </a:extLst>
          </p:cNvPr>
          <p:cNvSpPr>
            <a:spLocks noGrp="1"/>
          </p:cNvSpPr>
          <p:nvPr>
            <p:ph type="title"/>
          </p:nvPr>
        </p:nvSpPr>
        <p:spPr/>
        <p:txBody>
          <a:bodyPr/>
          <a:lstStyle/>
          <a:p>
            <a:r>
              <a:rPr lang="es-CO" dirty="0"/>
              <a:t>Velocidad picos</a:t>
            </a:r>
          </a:p>
        </p:txBody>
      </p:sp>
      <p:pic>
        <p:nvPicPr>
          <p:cNvPr id="7" name="Picture 6">
            <a:extLst>
              <a:ext uri="{FF2B5EF4-FFF2-40B4-BE49-F238E27FC236}">
                <a16:creationId xmlns:a16="http://schemas.microsoft.com/office/drawing/2014/main" id="{3BF7BB1E-0F31-4975-87BB-FB149EBD2E6B}"/>
              </a:ext>
            </a:extLst>
          </p:cNvPr>
          <p:cNvPicPr>
            <a:picLocks noChangeAspect="1"/>
          </p:cNvPicPr>
          <p:nvPr/>
        </p:nvPicPr>
        <p:blipFill>
          <a:blip r:embed="rId2"/>
          <a:stretch>
            <a:fillRect/>
          </a:stretch>
        </p:blipFill>
        <p:spPr>
          <a:xfrm>
            <a:off x="4449233" y="2913588"/>
            <a:ext cx="3310467" cy="2482850"/>
          </a:xfrm>
          <a:prstGeom prst="rect">
            <a:avLst/>
          </a:prstGeom>
        </p:spPr>
      </p:pic>
      <p:pic>
        <p:nvPicPr>
          <p:cNvPr id="9" name="Picture 8">
            <a:extLst>
              <a:ext uri="{FF2B5EF4-FFF2-40B4-BE49-F238E27FC236}">
                <a16:creationId xmlns:a16="http://schemas.microsoft.com/office/drawing/2014/main" id="{4BFF331A-AFF7-4FB0-B81C-65705F65E5C1}"/>
              </a:ext>
            </a:extLst>
          </p:cNvPr>
          <p:cNvPicPr>
            <a:picLocks noChangeAspect="1"/>
          </p:cNvPicPr>
          <p:nvPr/>
        </p:nvPicPr>
        <p:blipFill>
          <a:blip r:embed="rId3"/>
          <a:stretch>
            <a:fillRect/>
          </a:stretch>
        </p:blipFill>
        <p:spPr>
          <a:xfrm>
            <a:off x="1465969" y="2910146"/>
            <a:ext cx="3310468" cy="2482851"/>
          </a:xfrm>
          <a:prstGeom prst="rect">
            <a:avLst/>
          </a:prstGeom>
        </p:spPr>
      </p:pic>
      <p:pic>
        <p:nvPicPr>
          <p:cNvPr id="11" name="Picture 10">
            <a:extLst>
              <a:ext uri="{FF2B5EF4-FFF2-40B4-BE49-F238E27FC236}">
                <a16:creationId xmlns:a16="http://schemas.microsoft.com/office/drawing/2014/main" id="{321DB341-6001-4B5D-9B8D-7237C7CC5DE0}"/>
              </a:ext>
            </a:extLst>
          </p:cNvPr>
          <p:cNvPicPr>
            <a:picLocks noChangeAspect="1"/>
          </p:cNvPicPr>
          <p:nvPr/>
        </p:nvPicPr>
        <p:blipFill>
          <a:blip r:embed="rId4"/>
          <a:stretch>
            <a:fillRect/>
          </a:stretch>
        </p:blipFill>
        <p:spPr>
          <a:xfrm>
            <a:off x="7470597" y="2906704"/>
            <a:ext cx="3310467" cy="2482850"/>
          </a:xfrm>
          <a:prstGeom prst="rect">
            <a:avLst/>
          </a:prstGeom>
        </p:spPr>
      </p:pic>
      <p:sp>
        <p:nvSpPr>
          <p:cNvPr id="12" name="TextBox 11">
            <a:extLst>
              <a:ext uri="{FF2B5EF4-FFF2-40B4-BE49-F238E27FC236}">
                <a16:creationId xmlns:a16="http://schemas.microsoft.com/office/drawing/2014/main" id="{3720C7B5-7CAE-431F-B534-82842A3C21B9}"/>
              </a:ext>
            </a:extLst>
          </p:cNvPr>
          <p:cNvSpPr txBox="1"/>
          <p:nvPr/>
        </p:nvSpPr>
        <p:spPr>
          <a:xfrm>
            <a:off x="1811785" y="2537372"/>
            <a:ext cx="8775287" cy="369332"/>
          </a:xfrm>
          <a:prstGeom prst="rect">
            <a:avLst/>
          </a:prstGeom>
          <a:noFill/>
        </p:spPr>
        <p:txBody>
          <a:bodyPr wrap="none" rtlCol="0">
            <a:spAutoFit/>
          </a:bodyPr>
          <a:lstStyle/>
          <a:p>
            <a:r>
              <a:rPr lang="es-CO" dirty="0"/>
              <a:t>No se ven diferencias significativas, en valores de velocidad por encima de 30, 40 o 50 km/h</a:t>
            </a:r>
          </a:p>
        </p:txBody>
      </p:sp>
      <p:sp>
        <p:nvSpPr>
          <p:cNvPr id="4" name="Slide Number Placeholder 3">
            <a:extLst>
              <a:ext uri="{FF2B5EF4-FFF2-40B4-BE49-F238E27FC236}">
                <a16:creationId xmlns:a16="http://schemas.microsoft.com/office/drawing/2014/main" id="{FCD2781E-7A8A-42EF-B341-88DF8C9F376E}"/>
              </a:ext>
            </a:extLst>
          </p:cNvPr>
          <p:cNvSpPr>
            <a:spLocks noGrp="1"/>
          </p:cNvSpPr>
          <p:nvPr>
            <p:ph type="sldNum" sz="quarter" idx="12"/>
          </p:nvPr>
        </p:nvSpPr>
        <p:spPr/>
        <p:txBody>
          <a:bodyPr/>
          <a:lstStyle/>
          <a:p>
            <a:fld id="{00670DA0-C7A9-4FF5-B8FB-4DCD6DFD0B70}" type="slidenum">
              <a:rPr lang="es-CO" smtClean="0"/>
              <a:t>47</a:t>
            </a:fld>
            <a:endParaRPr lang="es-CO"/>
          </a:p>
        </p:txBody>
      </p:sp>
    </p:spTree>
    <p:extLst>
      <p:ext uri="{BB962C8B-B14F-4D97-AF65-F5344CB8AC3E}">
        <p14:creationId xmlns:p14="http://schemas.microsoft.com/office/powerpoint/2010/main" val="23860563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EE48-2C2A-4682-829E-95B1DE52E482}"/>
              </a:ext>
            </a:extLst>
          </p:cNvPr>
          <p:cNvSpPr>
            <a:spLocks noGrp="1"/>
          </p:cNvSpPr>
          <p:nvPr>
            <p:ph type="title"/>
          </p:nvPr>
        </p:nvSpPr>
        <p:spPr/>
        <p:txBody>
          <a:bodyPr/>
          <a:lstStyle/>
          <a:p>
            <a:r>
              <a:rPr lang="es-CO" dirty="0"/>
              <a:t>duración de paradas</a:t>
            </a:r>
          </a:p>
        </p:txBody>
      </p:sp>
      <p:pic>
        <p:nvPicPr>
          <p:cNvPr id="8" name="Content Placeholder 7">
            <a:extLst>
              <a:ext uri="{FF2B5EF4-FFF2-40B4-BE49-F238E27FC236}">
                <a16:creationId xmlns:a16="http://schemas.microsoft.com/office/drawing/2014/main" id="{D3B43C55-2922-4ACF-A575-285523C32415}"/>
              </a:ext>
            </a:extLst>
          </p:cNvPr>
          <p:cNvPicPr>
            <a:picLocks noGrp="1" noChangeAspect="1"/>
          </p:cNvPicPr>
          <p:nvPr>
            <p:ph idx="1"/>
          </p:nvPr>
        </p:nvPicPr>
        <p:blipFill>
          <a:blip r:embed="rId2"/>
          <a:stretch>
            <a:fillRect/>
          </a:stretch>
        </p:blipFill>
        <p:spPr>
          <a:xfrm>
            <a:off x="1230061" y="2181225"/>
            <a:ext cx="9731878" cy="3678238"/>
          </a:xfrm>
        </p:spPr>
      </p:pic>
      <p:sp>
        <p:nvSpPr>
          <p:cNvPr id="4" name="Slide Number Placeholder 3">
            <a:extLst>
              <a:ext uri="{FF2B5EF4-FFF2-40B4-BE49-F238E27FC236}">
                <a16:creationId xmlns:a16="http://schemas.microsoft.com/office/drawing/2014/main" id="{32350EFE-77E1-4243-9FD4-0AB5A06E31A7}"/>
              </a:ext>
            </a:extLst>
          </p:cNvPr>
          <p:cNvSpPr>
            <a:spLocks noGrp="1"/>
          </p:cNvSpPr>
          <p:nvPr>
            <p:ph type="sldNum" sz="quarter" idx="12"/>
          </p:nvPr>
        </p:nvSpPr>
        <p:spPr/>
        <p:txBody>
          <a:bodyPr/>
          <a:lstStyle/>
          <a:p>
            <a:fld id="{00670DA0-C7A9-4FF5-B8FB-4DCD6DFD0B70}" type="slidenum">
              <a:rPr lang="es-CO" smtClean="0"/>
              <a:t>48</a:t>
            </a:fld>
            <a:endParaRPr lang="es-CO"/>
          </a:p>
        </p:txBody>
      </p:sp>
    </p:spTree>
    <p:extLst>
      <p:ext uri="{BB962C8B-B14F-4D97-AF65-F5344CB8AC3E}">
        <p14:creationId xmlns:p14="http://schemas.microsoft.com/office/powerpoint/2010/main" val="11331041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F8F3-4FD6-4474-ABB3-6197CA16F65D}"/>
              </a:ext>
            </a:extLst>
          </p:cNvPr>
          <p:cNvSpPr>
            <a:spLocks noGrp="1"/>
          </p:cNvSpPr>
          <p:nvPr>
            <p:ph type="title"/>
          </p:nvPr>
        </p:nvSpPr>
        <p:spPr/>
        <p:txBody>
          <a:bodyPr/>
          <a:lstStyle/>
          <a:p>
            <a:r>
              <a:rPr lang="es-CO" dirty="0"/>
              <a:t>Bus 4012</a:t>
            </a:r>
          </a:p>
        </p:txBody>
      </p:sp>
      <p:pic>
        <p:nvPicPr>
          <p:cNvPr id="1026" name="Picture 2">
            <a:extLst>
              <a:ext uri="{FF2B5EF4-FFF2-40B4-BE49-F238E27FC236}">
                <a16:creationId xmlns:a16="http://schemas.microsoft.com/office/drawing/2014/main" id="{BD8BCB72-0F60-4220-BEF1-3326AC766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720" y="3310467"/>
            <a:ext cx="6332279" cy="31554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9F926FC-6CD8-43B0-9CA0-8063C80F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86624"/>
            <a:ext cx="6332279" cy="31554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B2E3021-DCDD-4625-A4CB-3BCD7B0D2C26}"/>
              </a:ext>
            </a:extLst>
          </p:cNvPr>
          <p:cNvSpPr>
            <a:spLocks noGrp="1"/>
          </p:cNvSpPr>
          <p:nvPr>
            <p:ph type="sldNum" sz="quarter" idx="12"/>
          </p:nvPr>
        </p:nvSpPr>
        <p:spPr/>
        <p:txBody>
          <a:bodyPr/>
          <a:lstStyle/>
          <a:p>
            <a:fld id="{00670DA0-C7A9-4FF5-B8FB-4DCD6DFD0B70}" type="slidenum">
              <a:rPr lang="es-CO" smtClean="0"/>
              <a:t>49</a:t>
            </a:fld>
            <a:endParaRPr lang="es-CO"/>
          </a:p>
        </p:txBody>
      </p:sp>
    </p:spTree>
    <p:extLst>
      <p:ext uri="{BB962C8B-B14F-4D97-AF65-F5344CB8AC3E}">
        <p14:creationId xmlns:p14="http://schemas.microsoft.com/office/powerpoint/2010/main" val="5912719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12" name="TextBox 11">
            <a:extLst>
              <a:ext uri="{FF2B5EF4-FFF2-40B4-BE49-F238E27FC236}">
                <a16:creationId xmlns:a16="http://schemas.microsoft.com/office/drawing/2014/main" id="{9401F842-71F5-4EBE-8380-74993E26472F}"/>
              </a:ext>
            </a:extLst>
          </p:cNvPr>
          <p:cNvSpPr txBox="1"/>
          <p:nvPr/>
        </p:nvSpPr>
        <p:spPr>
          <a:xfrm>
            <a:off x="3227871" y="646860"/>
            <a:ext cx="6780590" cy="1384995"/>
          </a:xfrm>
          <a:prstGeom prst="rect">
            <a:avLst/>
          </a:prstGeom>
          <a:noFill/>
        </p:spPr>
        <p:txBody>
          <a:bodyPr wrap="square" rtlCol="0">
            <a:spAutoFit/>
          </a:bodyPr>
          <a:lstStyle/>
          <a:p>
            <a:r>
              <a:rPr lang="es-CO" sz="1400" dirty="0"/>
              <a:t>En el 4012 y 4025 solo hay 2 </a:t>
            </a:r>
            <a:r>
              <a:rPr lang="es-CO" sz="1400" dirty="0" err="1"/>
              <a:t>IDs</a:t>
            </a:r>
            <a:r>
              <a:rPr lang="es-CO" sz="1400" dirty="0"/>
              <a:t> de Hs repetidos, el 168 (</a:t>
            </a:r>
            <a:r>
              <a:rPr lang="es-CO" sz="1400" dirty="0" err="1"/>
              <a:t>star</a:t>
            </a:r>
            <a:r>
              <a:rPr lang="es-CO" sz="1400" dirty="0"/>
              <a:t>) y el 730 (x): AMBOS CONSERVAN EL PROMEDIO DEL # FRE/KM, pero cambian la duración de la frenada, mayor en el 4025 en ambos casos.</a:t>
            </a:r>
          </a:p>
          <a:p>
            <a:endParaRPr lang="es-CO" sz="1400" dirty="0"/>
          </a:p>
          <a:p>
            <a:r>
              <a:rPr lang="es-CO" sz="1400" dirty="0"/>
              <a:t>Todos los </a:t>
            </a:r>
            <a:r>
              <a:rPr lang="es-CO" sz="1400" dirty="0" err="1"/>
              <a:t>CondID</a:t>
            </a:r>
            <a:r>
              <a:rPr lang="es-CO" sz="1400" dirty="0"/>
              <a:t> forman </a:t>
            </a:r>
            <a:r>
              <a:rPr lang="es-CO" sz="1400" dirty="0" err="1"/>
              <a:t>clusters</a:t>
            </a:r>
            <a:r>
              <a:rPr lang="es-CO" sz="1400" dirty="0"/>
              <a:t> cercanos! (Cada conductor tiene una huella digital de su patrón de conducción)</a:t>
            </a:r>
          </a:p>
        </p:txBody>
      </p:sp>
      <p:pic>
        <p:nvPicPr>
          <p:cNvPr id="6" name="Picture 5">
            <a:extLst>
              <a:ext uri="{FF2B5EF4-FFF2-40B4-BE49-F238E27FC236}">
                <a16:creationId xmlns:a16="http://schemas.microsoft.com/office/drawing/2014/main" id="{7EF67583-FCD5-4B10-8A7A-AD63D1C08E41}"/>
              </a:ext>
            </a:extLst>
          </p:cNvPr>
          <p:cNvPicPr>
            <a:picLocks noChangeAspect="1"/>
          </p:cNvPicPr>
          <p:nvPr/>
        </p:nvPicPr>
        <p:blipFill>
          <a:blip r:embed="rId2"/>
          <a:stretch>
            <a:fillRect/>
          </a:stretch>
        </p:blipFill>
        <p:spPr>
          <a:xfrm>
            <a:off x="716265" y="2155753"/>
            <a:ext cx="5379735" cy="4208236"/>
          </a:xfrm>
          <a:prstGeom prst="rect">
            <a:avLst/>
          </a:prstGeom>
        </p:spPr>
      </p:pic>
      <p:pic>
        <p:nvPicPr>
          <p:cNvPr id="17" name="Picture 16">
            <a:extLst>
              <a:ext uri="{FF2B5EF4-FFF2-40B4-BE49-F238E27FC236}">
                <a16:creationId xmlns:a16="http://schemas.microsoft.com/office/drawing/2014/main" id="{CF62DD5D-4297-4B92-B291-CF3DA3A9B734}"/>
              </a:ext>
            </a:extLst>
          </p:cNvPr>
          <p:cNvPicPr>
            <a:picLocks noChangeAspect="1"/>
          </p:cNvPicPr>
          <p:nvPr/>
        </p:nvPicPr>
        <p:blipFill>
          <a:blip r:embed="rId3"/>
          <a:stretch>
            <a:fillRect/>
          </a:stretch>
        </p:blipFill>
        <p:spPr>
          <a:xfrm>
            <a:off x="6359962" y="1912425"/>
            <a:ext cx="4785255" cy="4575462"/>
          </a:xfrm>
          <a:prstGeom prst="rect">
            <a:avLst/>
          </a:prstGeom>
        </p:spPr>
      </p:pic>
      <p:sp>
        <p:nvSpPr>
          <p:cNvPr id="3" name="Slide Number Placeholder 2">
            <a:extLst>
              <a:ext uri="{FF2B5EF4-FFF2-40B4-BE49-F238E27FC236}">
                <a16:creationId xmlns:a16="http://schemas.microsoft.com/office/drawing/2014/main" id="{A57B1CBF-DD19-44FF-875F-883CDEF46225}"/>
              </a:ext>
            </a:extLst>
          </p:cNvPr>
          <p:cNvSpPr>
            <a:spLocks noGrp="1"/>
          </p:cNvSpPr>
          <p:nvPr>
            <p:ph type="sldNum" sz="quarter" idx="12"/>
          </p:nvPr>
        </p:nvSpPr>
        <p:spPr/>
        <p:txBody>
          <a:bodyPr/>
          <a:lstStyle/>
          <a:p>
            <a:fld id="{00670DA0-C7A9-4FF5-B8FB-4DCD6DFD0B70}" type="slidenum">
              <a:rPr lang="es-CO" smtClean="0"/>
              <a:t>50</a:t>
            </a:fld>
            <a:endParaRPr lang="es-CO"/>
          </a:p>
        </p:txBody>
      </p:sp>
    </p:spTree>
    <p:extLst>
      <p:ext uri="{BB962C8B-B14F-4D97-AF65-F5344CB8AC3E}">
        <p14:creationId xmlns:p14="http://schemas.microsoft.com/office/powerpoint/2010/main" val="16644842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12" name="TextBox 11">
            <a:extLst>
              <a:ext uri="{FF2B5EF4-FFF2-40B4-BE49-F238E27FC236}">
                <a16:creationId xmlns:a16="http://schemas.microsoft.com/office/drawing/2014/main" id="{9401F842-71F5-4EBE-8380-74993E26472F}"/>
              </a:ext>
            </a:extLst>
          </p:cNvPr>
          <p:cNvSpPr txBox="1"/>
          <p:nvPr/>
        </p:nvSpPr>
        <p:spPr>
          <a:xfrm>
            <a:off x="3462867" y="601239"/>
            <a:ext cx="6985000" cy="1169551"/>
          </a:xfrm>
          <a:prstGeom prst="rect">
            <a:avLst/>
          </a:prstGeom>
          <a:noFill/>
        </p:spPr>
        <p:txBody>
          <a:bodyPr wrap="square" rtlCol="0">
            <a:spAutoFit/>
          </a:bodyPr>
          <a:lstStyle/>
          <a:p>
            <a:r>
              <a:rPr lang="es-CO" sz="1400" dirty="0"/>
              <a:t>En el 4012 y 4025 solo hay 2 </a:t>
            </a:r>
            <a:r>
              <a:rPr lang="es-CO" sz="1400" dirty="0" err="1"/>
              <a:t>IDs</a:t>
            </a:r>
            <a:r>
              <a:rPr lang="es-CO" sz="1400" dirty="0"/>
              <a:t> de Ms repetidos, el 599 (</a:t>
            </a:r>
            <a:r>
              <a:rPr lang="es-CO" sz="1400" dirty="0" err="1"/>
              <a:t>star</a:t>
            </a:r>
            <a:r>
              <a:rPr lang="es-CO" sz="1400" dirty="0"/>
              <a:t>) y el 644 (x): no se conserva ninguna de las dos variables con estos dos </a:t>
            </a:r>
            <a:r>
              <a:rPr lang="es-CO" sz="1400" dirty="0" err="1"/>
              <a:t>IDs</a:t>
            </a:r>
            <a:endParaRPr lang="es-CO" sz="1400" dirty="0"/>
          </a:p>
          <a:p>
            <a:endParaRPr lang="es-CO" sz="1400" dirty="0"/>
          </a:p>
          <a:p>
            <a:r>
              <a:rPr lang="es-CO" sz="1400" dirty="0"/>
              <a:t>Todos los </a:t>
            </a:r>
            <a:r>
              <a:rPr lang="es-CO" sz="1400" dirty="0" err="1"/>
              <a:t>CondID</a:t>
            </a:r>
            <a:r>
              <a:rPr lang="es-CO" sz="1400" dirty="0"/>
              <a:t> forman </a:t>
            </a:r>
            <a:r>
              <a:rPr lang="es-CO" sz="1400" dirty="0" err="1"/>
              <a:t>clusters</a:t>
            </a:r>
            <a:r>
              <a:rPr lang="es-CO" sz="1400" dirty="0"/>
              <a:t> pero: En las mujeres el </a:t>
            </a:r>
            <a:r>
              <a:rPr lang="es-CO" sz="1400" dirty="0" err="1"/>
              <a:t>CondID</a:t>
            </a:r>
            <a:r>
              <a:rPr lang="es-CO" sz="1400" dirty="0"/>
              <a:t> se ve más disperso en las duraciones, (Cada conductor tiene una huella digital de su patrón de conducción?)</a:t>
            </a:r>
          </a:p>
        </p:txBody>
      </p:sp>
      <p:pic>
        <p:nvPicPr>
          <p:cNvPr id="5" name="Picture 4">
            <a:extLst>
              <a:ext uri="{FF2B5EF4-FFF2-40B4-BE49-F238E27FC236}">
                <a16:creationId xmlns:a16="http://schemas.microsoft.com/office/drawing/2014/main" id="{DF793E6B-3B32-4ADD-BF30-C008C2624C4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87363" y="2271597"/>
            <a:ext cx="4368536" cy="4049665"/>
          </a:xfrm>
          <a:prstGeom prst="rect">
            <a:avLst/>
          </a:prstGeom>
        </p:spPr>
      </p:pic>
      <p:pic>
        <p:nvPicPr>
          <p:cNvPr id="13" name="Picture 12">
            <a:extLst>
              <a:ext uri="{FF2B5EF4-FFF2-40B4-BE49-F238E27FC236}">
                <a16:creationId xmlns:a16="http://schemas.microsoft.com/office/drawing/2014/main" id="{9B9BE14E-F89E-4BE4-9388-6F9CF8D4B7C7}"/>
              </a:ext>
            </a:extLst>
          </p:cNvPr>
          <p:cNvPicPr>
            <a:picLocks noChangeAspect="1"/>
          </p:cNvPicPr>
          <p:nvPr/>
        </p:nvPicPr>
        <p:blipFill>
          <a:blip r:embed="rId3"/>
          <a:stretch>
            <a:fillRect/>
          </a:stretch>
        </p:blipFill>
        <p:spPr>
          <a:xfrm>
            <a:off x="1752600" y="2938731"/>
            <a:ext cx="4023900" cy="2715395"/>
          </a:xfrm>
          <a:prstGeom prst="rect">
            <a:avLst/>
          </a:prstGeom>
        </p:spPr>
      </p:pic>
      <p:pic>
        <p:nvPicPr>
          <p:cNvPr id="15" name="Picture 14">
            <a:extLst>
              <a:ext uri="{FF2B5EF4-FFF2-40B4-BE49-F238E27FC236}">
                <a16:creationId xmlns:a16="http://schemas.microsoft.com/office/drawing/2014/main" id="{C32ED1B7-B861-4764-A417-5267C744597D}"/>
              </a:ext>
            </a:extLst>
          </p:cNvPr>
          <p:cNvPicPr>
            <a:picLocks noChangeAspect="1"/>
          </p:cNvPicPr>
          <p:nvPr/>
        </p:nvPicPr>
        <p:blipFill>
          <a:blip r:embed="rId4"/>
          <a:stretch>
            <a:fillRect/>
          </a:stretch>
        </p:blipFill>
        <p:spPr>
          <a:xfrm>
            <a:off x="6289125" y="1825625"/>
            <a:ext cx="5037780" cy="4816917"/>
          </a:xfrm>
          <a:prstGeom prst="rect">
            <a:avLst/>
          </a:prstGeom>
        </p:spPr>
      </p:pic>
      <p:sp>
        <p:nvSpPr>
          <p:cNvPr id="4" name="Slide Number Placeholder 3">
            <a:extLst>
              <a:ext uri="{FF2B5EF4-FFF2-40B4-BE49-F238E27FC236}">
                <a16:creationId xmlns:a16="http://schemas.microsoft.com/office/drawing/2014/main" id="{E8DCA19D-E666-45EE-91AF-00B565DA96E4}"/>
              </a:ext>
            </a:extLst>
          </p:cNvPr>
          <p:cNvSpPr>
            <a:spLocks noGrp="1"/>
          </p:cNvSpPr>
          <p:nvPr>
            <p:ph type="sldNum" sz="quarter" idx="12"/>
          </p:nvPr>
        </p:nvSpPr>
        <p:spPr/>
        <p:txBody>
          <a:bodyPr/>
          <a:lstStyle/>
          <a:p>
            <a:fld id="{00670DA0-C7A9-4FF5-B8FB-4DCD6DFD0B70}" type="slidenum">
              <a:rPr lang="es-CO" smtClean="0"/>
              <a:t>51</a:t>
            </a:fld>
            <a:endParaRPr lang="es-CO"/>
          </a:p>
        </p:txBody>
      </p:sp>
    </p:spTree>
    <p:extLst>
      <p:ext uri="{BB962C8B-B14F-4D97-AF65-F5344CB8AC3E}">
        <p14:creationId xmlns:p14="http://schemas.microsoft.com/office/powerpoint/2010/main" val="1422885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El % aceleraciones &gt; 1 m/s2, no muestra significancia en diferencia entre sexos.</a:t>
            </a:r>
          </a:p>
          <a:p>
            <a:r>
              <a:rPr lang="es-CO" sz="1400" dirty="0"/>
              <a:t>Los otros indicadores tampoco</a:t>
            </a:r>
          </a:p>
        </p:txBody>
      </p:sp>
      <p:pic>
        <p:nvPicPr>
          <p:cNvPr id="7" name="Picture 6">
            <a:extLst>
              <a:ext uri="{FF2B5EF4-FFF2-40B4-BE49-F238E27FC236}">
                <a16:creationId xmlns:a16="http://schemas.microsoft.com/office/drawing/2014/main" id="{6600D135-DBDF-441F-A0A8-7BC217C72420}"/>
              </a:ext>
            </a:extLst>
          </p:cNvPr>
          <p:cNvPicPr>
            <a:picLocks noChangeAspect="1"/>
          </p:cNvPicPr>
          <p:nvPr/>
        </p:nvPicPr>
        <p:blipFill>
          <a:blip r:embed="rId2"/>
          <a:stretch>
            <a:fillRect/>
          </a:stretch>
        </p:blipFill>
        <p:spPr>
          <a:xfrm>
            <a:off x="4075079" y="431802"/>
            <a:ext cx="4205320" cy="3153990"/>
          </a:xfrm>
          <a:prstGeom prst="rect">
            <a:avLst/>
          </a:prstGeom>
        </p:spPr>
      </p:pic>
      <p:pic>
        <p:nvPicPr>
          <p:cNvPr id="9" name="Picture 8">
            <a:extLst>
              <a:ext uri="{FF2B5EF4-FFF2-40B4-BE49-F238E27FC236}">
                <a16:creationId xmlns:a16="http://schemas.microsoft.com/office/drawing/2014/main" id="{63FC89C6-C4AF-49D1-9C2E-703525FB8E6B}"/>
              </a:ext>
            </a:extLst>
          </p:cNvPr>
          <p:cNvPicPr>
            <a:picLocks noChangeAspect="1"/>
          </p:cNvPicPr>
          <p:nvPr/>
        </p:nvPicPr>
        <p:blipFill>
          <a:blip r:embed="rId3"/>
          <a:stretch>
            <a:fillRect/>
          </a:stretch>
        </p:blipFill>
        <p:spPr>
          <a:xfrm>
            <a:off x="7910941" y="431802"/>
            <a:ext cx="4205320" cy="3153990"/>
          </a:xfrm>
          <a:prstGeom prst="rect">
            <a:avLst/>
          </a:prstGeom>
        </p:spPr>
      </p:pic>
      <p:pic>
        <p:nvPicPr>
          <p:cNvPr id="11" name="Picture 10">
            <a:extLst>
              <a:ext uri="{FF2B5EF4-FFF2-40B4-BE49-F238E27FC236}">
                <a16:creationId xmlns:a16="http://schemas.microsoft.com/office/drawing/2014/main" id="{FCC084AB-55AA-4F85-A6B6-1F41ED18AAA8}"/>
              </a:ext>
            </a:extLst>
          </p:cNvPr>
          <p:cNvPicPr>
            <a:picLocks noChangeAspect="1"/>
          </p:cNvPicPr>
          <p:nvPr/>
        </p:nvPicPr>
        <p:blipFill>
          <a:blip r:embed="rId4"/>
          <a:stretch>
            <a:fillRect/>
          </a:stretch>
        </p:blipFill>
        <p:spPr>
          <a:xfrm>
            <a:off x="4142564" y="3240089"/>
            <a:ext cx="4101394" cy="3076046"/>
          </a:xfrm>
          <a:prstGeom prst="rect">
            <a:avLst/>
          </a:prstGeom>
        </p:spPr>
      </p:pic>
      <p:pic>
        <p:nvPicPr>
          <p:cNvPr id="13" name="Picture 12">
            <a:extLst>
              <a:ext uri="{FF2B5EF4-FFF2-40B4-BE49-F238E27FC236}">
                <a16:creationId xmlns:a16="http://schemas.microsoft.com/office/drawing/2014/main" id="{1F66C47E-D6D1-44D7-AADC-90B43314500E}"/>
              </a:ext>
            </a:extLst>
          </p:cNvPr>
          <p:cNvPicPr>
            <a:picLocks noChangeAspect="1"/>
          </p:cNvPicPr>
          <p:nvPr/>
        </p:nvPicPr>
        <p:blipFill>
          <a:blip r:embed="rId5"/>
          <a:stretch>
            <a:fillRect/>
          </a:stretch>
        </p:blipFill>
        <p:spPr>
          <a:xfrm>
            <a:off x="7978424" y="3240088"/>
            <a:ext cx="4101396" cy="3076047"/>
          </a:xfrm>
          <a:prstGeom prst="rect">
            <a:avLst/>
          </a:prstGeom>
        </p:spPr>
      </p:pic>
      <p:sp>
        <p:nvSpPr>
          <p:cNvPr id="4" name="Slide Number Placeholder 3">
            <a:extLst>
              <a:ext uri="{FF2B5EF4-FFF2-40B4-BE49-F238E27FC236}">
                <a16:creationId xmlns:a16="http://schemas.microsoft.com/office/drawing/2014/main" id="{CF10BF52-A836-4103-AB87-047812AECF43}"/>
              </a:ext>
            </a:extLst>
          </p:cNvPr>
          <p:cNvSpPr>
            <a:spLocks noGrp="1"/>
          </p:cNvSpPr>
          <p:nvPr>
            <p:ph type="sldNum" sz="quarter" idx="12"/>
          </p:nvPr>
        </p:nvSpPr>
        <p:spPr/>
        <p:txBody>
          <a:bodyPr/>
          <a:lstStyle/>
          <a:p>
            <a:fld id="{00670DA0-C7A9-4FF5-B8FB-4DCD6DFD0B70}" type="slidenum">
              <a:rPr lang="es-CO" smtClean="0"/>
              <a:t>52</a:t>
            </a:fld>
            <a:endParaRPr lang="es-CO"/>
          </a:p>
        </p:txBody>
      </p:sp>
    </p:spTree>
    <p:extLst>
      <p:ext uri="{BB962C8B-B14F-4D97-AF65-F5344CB8AC3E}">
        <p14:creationId xmlns:p14="http://schemas.microsoft.com/office/powerpoint/2010/main" val="1892344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Las duraciones y el # de frenadas o aceleraciones por km, tampoco...</a:t>
            </a:r>
          </a:p>
        </p:txBody>
      </p:sp>
      <p:pic>
        <p:nvPicPr>
          <p:cNvPr id="5" name="Picture 4">
            <a:extLst>
              <a:ext uri="{FF2B5EF4-FFF2-40B4-BE49-F238E27FC236}">
                <a16:creationId xmlns:a16="http://schemas.microsoft.com/office/drawing/2014/main" id="{816605F4-3D16-49C4-AC9C-83D1F615B29A}"/>
              </a:ext>
            </a:extLst>
          </p:cNvPr>
          <p:cNvPicPr>
            <a:picLocks noChangeAspect="1"/>
          </p:cNvPicPr>
          <p:nvPr/>
        </p:nvPicPr>
        <p:blipFill>
          <a:blip r:embed="rId2"/>
          <a:stretch>
            <a:fillRect/>
          </a:stretch>
        </p:blipFill>
        <p:spPr>
          <a:xfrm>
            <a:off x="4461933" y="555096"/>
            <a:ext cx="3831871" cy="2873903"/>
          </a:xfrm>
          <a:prstGeom prst="rect">
            <a:avLst/>
          </a:prstGeom>
        </p:spPr>
      </p:pic>
      <p:pic>
        <p:nvPicPr>
          <p:cNvPr id="8" name="Picture 7">
            <a:extLst>
              <a:ext uri="{FF2B5EF4-FFF2-40B4-BE49-F238E27FC236}">
                <a16:creationId xmlns:a16="http://schemas.microsoft.com/office/drawing/2014/main" id="{6A4FF1F7-A12F-44B2-AA2D-D15DB5C5EC56}"/>
              </a:ext>
            </a:extLst>
          </p:cNvPr>
          <p:cNvPicPr>
            <a:picLocks noChangeAspect="1"/>
          </p:cNvPicPr>
          <p:nvPr/>
        </p:nvPicPr>
        <p:blipFill>
          <a:blip r:embed="rId3"/>
          <a:stretch>
            <a:fillRect/>
          </a:stretch>
        </p:blipFill>
        <p:spPr>
          <a:xfrm>
            <a:off x="8360128" y="555096"/>
            <a:ext cx="3831872" cy="2873904"/>
          </a:xfrm>
          <a:prstGeom prst="rect">
            <a:avLst/>
          </a:prstGeom>
        </p:spPr>
      </p:pic>
      <p:pic>
        <p:nvPicPr>
          <p:cNvPr id="12" name="Picture 11">
            <a:extLst>
              <a:ext uri="{FF2B5EF4-FFF2-40B4-BE49-F238E27FC236}">
                <a16:creationId xmlns:a16="http://schemas.microsoft.com/office/drawing/2014/main" id="{ED10A12A-C431-49A3-A072-06A67FE0711F}"/>
              </a:ext>
            </a:extLst>
          </p:cNvPr>
          <p:cNvPicPr>
            <a:picLocks noChangeAspect="1"/>
          </p:cNvPicPr>
          <p:nvPr/>
        </p:nvPicPr>
        <p:blipFill>
          <a:blip r:embed="rId4"/>
          <a:stretch>
            <a:fillRect/>
          </a:stretch>
        </p:blipFill>
        <p:spPr>
          <a:xfrm>
            <a:off x="4495094" y="3291813"/>
            <a:ext cx="3831872" cy="2873904"/>
          </a:xfrm>
          <a:prstGeom prst="rect">
            <a:avLst/>
          </a:prstGeom>
        </p:spPr>
      </p:pic>
      <p:pic>
        <p:nvPicPr>
          <p:cNvPr id="15" name="Picture 14">
            <a:extLst>
              <a:ext uri="{FF2B5EF4-FFF2-40B4-BE49-F238E27FC236}">
                <a16:creationId xmlns:a16="http://schemas.microsoft.com/office/drawing/2014/main" id="{D1D9A365-72B4-4804-B1A8-05B666F480E1}"/>
              </a:ext>
            </a:extLst>
          </p:cNvPr>
          <p:cNvPicPr>
            <a:picLocks noChangeAspect="1"/>
          </p:cNvPicPr>
          <p:nvPr/>
        </p:nvPicPr>
        <p:blipFill>
          <a:blip r:embed="rId5"/>
          <a:stretch>
            <a:fillRect/>
          </a:stretch>
        </p:blipFill>
        <p:spPr>
          <a:xfrm>
            <a:off x="8293804" y="3291813"/>
            <a:ext cx="3831872" cy="2873904"/>
          </a:xfrm>
          <a:prstGeom prst="rect">
            <a:avLst/>
          </a:prstGeom>
        </p:spPr>
      </p:pic>
      <p:sp>
        <p:nvSpPr>
          <p:cNvPr id="4" name="Slide Number Placeholder 3">
            <a:extLst>
              <a:ext uri="{FF2B5EF4-FFF2-40B4-BE49-F238E27FC236}">
                <a16:creationId xmlns:a16="http://schemas.microsoft.com/office/drawing/2014/main" id="{5A1FA0A5-3D00-4BFB-B093-F55CA334BDC4}"/>
              </a:ext>
            </a:extLst>
          </p:cNvPr>
          <p:cNvSpPr>
            <a:spLocks noGrp="1"/>
          </p:cNvSpPr>
          <p:nvPr>
            <p:ph type="sldNum" sz="quarter" idx="12"/>
          </p:nvPr>
        </p:nvSpPr>
        <p:spPr/>
        <p:txBody>
          <a:bodyPr/>
          <a:lstStyle/>
          <a:p>
            <a:fld id="{00670DA0-C7A9-4FF5-B8FB-4DCD6DFD0B70}" type="slidenum">
              <a:rPr lang="es-CO" smtClean="0"/>
              <a:t>53</a:t>
            </a:fld>
            <a:endParaRPr lang="es-CO"/>
          </a:p>
        </p:txBody>
      </p:sp>
    </p:spTree>
    <p:extLst>
      <p:ext uri="{BB962C8B-B14F-4D97-AF65-F5344CB8AC3E}">
        <p14:creationId xmlns:p14="http://schemas.microsoft.com/office/powerpoint/2010/main" val="9648601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EB8D6-C645-4DE7-BD96-D37D9395BFD4}"/>
              </a:ext>
            </a:extLst>
          </p:cNvPr>
          <p:cNvSpPr>
            <a:spLocks noGrp="1"/>
          </p:cNvSpPr>
          <p:nvPr>
            <p:ph type="title"/>
          </p:nvPr>
        </p:nvSpPr>
        <p:spPr/>
        <p:txBody>
          <a:bodyPr/>
          <a:lstStyle/>
          <a:p>
            <a:r>
              <a:rPr lang="es-CO" dirty="0"/>
              <a:t>Riesgo</a:t>
            </a:r>
          </a:p>
        </p:txBody>
      </p:sp>
      <p:sp>
        <p:nvSpPr>
          <p:cNvPr id="3" name="Content Placeholder 2">
            <a:extLst>
              <a:ext uri="{FF2B5EF4-FFF2-40B4-BE49-F238E27FC236}">
                <a16:creationId xmlns:a16="http://schemas.microsoft.com/office/drawing/2014/main" id="{0450CDF6-79B3-406E-8F65-2564FCBA8FBD}"/>
              </a:ext>
            </a:extLst>
          </p:cNvPr>
          <p:cNvSpPr>
            <a:spLocks noGrp="1"/>
          </p:cNvSpPr>
          <p:nvPr>
            <p:ph idx="1"/>
          </p:nvPr>
        </p:nvSpPr>
        <p:spPr>
          <a:xfrm>
            <a:off x="514350" y="1825625"/>
            <a:ext cx="2409825" cy="4351338"/>
          </a:xfrm>
        </p:spPr>
        <p:txBody>
          <a:bodyPr>
            <a:normAutofit/>
          </a:bodyPr>
          <a:lstStyle/>
          <a:p>
            <a:r>
              <a:rPr lang="es-CO" sz="1400" dirty="0"/>
              <a:t>‘Riesgo Kalman’ tiene mejor correlación con todos los indicadores de velocidad que ‘Riesgo’.</a:t>
            </a:r>
          </a:p>
          <a:p>
            <a:r>
              <a:rPr lang="es-CO" sz="1400" dirty="0"/>
              <a:t>No hay correlación con consumo</a:t>
            </a:r>
          </a:p>
        </p:txBody>
      </p:sp>
      <p:grpSp>
        <p:nvGrpSpPr>
          <p:cNvPr id="7" name="Group 6">
            <a:extLst>
              <a:ext uri="{FF2B5EF4-FFF2-40B4-BE49-F238E27FC236}">
                <a16:creationId xmlns:a16="http://schemas.microsoft.com/office/drawing/2014/main" id="{3A324987-3DB3-4F0A-9820-D90C2FA25666}"/>
              </a:ext>
            </a:extLst>
          </p:cNvPr>
          <p:cNvGrpSpPr/>
          <p:nvPr/>
        </p:nvGrpSpPr>
        <p:grpSpPr>
          <a:xfrm>
            <a:off x="2924175" y="2089307"/>
            <a:ext cx="8670926" cy="4049392"/>
            <a:chOff x="1466849" y="1375445"/>
            <a:chExt cx="10620375" cy="5282530"/>
          </a:xfrm>
        </p:grpSpPr>
        <p:pic>
          <p:nvPicPr>
            <p:cNvPr id="5" name="Picture 4">
              <a:extLst>
                <a:ext uri="{FF2B5EF4-FFF2-40B4-BE49-F238E27FC236}">
                  <a16:creationId xmlns:a16="http://schemas.microsoft.com/office/drawing/2014/main" id="{C66458A2-8C36-4A9D-BEA9-5949DB9ED599}"/>
                </a:ext>
              </a:extLst>
            </p:cNvPr>
            <p:cNvPicPr>
              <a:picLocks noChangeAspect="1"/>
            </p:cNvPicPr>
            <p:nvPr/>
          </p:nvPicPr>
          <p:blipFill>
            <a:blip r:embed="rId2"/>
            <a:stretch>
              <a:fillRect/>
            </a:stretch>
          </p:blipFill>
          <p:spPr>
            <a:xfrm>
              <a:off x="1466849" y="1375445"/>
              <a:ext cx="10620375" cy="5282530"/>
            </a:xfrm>
            <a:prstGeom prst="rect">
              <a:avLst/>
            </a:prstGeom>
          </p:spPr>
        </p:pic>
        <p:sp>
          <p:nvSpPr>
            <p:cNvPr id="6" name="Rectangle 5">
              <a:extLst>
                <a:ext uri="{FF2B5EF4-FFF2-40B4-BE49-F238E27FC236}">
                  <a16:creationId xmlns:a16="http://schemas.microsoft.com/office/drawing/2014/main" id="{FA560DE8-A4B0-4742-A09A-25C255487FB3}"/>
                </a:ext>
              </a:extLst>
            </p:cNvPr>
            <p:cNvSpPr/>
            <p:nvPr/>
          </p:nvSpPr>
          <p:spPr>
            <a:xfrm>
              <a:off x="4010025" y="3009900"/>
              <a:ext cx="1171575" cy="302895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4" name="Slide Number Placeholder 3">
            <a:extLst>
              <a:ext uri="{FF2B5EF4-FFF2-40B4-BE49-F238E27FC236}">
                <a16:creationId xmlns:a16="http://schemas.microsoft.com/office/drawing/2014/main" id="{0B7B131B-E74A-4164-86B5-E4769D061FB4}"/>
              </a:ext>
            </a:extLst>
          </p:cNvPr>
          <p:cNvSpPr>
            <a:spLocks noGrp="1"/>
          </p:cNvSpPr>
          <p:nvPr>
            <p:ph type="sldNum" sz="quarter" idx="12"/>
          </p:nvPr>
        </p:nvSpPr>
        <p:spPr/>
        <p:txBody>
          <a:bodyPr/>
          <a:lstStyle/>
          <a:p>
            <a:fld id="{00670DA0-C7A9-4FF5-B8FB-4DCD6DFD0B70}" type="slidenum">
              <a:rPr lang="es-CO" smtClean="0"/>
              <a:t>54</a:t>
            </a:fld>
            <a:endParaRPr lang="es-CO"/>
          </a:p>
        </p:txBody>
      </p:sp>
    </p:spTree>
    <p:extLst>
      <p:ext uri="{BB962C8B-B14F-4D97-AF65-F5344CB8AC3E}">
        <p14:creationId xmlns:p14="http://schemas.microsoft.com/office/powerpoint/2010/main" val="2209094"/>
      </p:ext>
    </p:extLst>
  </p:cSld>
  <p:clrMapOvr>
    <a:masterClrMapping/>
  </p:clrMapOvr>
</p:sld>
</file>

<file path=ppt/theme/theme1.xml><?xml version="1.0" encoding="utf-8"?>
<a:theme xmlns:a="http://schemas.openxmlformats.org/drawingml/2006/main" name="Dividend">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38646</TotalTime>
  <Words>2370</Words>
  <Application>Microsoft Office PowerPoint</Application>
  <PresentationFormat>Widescreen</PresentationFormat>
  <Paragraphs>405</Paragraphs>
  <Slides>54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Cambria Math</vt:lpstr>
      <vt:lpstr>Gill Sans MT</vt:lpstr>
      <vt:lpstr>Wingdings</vt:lpstr>
      <vt:lpstr>Wingdings 2</vt:lpstr>
      <vt:lpstr>Dividend</vt:lpstr>
      <vt:lpstr>Patrones de conducción y diferencias entre sexos en buses de La Rolita</vt:lpstr>
      <vt:lpstr>Contexto </vt:lpstr>
      <vt:lpstr>Metodología </vt:lpstr>
      <vt:lpstr>Recolección de datos</vt:lpstr>
      <vt:lpstr>Recolección de datos</vt:lpstr>
      <vt:lpstr>Recolección de datos</vt:lpstr>
      <vt:lpstr>Metodología </vt:lpstr>
      <vt:lpstr>preprocesamiento</vt:lpstr>
      <vt:lpstr>preprocesamiento</vt:lpstr>
      <vt:lpstr>preprocesamiento</vt:lpstr>
      <vt:lpstr>preprocesamiento</vt:lpstr>
      <vt:lpstr>Metodología </vt:lpstr>
      <vt:lpstr>procesamiento</vt:lpstr>
      <vt:lpstr>Velocidad en movimiento</vt:lpstr>
      <vt:lpstr>Velocidad en movimiento</vt:lpstr>
      <vt:lpstr>Velocidad normalizada y desviación</vt:lpstr>
      <vt:lpstr>procesamiento</vt:lpstr>
      <vt:lpstr>(DES)aceleraciones</vt:lpstr>
      <vt:lpstr>(DES)Aceleraciones</vt:lpstr>
      <vt:lpstr>Aceleraciones y frenadas h vs m</vt:lpstr>
      <vt:lpstr>(DES) Aceleraciones</vt:lpstr>
      <vt:lpstr>(DES)Aceleraciones</vt:lpstr>
      <vt:lpstr>(DES)Aceleraciones</vt:lpstr>
      <vt:lpstr>(DES)Aceleraciones</vt:lpstr>
      <vt:lpstr>procesamiento</vt:lpstr>
      <vt:lpstr>riesgo en curva</vt:lpstr>
      <vt:lpstr>Riesgo en curva</vt:lpstr>
      <vt:lpstr>Riesgo en curva</vt:lpstr>
      <vt:lpstr>procesamiento</vt:lpstr>
      <vt:lpstr>Consumo de la red</vt:lpstr>
      <vt:lpstr>Energía total = consumo + regeneración</vt:lpstr>
      <vt:lpstr>Energía total = consumo + regeneración</vt:lpstr>
      <vt:lpstr>energía total</vt:lpstr>
      <vt:lpstr>energía total</vt:lpstr>
      <vt:lpstr>energía total</vt:lpstr>
      <vt:lpstr>consumo de la red</vt:lpstr>
      <vt:lpstr>consumo de la red</vt:lpstr>
      <vt:lpstr>Consumo de la red</vt:lpstr>
      <vt:lpstr>Consumo de la red</vt:lpstr>
      <vt:lpstr>regeneración</vt:lpstr>
      <vt:lpstr>Consumo</vt:lpstr>
      <vt:lpstr>Regeneración</vt:lpstr>
      <vt:lpstr>resumen</vt:lpstr>
      <vt:lpstr>¡Muchas gracias!</vt:lpstr>
      <vt:lpstr>Otros resultados</vt:lpstr>
      <vt:lpstr>preprocesamiento</vt:lpstr>
      <vt:lpstr>Velocidad picos</vt:lpstr>
      <vt:lpstr>duración de paradas</vt:lpstr>
      <vt:lpstr>Bus 4012</vt:lpstr>
      <vt:lpstr>Aceleración</vt:lpstr>
      <vt:lpstr>Aceleración</vt:lpstr>
      <vt:lpstr>Aceleración</vt:lpstr>
      <vt:lpstr>Aceleración</vt:lpstr>
      <vt:lpstr>Riesgo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Jaramillo Ramírez</dc:creator>
  <cp:lastModifiedBy>Daniel Jaramillo Ramirez</cp:lastModifiedBy>
  <cp:revision>147</cp:revision>
  <dcterms:created xsi:type="dcterms:W3CDTF">2025-09-23T21:36:17Z</dcterms:created>
  <dcterms:modified xsi:type="dcterms:W3CDTF">2025-12-12T18:20:05Z</dcterms:modified>
</cp:coreProperties>
</file>